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3333413" cy="7499350"/>
  <p:notesSz cx="6858000" cy="9144000"/>
  <p:defaultTextStyle>
    <a:defPPr>
      <a:defRPr lang="en-B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29"/>
  </p:normalViewPr>
  <p:slideViewPr>
    <p:cSldViewPr snapToGrid="0">
      <p:cViewPr varScale="1">
        <p:scale>
          <a:sx n="94" d="100"/>
          <a:sy n="94" d="100"/>
        </p:scale>
        <p:origin x="84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/>
        </p:nvSpPr>
        <p:spPr>
          <a:xfrm>
            <a:off x="685800" y="914400"/>
            <a:ext cx="7772400" cy="5486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200"/>
              <a:t>Open with the business message: the goal is to decide which campaign signal is reliable enough for a marketing manager to use.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/>
        </p:nvSpPr>
        <p:spPr>
          <a:xfrm>
            <a:off x="685800" y="914400"/>
            <a:ext cx="7772400" cy="5486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200"/>
              <a:t>Explain the decision rule: a marketing analyst should not simply pick the tallest bar. We need enough sessions to trust a trend.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/>
        </p:nvSpPr>
        <p:spPr>
          <a:xfrm>
            <a:off x="685800" y="914400"/>
            <a:ext cx="7772400" cy="5486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200"/>
              <a:t>This slide teaches the session modeling logic. It also prepares the reviewer for questions about how time on site was interpreted.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/>
        </p:nvSpPr>
        <p:spPr>
          <a:xfrm>
            <a:off x="685800" y="914400"/>
            <a:ext cx="7772400" cy="5486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200"/>
              <a:t>Lead with the strongest visual evidence: referral is consistently above organic across weekdays.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/>
        </p:nvSpPr>
        <p:spPr>
          <a:xfrm>
            <a:off x="685800" y="914400"/>
            <a:ext cx="7772400" cy="5486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200"/>
              <a:t>This slide is the evidence-quality slide. It prevents overclaiming small named campaigns.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/>
        </p:nvSpPr>
        <p:spPr>
          <a:xfrm>
            <a:off x="685800" y="914400"/>
            <a:ext cx="7772400" cy="5486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200"/>
              <a:t>Use this slide to answer the likely review question and explain why high averages from tiny samples are not enough for a budget decision.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/>
        </p:nvSpPr>
        <p:spPr>
          <a:xfrm>
            <a:off x="685800" y="914400"/>
            <a:ext cx="7772400" cy="5486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200"/>
              <a:t>Explain that a longer session can mean engagement or friction. This is why the next analysis should connect duration to conversion and revenue.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/>
        </p:nvSpPr>
        <p:spPr>
          <a:xfrm>
            <a:off x="685800" y="914400"/>
            <a:ext cx="7772400" cy="5486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200"/>
              <a:t>This slide shows analytical maturity. Name the assumptions and boundaries clearly so the reviewer knows you understand the metric.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/>
        </p:nvSpPr>
        <p:spPr>
          <a:xfrm>
            <a:off x="685800" y="914400"/>
            <a:ext cx="7772400" cy="5486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200"/>
              <a:t>Turn the analysis into a practical next step. The marketing manager can use this to decide what to ask for next.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/>
        </p:nvSpPr>
        <p:spPr>
          <a:xfrm>
            <a:off x="685800" y="914400"/>
            <a:ext cx="7772400" cy="5486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200"/>
              <a:t>Close with a clear decision summary. The project tells the manager what to trust and what to investigate next.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9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/>
          <p:cNvSpPr/>
          <p:nvPr/>
        </p:nvSpPr>
        <p:spPr>
          <a:xfrm>
            <a:off x="0" y="0"/>
            <a:ext cx="13333333" cy="7500000"/>
          </a:xfrm>
          <a:prstGeom prst="roundRect">
            <a:avLst/>
          </a:prstGeom>
          <a:solidFill>
            <a:srgbClr val="1F293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Text"/>
          <p:cNvSpPr txBox="1"/>
          <p:nvPr/>
        </p:nvSpPr>
        <p:spPr>
          <a:xfrm>
            <a:off x="742950" y="666750"/>
            <a:ext cx="6191250" cy="3238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400" b="1">
                <a:solidFill>
                  <a:srgbClr val="F57C00"/>
                </a:solidFill>
                <a:latin typeface="Arial"/>
              </a:rPr>
              <a:t>MARKETING ANALYST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742950" y="1381125"/>
            <a:ext cx="8858250" cy="21907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6000" b="1">
                <a:solidFill>
                  <a:srgbClr val="FFFFFF"/>
                </a:solidFill>
                <a:latin typeface="Arial"/>
              </a:rPr>
              <a:t>Referral Engagement Benchmark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742950" y="4095750"/>
            <a:ext cx="7905750" cy="90487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400">
                <a:solidFill>
                  <a:srgbClr val="D8DEE6"/>
                </a:solidFill>
                <a:latin typeface="Arial"/>
              </a:rPr>
              <a:t>Marketing Campaign Comparison</a:t>
            </a:r>
          </a:p>
          <a:p>
            <a:pPr algn="l"/>
            <a:r>
              <a:rPr lang="en-US" sz="2400">
                <a:solidFill>
                  <a:srgbClr val="D8DEE6"/>
                </a:solidFill>
                <a:latin typeface="Arial"/>
              </a:rPr>
              <a:t>Modeled session duration by campaign and weekday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742950" y="6096000"/>
            <a:ext cx="7143750" cy="3238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400">
                <a:solidFill>
                  <a:srgbClr val="C7CED6"/>
                </a:solidFill>
                <a:latin typeface="Arial"/>
              </a:rPr>
              <a:t>Source: tc-da-1.turing_data_analytics.raw_events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"/>
          <p:cNvSpPr txBox="1"/>
          <p:nvPr/>
        </p:nvSpPr>
        <p:spPr>
          <a:xfrm>
            <a:off x="666750" y="400050"/>
            <a:ext cx="53340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 b="1">
                <a:solidFill>
                  <a:srgbClr val="1F77B4"/>
                </a:solidFill>
                <a:latin typeface="Arial"/>
              </a:rPr>
              <a:t>DECISION FRAME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666750" y="742950"/>
            <a:ext cx="9810750" cy="9525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4000" b="1">
                <a:solidFill>
                  <a:srgbClr val="1F2933"/>
                </a:solidFill>
                <a:latin typeface="Arial"/>
              </a:rPr>
              <a:t>Reliable Engagement Decision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66750" y="1771650"/>
            <a:ext cx="11234098" cy="40011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 dirty="0">
                <a:solidFill>
                  <a:srgbClr val="5F6B7A"/>
                </a:solidFill>
                <a:latin typeface="Arial"/>
              </a:rPr>
              <a:t>The marketing manager needs weekday campaign trends with enough evidence to support action.</a:t>
            </a:r>
          </a:p>
        </p:txBody>
      </p:sp>
      <p:cxnSp>
        <p:nvCxnSpPr>
          <p:cNvPr id="53" name="Line"/>
          <p:cNvCxnSpPr/>
          <p:nvPr/>
        </p:nvCxnSpPr>
        <p:spPr>
          <a:xfrm>
            <a:off x="666750" y="2343150"/>
            <a:ext cx="10858500" cy="1"/>
          </a:xfrm>
          <a:prstGeom prst="line">
            <a:avLst/>
          </a:prstGeom>
          <a:ln w="18000">
            <a:solidFill>
              <a:srgbClr val="D8DEE6"/>
            </a:solidFill>
          </a:ln>
        </p:spPr>
      </p:cxnSp>
      <p:sp>
        <p:nvSpPr>
          <p:cNvPr id="60" name="Rectangle"/>
          <p:cNvSpPr/>
          <p:nvPr/>
        </p:nvSpPr>
        <p:spPr>
          <a:xfrm>
            <a:off x="1047750" y="3028950"/>
            <a:ext cx="114300" cy="114300"/>
          </a:xfrm>
          <a:prstGeom prst="roundRect">
            <a:avLst/>
          </a:prstGeom>
          <a:solidFill>
            <a:srgbClr val="1F77B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" name="Text"/>
          <p:cNvSpPr txBox="1"/>
          <p:nvPr/>
        </p:nvSpPr>
        <p:spPr>
          <a:xfrm>
            <a:off x="1314450" y="2952750"/>
            <a:ext cx="5886450" cy="42862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 dirty="0">
                <a:solidFill>
                  <a:srgbClr val="1F2933"/>
                </a:solidFill>
                <a:latin typeface="Arial"/>
              </a:rPr>
              <a:t>Referral traffic is consistently longer than organic traffic across the week.</a:t>
            </a:r>
          </a:p>
        </p:txBody>
      </p:sp>
      <p:sp>
        <p:nvSpPr>
          <p:cNvPr id="63" name="Rectangle"/>
          <p:cNvSpPr/>
          <p:nvPr/>
        </p:nvSpPr>
        <p:spPr>
          <a:xfrm>
            <a:off x="1047750" y="3695700"/>
            <a:ext cx="114300" cy="114300"/>
          </a:xfrm>
          <a:prstGeom prst="roundRect">
            <a:avLst/>
          </a:prstGeom>
          <a:solidFill>
            <a:srgbClr val="1F77B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" name="Text"/>
          <p:cNvSpPr txBox="1"/>
          <p:nvPr/>
        </p:nvSpPr>
        <p:spPr>
          <a:xfrm>
            <a:off x="1314450" y="3619500"/>
            <a:ext cx="5886450" cy="42862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>
                <a:solidFill>
                  <a:srgbClr val="1F2933"/>
                </a:solidFill>
                <a:latin typeface="Arial"/>
              </a:rPr>
              <a:t>Data Share Promo has the longest reliable weighted average, but a smaller sample.</a:t>
            </a:r>
          </a:p>
        </p:txBody>
      </p:sp>
      <p:sp>
        <p:nvSpPr>
          <p:cNvPr id="66" name="Rectangle"/>
          <p:cNvSpPr/>
          <p:nvPr/>
        </p:nvSpPr>
        <p:spPr>
          <a:xfrm>
            <a:off x="1047750" y="4362450"/>
            <a:ext cx="114300" cy="114300"/>
          </a:xfrm>
          <a:prstGeom prst="roundRect">
            <a:avLst/>
          </a:prstGeom>
          <a:solidFill>
            <a:srgbClr val="1F77B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7" name="Text"/>
          <p:cNvSpPr txBox="1"/>
          <p:nvPr/>
        </p:nvSpPr>
        <p:spPr>
          <a:xfrm>
            <a:off x="1314450" y="4286250"/>
            <a:ext cx="5886450" cy="42862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>
                <a:solidFill>
                  <a:srgbClr val="1F2933"/>
                </a:solidFill>
                <a:latin typeface="Arial"/>
              </a:rPr>
              <a:t>Black Friday and holiday spikes are interesting, but too small for strong claims.</a:t>
            </a:r>
          </a:p>
        </p:txBody>
      </p:sp>
      <p:sp>
        <p:nvSpPr>
          <p:cNvPr id="90" name="Rectangle"/>
          <p:cNvSpPr/>
          <p:nvPr/>
        </p:nvSpPr>
        <p:spPr>
          <a:xfrm>
            <a:off x="7810500" y="2952749"/>
            <a:ext cx="3048000" cy="2301631"/>
          </a:xfrm>
          <a:prstGeom prst="roundRect">
            <a:avLst/>
          </a:prstGeom>
          <a:solidFill>
            <a:srgbClr val="EEF5FF"/>
          </a:solidFill>
          <a:ln w="10000">
            <a:solidFill>
              <a:srgbClr val="1F77B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1" name="Text"/>
          <p:cNvSpPr txBox="1"/>
          <p:nvPr/>
        </p:nvSpPr>
        <p:spPr>
          <a:xfrm>
            <a:off x="8096250" y="3219450"/>
            <a:ext cx="2476500" cy="3238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 b="1">
                <a:solidFill>
                  <a:srgbClr val="1F77B4"/>
                </a:solidFill>
                <a:latin typeface="Arial"/>
              </a:rPr>
              <a:t>Decision rule</a:t>
            </a:r>
          </a:p>
        </p:txBody>
      </p:sp>
      <p:sp>
        <p:nvSpPr>
          <p:cNvPr id="92" name="Text"/>
          <p:cNvSpPr txBox="1"/>
          <p:nvPr/>
        </p:nvSpPr>
        <p:spPr>
          <a:xfrm>
            <a:off x="8096250" y="3733800"/>
            <a:ext cx="2476500" cy="8763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 dirty="0">
                <a:solidFill>
                  <a:srgbClr val="1F2933"/>
                </a:solidFill>
                <a:latin typeface="Arial"/>
              </a:rPr>
              <a:t>Trust high-session patterns.</a:t>
            </a:r>
          </a:p>
          <a:p>
            <a:pPr algn="l"/>
            <a:r>
              <a:rPr lang="en-US" sz="2000" dirty="0">
                <a:solidFill>
                  <a:srgbClr val="1F2933"/>
                </a:solidFill>
                <a:latin typeface="Arial"/>
              </a:rPr>
              <a:t>Use tiny samples as follow-up leads.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"/>
          <p:cNvSpPr txBox="1"/>
          <p:nvPr/>
        </p:nvSpPr>
        <p:spPr>
          <a:xfrm>
            <a:off x="666750" y="400050"/>
            <a:ext cx="53340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 b="1">
                <a:solidFill>
                  <a:srgbClr val="1F77B4"/>
                </a:solidFill>
                <a:latin typeface="Arial"/>
              </a:rPr>
              <a:t>METRIC DESIGN</a:t>
            </a:r>
          </a:p>
        </p:txBody>
      </p:sp>
      <p:sp>
        <p:nvSpPr>
          <p:cNvPr id="101" name="Text"/>
          <p:cNvSpPr txBox="1"/>
          <p:nvPr/>
        </p:nvSpPr>
        <p:spPr>
          <a:xfrm>
            <a:off x="666750" y="742950"/>
            <a:ext cx="9810750" cy="9525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4000" b="1">
                <a:solidFill>
                  <a:srgbClr val="1F2933"/>
                </a:solidFill>
                <a:latin typeface="Arial"/>
              </a:rPr>
              <a:t>Session Modeling Logic</a:t>
            </a:r>
          </a:p>
        </p:txBody>
      </p:sp>
      <p:sp>
        <p:nvSpPr>
          <p:cNvPr id="102" name="Text"/>
          <p:cNvSpPr txBox="1"/>
          <p:nvPr/>
        </p:nvSpPr>
        <p:spPr>
          <a:xfrm>
            <a:off x="666750" y="1771650"/>
            <a:ext cx="1028700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>
                <a:solidFill>
                  <a:srgbClr val="5F6B7A"/>
                </a:solidFill>
                <a:latin typeface="Arial"/>
              </a:rPr>
              <a:t>The raw events table does not include a ready-made session ID.</a:t>
            </a:r>
          </a:p>
        </p:txBody>
      </p:sp>
      <p:cxnSp>
        <p:nvCxnSpPr>
          <p:cNvPr id="103" name="Line"/>
          <p:cNvCxnSpPr/>
          <p:nvPr/>
        </p:nvCxnSpPr>
        <p:spPr>
          <a:xfrm>
            <a:off x="666750" y="2343150"/>
            <a:ext cx="10858500" cy="1"/>
          </a:xfrm>
          <a:prstGeom prst="line">
            <a:avLst/>
          </a:prstGeom>
          <a:ln w="18000">
            <a:solidFill>
              <a:srgbClr val="D8DEE6"/>
            </a:solidFill>
          </a:ln>
        </p:spPr>
      </p:cxnSp>
      <p:sp>
        <p:nvSpPr>
          <p:cNvPr id="120" name="Rectangle"/>
          <p:cNvSpPr/>
          <p:nvPr/>
        </p:nvSpPr>
        <p:spPr>
          <a:xfrm>
            <a:off x="666750" y="3095625"/>
            <a:ext cx="2286000" cy="1571625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8DEE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1" name="Text"/>
          <p:cNvSpPr txBox="1"/>
          <p:nvPr/>
        </p:nvSpPr>
        <p:spPr>
          <a:xfrm>
            <a:off x="819150" y="3267075"/>
            <a:ext cx="19812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 b="1">
                <a:solidFill>
                  <a:srgbClr val="1F2933"/>
                </a:solidFill>
                <a:latin typeface="Arial"/>
              </a:rPr>
              <a:t>Raw events</a:t>
            </a:r>
          </a:p>
        </p:txBody>
      </p:sp>
      <p:sp>
        <p:nvSpPr>
          <p:cNvPr id="122" name="Text"/>
          <p:cNvSpPr txBox="1"/>
          <p:nvPr/>
        </p:nvSpPr>
        <p:spPr>
          <a:xfrm>
            <a:off x="819150" y="3933825"/>
            <a:ext cx="1981200" cy="646331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dirty="0">
                <a:solidFill>
                  <a:srgbClr val="5F6B7A"/>
                </a:solidFill>
                <a:latin typeface="Arial"/>
              </a:rPr>
              <a:t>date, time,</a:t>
            </a:r>
          </a:p>
          <a:p>
            <a:pPr algn="l"/>
            <a:r>
              <a:rPr lang="en-US" dirty="0">
                <a:solidFill>
                  <a:srgbClr val="5F6B7A"/>
                </a:solidFill>
                <a:latin typeface="Arial"/>
              </a:rPr>
              <a:t>user, campaign</a:t>
            </a:r>
          </a:p>
        </p:txBody>
      </p:sp>
      <p:sp>
        <p:nvSpPr>
          <p:cNvPr id="145" name="Arrow"/>
          <p:cNvSpPr/>
          <p:nvPr/>
        </p:nvSpPr>
        <p:spPr>
          <a:xfrm>
            <a:off x="3039754" y="3638557"/>
            <a:ext cx="366359" cy="304792"/>
          </a:xfrm>
          <a:prstGeom prst="rightArrow">
            <a:avLst/>
          </a:prstGeom>
          <a:solidFill>
            <a:srgbClr val="1F77B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6" name="Rectangle"/>
          <p:cNvSpPr/>
          <p:nvPr/>
        </p:nvSpPr>
        <p:spPr>
          <a:xfrm>
            <a:off x="3476625" y="3095625"/>
            <a:ext cx="2286000" cy="1571625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8DEE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7" name="Text"/>
          <p:cNvSpPr txBox="1"/>
          <p:nvPr/>
        </p:nvSpPr>
        <p:spPr>
          <a:xfrm>
            <a:off x="3629025" y="3267075"/>
            <a:ext cx="19812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 b="1">
                <a:solidFill>
                  <a:srgbClr val="1F2933"/>
                </a:solidFill>
                <a:latin typeface="Arial"/>
              </a:rPr>
              <a:t>Session flag</a:t>
            </a:r>
          </a:p>
        </p:txBody>
      </p:sp>
      <p:sp>
        <p:nvSpPr>
          <p:cNvPr id="128" name="Text"/>
          <p:cNvSpPr txBox="1"/>
          <p:nvPr/>
        </p:nvSpPr>
        <p:spPr>
          <a:xfrm>
            <a:off x="3629025" y="3933825"/>
            <a:ext cx="1981200" cy="646331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dirty="0">
                <a:solidFill>
                  <a:srgbClr val="5F6B7A"/>
                </a:solidFill>
                <a:latin typeface="Arial"/>
              </a:rPr>
              <a:t>new day or</a:t>
            </a:r>
          </a:p>
          <a:p>
            <a:pPr algn="l"/>
            <a:r>
              <a:rPr lang="en-US" dirty="0">
                <a:solidFill>
                  <a:srgbClr val="5F6B7A"/>
                </a:solidFill>
                <a:latin typeface="Arial"/>
              </a:rPr>
              <a:t>30+ min gap</a:t>
            </a:r>
          </a:p>
        </p:txBody>
      </p:sp>
      <p:sp>
        <p:nvSpPr>
          <p:cNvPr id="146" name="Arrow"/>
          <p:cNvSpPr/>
          <p:nvPr/>
        </p:nvSpPr>
        <p:spPr>
          <a:xfrm>
            <a:off x="5849629" y="3638557"/>
            <a:ext cx="366359" cy="304792"/>
          </a:xfrm>
          <a:prstGeom prst="rightArrow">
            <a:avLst/>
          </a:prstGeom>
          <a:solidFill>
            <a:srgbClr val="1F77B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2" name="Rectangle"/>
          <p:cNvSpPr/>
          <p:nvPr/>
        </p:nvSpPr>
        <p:spPr>
          <a:xfrm>
            <a:off x="6286500" y="3095625"/>
            <a:ext cx="2286000" cy="1571625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8DEE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3" name="Text"/>
          <p:cNvSpPr txBox="1"/>
          <p:nvPr/>
        </p:nvSpPr>
        <p:spPr>
          <a:xfrm>
            <a:off x="6438900" y="3267075"/>
            <a:ext cx="19812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 b="1">
                <a:solidFill>
                  <a:srgbClr val="1F2933"/>
                </a:solidFill>
                <a:latin typeface="Arial"/>
              </a:rPr>
              <a:t>Modeled session</a:t>
            </a:r>
          </a:p>
        </p:txBody>
      </p:sp>
      <p:sp>
        <p:nvSpPr>
          <p:cNvPr id="134" name="Text"/>
          <p:cNvSpPr txBox="1"/>
          <p:nvPr/>
        </p:nvSpPr>
        <p:spPr>
          <a:xfrm>
            <a:off x="6438900" y="3933825"/>
            <a:ext cx="1981200" cy="646331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dirty="0">
                <a:solidFill>
                  <a:srgbClr val="5F6B7A"/>
                </a:solidFill>
                <a:latin typeface="Arial"/>
              </a:rPr>
              <a:t>first event to</a:t>
            </a:r>
          </a:p>
          <a:p>
            <a:pPr algn="l"/>
            <a:r>
              <a:rPr lang="en-US" dirty="0">
                <a:solidFill>
                  <a:srgbClr val="5F6B7A"/>
                </a:solidFill>
                <a:latin typeface="Arial"/>
              </a:rPr>
              <a:t>last event</a:t>
            </a:r>
          </a:p>
        </p:txBody>
      </p:sp>
      <p:sp>
        <p:nvSpPr>
          <p:cNvPr id="147" name="Arrow"/>
          <p:cNvSpPr/>
          <p:nvPr/>
        </p:nvSpPr>
        <p:spPr>
          <a:xfrm>
            <a:off x="8659504" y="3638557"/>
            <a:ext cx="366359" cy="304792"/>
          </a:xfrm>
          <a:prstGeom prst="rightArrow">
            <a:avLst/>
          </a:prstGeom>
          <a:solidFill>
            <a:srgbClr val="1F77B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8" name="Rectangle"/>
          <p:cNvSpPr/>
          <p:nvPr/>
        </p:nvSpPr>
        <p:spPr>
          <a:xfrm>
            <a:off x="9096375" y="3095625"/>
            <a:ext cx="2286000" cy="1571625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8DEE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9" name="Text"/>
          <p:cNvSpPr txBox="1"/>
          <p:nvPr/>
        </p:nvSpPr>
        <p:spPr>
          <a:xfrm>
            <a:off x="9248775" y="3267075"/>
            <a:ext cx="19812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 b="1">
                <a:solidFill>
                  <a:srgbClr val="1F2933"/>
                </a:solidFill>
                <a:latin typeface="Arial"/>
              </a:rPr>
              <a:t>Summary</a:t>
            </a:r>
          </a:p>
        </p:txBody>
      </p:sp>
      <p:sp>
        <p:nvSpPr>
          <p:cNvPr id="140" name="Text"/>
          <p:cNvSpPr txBox="1"/>
          <p:nvPr/>
        </p:nvSpPr>
        <p:spPr>
          <a:xfrm>
            <a:off x="9248775" y="3933825"/>
            <a:ext cx="1981200" cy="646331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>
                <a:solidFill>
                  <a:srgbClr val="5F6B7A"/>
                </a:solidFill>
                <a:latin typeface="Arial"/>
              </a:rPr>
              <a:t>campaign by</a:t>
            </a:r>
          </a:p>
          <a:p>
            <a:pPr algn="l"/>
            <a:r>
              <a:rPr lang="en-US">
                <a:solidFill>
                  <a:srgbClr val="5F6B7A"/>
                </a:solidFill>
                <a:latin typeface="Arial"/>
              </a:rPr>
              <a:t>weekday</a:t>
            </a:r>
          </a:p>
        </p:txBody>
      </p:sp>
      <p:sp>
        <p:nvSpPr>
          <p:cNvPr id="160" name="Rectangle"/>
          <p:cNvSpPr/>
          <p:nvPr/>
        </p:nvSpPr>
        <p:spPr>
          <a:xfrm>
            <a:off x="1190625" y="5553075"/>
            <a:ext cx="114300" cy="114300"/>
          </a:xfrm>
          <a:prstGeom prst="roundRect">
            <a:avLst/>
          </a:prstGeom>
          <a:solidFill>
            <a:srgbClr val="1F77B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1" name="Text"/>
          <p:cNvSpPr txBox="1"/>
          <p:nvPr/>
        </p:nvSpPr>
        <p:spPr>
          <a:xfrm>
            <a:off x="1457325" y="5476875"/>
            <a:ext cx="9220200" cy="42862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>
                <a:solidFill>
                  <a:srgbClr val="1F2933"/>
                </a:solidFill>
                <a:latin typeface="Arial"/>
              </a:rPr>
              <a:t>New session: different day or 30+ minute gap.</a:t>
            </a:r>
          </a:p>
        </p:txBody>
      </p:sp>
      <p:sp>
        <p:nvSpPr>
          <p:cNvPr id="163" name="Rectangle"/>
          <p:cNvSpPr/>
          <p:nvPr/>
        </p:nvSpPr>
        <p:spPr>
          <a:xfrm>
            <a:off x="1190625" y="5962650"/>
            <a:ext cx="114300" cy="114300"/>
          </a:xfrm>
          <a:prstGeom prst="roundRect">
            <a:avLst/>
          </a:prstGeom>
          <a:solidFill>
            <a:srgbClr val="1F77B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4" name="Text"/>
          <p:cNvSpPr txBox="1"/>
          <p:nvPr/>
        </p:nvSpPr>
        <p:spPr>
          <a:xfrm>
            <a:off x="1457325" y="5886450"/>
            <a:ext cx="9220200" cy="42862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>
                <a:solidFill>
                  <a:srgbClr val="1F2933"/>
                </a:solidFill>
                <a:latin typeface="Arial"/>
              </a:rPr>
              <a:t>Duration: last event minus first event.</a:t>
            </a:r>
          </a:p>
        </p:txBody>
      </p:sp>
      <p:sp>
        <p:nvSpPr>
          <p:cNvPr id="166" name="Rectangle"/>
          <p:cNvSpPr/>
          <p:nvPr/>
        </p:nvSpPr>
        <p:spPr>
          <a:xfrm>
            <a:off x="1190625" y="6372225"/>
            <a:ext cx="114300" cy="114300"/>
          </a:xfrm>
          <a:prstGeom prst="roundRect">
            <a:avLst/>
          </a:prstGeom>
          <a:solidFill>
            <a:srgbClr val="1F77B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7" name="Text"/>
          <p:cNvSpPr txBox="1"/>
          <p:nvPr/>
        </p:nvSpPr>
        <p:spPr>
          <a:xfrm>
            <a:off x="1457325" y="6296025"/>
            <a:ext cx="9220200" cy="42862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>
                <a:solidFill>
                  <a:srgbClr val="1F2933"/>
                </a:solidFill>
                <a:latin typeface="Arial"/>
              </a:rPr>
              <a:t>Modeled metric: explain limitations clearly.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Text"/>
          <p:cNvSpPr txBox="1"/>
          <p:nvPr/>
        </p:nvSpPr>
        <p:spPr>
          <a:xfrm>
            <a:off x="666750" y="400050"/>
            <a:ext cx="53340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 b="1">
                <a:solidFill>
                  <a:srgbClr val="1F77B4"/>
                </a:solidFill>
                <a:latin typeface="Arial"/>
              </a:rPr>
              <a:t>CORE PATTERN</a:t>
            </a:r>
          </a:p>
        </p:txBody>
      </p:sp>
      <p:sp>
        <p:nvSpPr>
          <p:cNvPr id="181" name="Text"/>
          <p:cNvSpPr txBox="1"/>
          <p:nvPr/>
        </p:nvSpPr>
        <p:spPr>
          <a:xfrm>
            <a:off x="666750" y="742950"/>
            <a:ext cx="9810750" cy="9525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4000" b="1">
                <a:solidFill>
                  <a:srgbClr val="1F2933"/>
                </a:solidFill>
                <a:latin typeface="Arial"/>
              </a:rPr>
              <a:t>Referral Duration Lead</a:t>
            </a:r>
          </a:p>
        </p:txBody>
      </p:sp>
      <p:sp>
        <p:nvSpPr>
          <p:cNvPr id="182" name="Text"/>
          <p:cNvSpPr txBox="1"/>
          <p:nvPr/>
        </p:nvSpPr>
        <p:spPr>
          <a:xfrm>
            <a:off x="666750" y="1771650"/>
            <a:ext cx="1028700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 dirty="0">
                <a:solidFill>
                  <a:srgbClr val="5F6B7A"/>
                </a:solidFill>
                <a:latin typeface="Arial"/>
              </a:rPr>
              <a:t>In the reliable comparison set, referral stays above organic on every weekday.</a:t>
            </a:r>
          </a:p>
        </p:txBody>
      </p:sp>
      <p:cxnSp>
        <p:nvCxnSpPr>
          <p:cNvPr id="183" name="Line"/>
          <p:cNvCxnSpPr/>
          <p:nvPr/>
        </p:nvCxnSpPr>
        <p:spPr>
          <a:xfrm>
            <a:off x="666750" y="2343150"/>
            <a:ext cx="10858500" cy="1"/>
          </a:xfrm>
          <a:prstGeom prst="line">
            <a:avLst/>
          </a:prstGeom>
          <a:ln w="18000">
            <a:solidFill>
              <a:srgbClr val="D8DEE6"/>
            </a:solidFill>
          </a:ln>
        </p:spPr>
      </p:cxnSp>
      <p:pic>
        <p:nvPicPr>
          <p:cNvPr id="190" name="Weekday duration char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0" y="2619375"/>
            <a:ext cx="6191250" cy="3524250"/>
          </a:xfrm>
          <a:prstGeom prst="rect">
            <a:avLst/>
          </a:prstGeom>
          <a:ln w="6000">
            <a:solidFill>
              <a:srgbClr val="D8DEE6"/>
            </a:solidFill>
          </a:ln>
        </p:spPr>
      </p:pic>
      <p:sp>
        <p:nvSpPr>
          <p:cNvPr id="200" name="Rectangle"/>
          <p:cNvSpPr/>
          <p:nvPr/>
        </p:nvSpPr>
        <p:spPr>
          <a:xfrm>
            <a:off x="904875" y="3028950"/>
            <a:ext cx="114300" cy="114300"/>
          </a:xfrm>
          <a:prstGeom prst="roundRect">
            <a:avLst/>
          </a:prstGeom>
          <a:solidFill>
            <a:srgbClr val="1F77B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1" name="Text"/>
          <p:cNvSpPr txBox="1"/>
          <p:nvPr/>
        </p:nvSpPr>
        <p:spPr>
          <a:xfrm>
            <a:off x="1171575" y="2952750"/>
            <a:ext cx="3600450" cy="42862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>
                <a:solidFill>
                  <a:srgbClr val="1F2933"/>
                </a:solidFill>
                <a:latin typeface="Arial"/>
              </a:rPr>
              <a:t>Referral weighted average: 5.54 minutes.</a:t>
            </a:r>
          </a:p>
        </p:txBody>
      </p:sp>
      <p:sp>
        <p:nvSpPr>
          <p:cNvPr id="203" name="Rectangle"/>
          <p:cNvSpPr/>
          <p:nvPr/>
        </p:nvSpPr>
        <p:spPr>
          <a:xfrm>
            <a:off x="904875" y="3657600"/>
            <a:ext cx="114300" cy="114300"/>
          </a:xfrm>
          <a:prstGeom prst="roundRect">
            <a:avLst/>
          </a:prstGeom>
          <a:solidFill>
            <a:srgbClr val="1F77B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4" name="Text"/>
          <p:cNvSpPr txBox="1"/>
          <p:nvPr/>
        </p:nvSpPr>
        <p:spPr>
          <a:xfrm>
            <a:off x="1171575" y="3581400"/>
            <a:ext cx="3600450" cy="42862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>
                <a:solidFill>
                  <a:srgbClr val="1F2933"/>
                </a:solidFill>
                <a:latin typeface="Arial"/>
              </a:rPr>
              <a:t>Organic weighted average: 4.06 minutes.</a:t>
            </a:r>
          </a:p>
        </p:txBody>
      </p:sp>
      <p:sp>
        <p:nvSpPr>
          <p:cNvPr id="206" name="Rectangle"/>
          <p:cNvSpPr/>
          <p:nvPr/>
        </p:nvSpPr>
        <p:spPr>
          <a:xfrm>
            <a:off x="904875" y="4286250"/>
            <a:ext cx="114300" cy="114300"/>
          </a:xfrm>
          <a:prstGeom prst="roundRect">
            <a:avLst/>
          </a:prstGeom>
          <a:solidFill>
            <a:srgbClr val="1F77B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7" name="Text"/>
          <p:cNvSpPr txBox="1"/>
          <p:nvPr/>
        </p:nvSpPr>
        <p:spPr>
          <a:xfrm>
            <a:off x="1171575" y="4210050"/>
            <a:ext cx="3600450" cy="42862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>
                <a:solidFill>
                  <a:srgbClr val="1F2933"/>
                </a:solidFill>
                <a:latin typeface="Arial"/>
              </a:rPr>
              <a:t>Data Share Promo is higher overall, but less stable because the sample is smaller.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Text"/>
          <p:cNvSpPr txBox="1"/>
          <p:nvPr/>
        </p:nvSpPr>
        <p:spPr>
          <a:xfrm>
            <a:off x="666750" y="400050"/>
            <a:ext cx="53340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 b="1">
                <a:solidFill>
                  <a:srgbClr val="1F77B4"/>
                </a:solidFill>
                <a:latin typeface="Arial"/>
              </a:rPr>
              <a:t>EVIDENCE WEIGHT</a:t>
            </a:r>
          </a:p>
        </p:txBody>
      </p:sp>
      <p:sp>
        <p:nvSpPr>
          <p:cNvPr id="221" name="Text"/>
          <p:cNvSpPr txBox="1"/>
          <p:nvPr/>
        </p:nvSpPr>
        <p:spPr>
          <a:xfrm>
            <a:off x="666750" y="742950"/>
            <a:ext cx="9810750" cy="9525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4000" b="1">
                <a:solidFill>
                  <a:srgbClr val="1F2933"/>
                </a:solidFill>
                <a:latin typeface="Arial"/>
              </a:rPr>
              <a:t>Sample Size Risk</a:t>
            </a:r>
          </a:p>
        </p:txBody>
      </p:sp>
      <p:sp>
        <p:nvSpPr>
          <p:cNvPr id="222" name="Text"/>
          <p:cNvSpPr txBox="1"/>
          <p:nvPr/>
        </p:nvSpPr>
        <p:spPr>
          <a:xfrm>
            <a:off x="666750" y="1771650"/>
            <a:ext cx="1028700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>
                <a:solidFill>
                  <a:srgbClr val="5F6B7A"/>
                </a:solidFill>
                <a:latin typeface="Arial"/>
              </a:rPr>
              <a:t>Large session counts make organic and referral patterns much safer to interpret.</a:t>
            </a:r>
          </a:p>
        </p:txBody>
      </p:sp>
      <p:cxnSp>
        <p:nvCxnSpPr>
          <p:cNvPr id="223" name="Line"/>
          <p:cNvCxnSpPr/>
          <p:nvPr/>
        </p:nvCxnSpPr>
        <p:spPr>
          <a:xfrm>
            <a:off x="666750" y="2343150"/>
            <a:ext cx="10858500" cy="1"/>
          </a:xfrm>
          <a:prstGeom prst="line">
            <a:avLst/>
          </a:prstGeom>
          <a:ln w="18000">
            <a:solidFill>
              <a:srgbClr val="D8DEE6"/>
            </a:solidFill>
          </a:ln>
        </p:spPr>
      </p:cxnSp>
      <p:pic>
        <p:nvPicPr>
          <p:cNvPr id="230" name="Sample size char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0" y="2619375"/>
            <a:ext cx="6572250" cy="3619500"/>
          </a:xfrm>
          <a:prstGeom prst="rect">
            <a:avLst/>
          </a:prstGeom>
          <a:ln w="6000">
            <a:solidFill>
              <a:srgbClr val="D8DEE6"/>
            </a:solidFill>
          </a:ln>
        </p:spPr>
      </p:pic>
      <p:sp>
        <p:nvSpPr>
          <p:cNvPr id="240" name="Rectangle"/>
          <p:cNvSpPr/>
          <p:nvPr/>
        </p:nvSpPr>
        <p:spPr>
          <a:xfrm>
            <a:off x="904875" y="2933700"/>
            <a:ext cx="114300" cy="114300"/>
          </a:xfrm>
          <a:prstGeom prst="roundRect">
            <a:avLst/>
          </a:prstGeom>
          <a:solidFill>
            <a:srgbClr val="1F77B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1" name="Text"/>
          <p:cNvSpPr txBox="1"/>
          <p:nvPr/>
        </p:nvSpPr>
        <p:spPr>
          <a:xfrm>
            <a:off x="1171575" y="2857500"/>
            <a:ext cx="3314700" cy="42862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>
                <a:solidFill>
                  <a:srgbClr val="1F2933"/>
                </a:solidFill>
                <a:latin typeface="Arial"/>
              </a:rPr>
              <a:t>Organic: 102,309 modeled sessions.</a:t>
            </a:r>
          </a:p>
        </p:txBody>
      </p:sp>
      <p:sp>
        <p:nvSpPr>
          <p:cNvPr id="243" name="Rectangle"/>
          <p:cNvSpPr/>
          <p:nvPr/>
        </p:nvSpPr>
        <p:spPr>
          <a:xfrm>
            <a:off x="904875" y="3467100"/>
            <a:ext cx="114300" cy="114300"/>
          </a:xfrm>
          <a:prstGeom prst="roundRect">
            <a:avLst/>
          </a:prstGeom>
          <a:solidFill>
            <a:srgbClr val="1F77B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4" name="Text"/>
          <p:cNvSpPr txBox="1"/>
          <p:nvPr/>
        </p:nvSpPr>
        <p:spPr>
          <a:xfrm>
            <a:off x="1171575" y="3390900"/>
            <a:ext cx="3314700" cy="42862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>
                <a:solidFill>
                  <a:srgbClr val="1F2933"/>
                </a:solidFill>
                <a:latin typeface="Arial"/>
              </a:rPr>
              <a:t>Referral: 82,353 modeled sessions.</a:t>
            </a:r>
          </a:p>
        </p:txBody>
      </p:sp>
      <p:sp>
        <p:nvSpPr>
          <p:cNvPr id="246" name="Rectangle"/>
          <p:cNvSpPr/>
          <p:nvPr/>
        </p:nvSpPr>
        <p:spPr>
          <a:xfrm>
            <a:off x="904875" y="4000500"/>
            <a:ext cx="114300" cy="114300"/>
          </a:xfrm>
          <a:prstGeom prst="roundRect">
            <a:avLst/>
          </a:prstGeom>
          <a:solidFill>
            <a:srgbClr val="1F77B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7" name="Text"/>
          <p:cNvSpPr txBox="1"/>
          <p:nvPr/>
        </p:nvSpPr>
        <p:spPr>
          <a:xfrm>
            <a:off x="1171575" y="3924300"/>
            <a:ext cx="3314700" cy="42862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>
                <a:solidFill>
                  <a:srgbClr val="1F2933"/>
                </a:solidFill>
                <a:latin typeface="Arial"/>
              </a:rPr>
              <a:t>Data Share Promo: 1,294 modeled sessions.</a:t>
            </a:r>
          </a:p>
        </p:txBody>
      </p:sp>
      <p:sp>
        <p:nvSpPr>
          <p:cNvPr id="249" name="Rectangle"/>
          <p:cNvSpPr/>
          <p:nvPr/>
        </p:nvSpPr>
        <p:spPr>
          <a:xfrm>
            <a:off x="904875" y="4533900"/>
            <a:ext cx="114300" cy="114300"/>
          </a:xfrm>
          <a:prstGeom prst="roundRect">
            <a:avLst/>
          </a:prstGeom>
          <a:solidFill>
            <a:srgbClr val="1F77B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50" name="Text"/>
          <p:cNvSpPr txBox="1"/>
          <p:nvPr/>
        </p:nvSpPr>
        <p:spPr>
          <a:xfrm>
            <a:off x="1171575" y="4457700"/>
            <a:ext cx="3314700" cy="42862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 dirty="0">
                <a:solidFill>
                  <a:srgbClr val="1F2933"/>
                </a:solidFill>
                <a:latin typeface="Arial"/>
              </a:rPr>
              <a:t>Several named campaigns have fewer than 100 sessions.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Text"/>
          <p:cNvSpPr txBox="1"/>
          <p:nvPr/>
        </p:nvSpPr>
        <p:spPr>
          <a:xfrm>
            <a:off x="666750" y="400050"/>
            <a:ext cx="53340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 b="1">
                <a:solidFill>
                  <a:srgbClr val="1F77B4"/>
                </a:solidFill>
                <a:latin typeface="Arial"/>
              </a:rPr>
              <a:t>EXPLORATORY SIGNAL</a:t>
            </a:r>
          </a:p>
        </p:txBody>
      </p:sp>
      <p:sp>
        <p:nvSpPr>
          <p:cNvPr id="261" name="Text"/>
          <p:cNvSpPr txBox="1"/>
          <p:nvPr/>
        </p:nvSpPr>
        <p:spPr>
          <a:xfrm>
            <a:off x="666750" y="742950"/>
            <a:ext cx="9810750" cy="9525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4000" b="1">
                <a:solidFill>
                  <a:srgbClr val="1F2933"/>
                </a:solidFill>
                <a:latin typeface="Arial"/>
              </a:rPr>
              <a:t>Small-Sample Spikes</a:t>
            </a:r>
          </a:p>
        </p:txBody>
      </p:sp>
      <p:sp>
        <p:nvSpPr>
          <p:cNvPr id="262" name="Text"/>
          <p:cNvSpPr txBox="1"/>
          <p:nvPr/>
        </p:nvSpPr>
        <p:spPr>
          <a:xfrm>
            <a:off x="666750" y="1771650"/>
            <a:ext cx="1028700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>
                <a:solidFill>
                  <a:srgbClr val="5F6B7A"/>
                </a:solidFill>
                <a:latin typeface="Arial"/>
              </a:rPr>
              <a:t>Most of the highest raw averages are based on 2-9 modeled sessions.</a:t>
            </a:r>
          </a:p>
        </p:txBody>
      </p:sp>
      <p:cxnSp>
        <p:nvCxnSpPr>
          <p:cNvPr id="263" name="Line"/>
          <p:cNvCxnSpPr/>
          <p:nvPr/>
        </p:nvCxnSpPr>
        <p:spPr>
          <a:xfrm>
            <a:off x="666750" y="2343150"/>
            <a:ext cx="10858500" cy="1"/>
          </a:xfrm>
          <a:prstGeom prst="line">
            <a:avLst/>
          </a:prstGeom>
          <a:ln w="18000">
            <a:solidFill>
              <a:srgbClr val="D8DEE6"/>
            </a:solidFill>
          </a:ln>
        </p:spPr>
      </p:cxnSp>
      <p:pic>
        <p:nvPicPr>
          <p:cNvPr id="270" name="Top combinations char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25" y="2476500"/>
            <a:ext cx="7433510" cy="4279899"/>
          </a:xfrm>
          <a:prstGeom prst="rect">
            <a:avLst/>
          </a:prstGeom>
          <a:ln w="6000">
            <a:solidFill>
              <a:srgbClr val="D8DEE6"/>
            </a:solidFill>
          </a:ln>
        </p:spPr>
      </p:pic>
      <p:sp>
        <p:nvSpPr>
          <p:cNvPr id="280" name="Rectangle"/>
          <p:cNvSpPr/>
          <p:nvPr/>
        </p:nvSpPr>
        <p:spPr>
          <a:xfrm>
            <a:off x="904875" y="3000374"/>
            <a:ext cx="3429000" cy="1485895"/>
          </a:xfrm>
          <a:prstGeom prst="roundRect">
            <a:avLst/>
          </a:prstGeom>
          <a:solidFill>
            <a:srgbClr val="FFF5EB"/>
          </a:solidFill>
          <a:ln w="10000">
            <a:solidFill>
              <a:srgbClr val="F57C0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81" name="Text"/>
          <p:cNvSpPr txBox="1"/>
          <p:nvPr/>
        </p:nvSpPr>
        <p:spPr>
          <a:xfrm>
            <a:off x="1190625" y="3238500"/>
            <a:ext cx="3913638" cy="70788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 b="1" dirty="0">
                <a:solidFill>
                  <a:srgbClr val="1F2933"/>
                </a:solidFill>
                <a:latin typeface="Arial"/>
              </a:rPr>
              <a:t>BlackFriday_V1</a:t>
            </a:r>
          </a:p>
          <a:p>
            <a:pPr algn="l"/>
            <a:r>
              <a:rPr lang="en-US" sz="2000" b="1" dirty="0">
                <a:solidFill>
                  <a:srgbClr val="1F2933"/>
                </a:solidFill>
                <a:latin typeface="Arial"/>
              </a:rPr>
              <a:t>Friday</a:t>
            </a:r>
          </a:p>
        </p:txBody>
      </p:sp>
      <p:sp>
        <p:nvSpPr>
          <p:cNvPr id="282" name="Text"/>
          <p:cNvSpPr txBox="1"/>
          <p:nvPr/>
        </p:nvSpPr>
        <p:spPr>
          <a:xfrm>
            <a:off x="1190625" y="3829050"/>
            <a:ext cx="2857500" cy="646331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b="1" dirty="0">
                <a:solidFill>
                  <a:srgbClr val="F57C00"/>
                </a:solidFill>
                <a:latin typeface="Arial"/>
              </a:rPr>
              <a:t>12.44 min</a:t>
            </a:r>
          </a:p>
          <a:p>
            <a:pPr algn="l"/>
            <a:r>
              <a:rPr lang="en-US" b="1" dirty="0">
                <a:solidFill>
                  <a:srgbClr val="F57C00"/>
                </a:solidFill>
                <a:latin typeface="Arial"/>
              </a:rPr>
              <a:t>n = 2 sessions</a:t>
            </a:r>
          </a:p>
        </p:txBody>
      </p:sp>
      <p:sp>
        <p:nvSpPr>
          <p:cNvPr id="283" name="Text"/>
          <p:cNvSpPr txBox="1"/>
          <p:nvPr/>
        </p:nvSpPr>
        <p:spPr>
          <a:xfrm>
            <a:off x="904875" y="4619625"/>
            <a:ext cx="3476625" cy="61912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>
                <a:solidFill>
                  <a:srgbClr val="1F2933"/>
                </a:solidFill>
                <a:latin typeface="Arial"/>
              </a:rPr>
              <a:t>Answer to review question: it did not take longer than 1 hour.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ext"/>
          <p:cNvSpPr txBox="1"/>
          <p:nvPr/>
        </p:nvSpPr>
        <p:spPr>
          <a:xfrm>
            <a:off x="666750" y="400050"/>
            <a:ext cx="53340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 b="1">
                <a:solidFill>
                  <a:srgbClr val="1F77B4"/>
                </a:solidFill>
                <a:latin typeface="Arial"/>
              </a:rPr>
              <a:t>INTERPRETATION</a:t>
            </a:r>
          </a:p>
        </p:txBody>
      </p:sp>
      <p:sp>
        <p:nvSpPr>
          <p:cNvPr id="301" name="Text"/>
          <p:cNvSpPr txBox="1"/>
          <p:nvPr/>
        </p:nvSpPr>
        <p:spPr>
          <a:xfrm>
            <a:off x="666750" y="742950"/>
            <a:ext cx="9810750" cy="9525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4000" b="1">
                <a:solidFill>
                  <a:srgbClr val="1F2933"/>
                </a:solidFill>
                <a:latin typeface="Arial"/>
              </a:rPr>
              <a:t>Duration Interpretation</a:t>
            </a:r>
          </a:p>
        </p:txBody>
      </p:sp>
      <p:sp>
        <p:nvSpPr>
          <p:cNvPr id="302" name="Text"/>
          <p:cNvSpPr txBox="1"/>
          <p:nvPr/>
        </p:nvSpPr>
        <p:spPr>
          <a:xfrm>
            <a:off x="666750" y="1771650"/>
            <a:ext cx="1028700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>
                <a:solidFill>
                  <a:srgbClr val="5F6B7A"/>
                </a:solidFill>
                <a:latin typeface="Arial"/>
              </a:rPr>
              <a:t>Duration is a useful engagement signal, but it is not automatically a performance win.</a:t>
            </a:r>
          </a:p>
        </p:txBody>
      </p:sp>
      <p:cxnSp>
        <p:nvCxnSpPr>
          <p:cNvPr id="303" name="Line"/>
          <p:cNvCxnSpPr/>
          <p:nvPr/>
        </p:nvCxnSpPr>
        <p:spPr>
          <a:xfrm>
            <a:off x="666750" y="2343150"/>
            <a:ext cx="10858500" cy="1"/>
          </a:xfrm>
          <a:prstGeom prst="line">
            <a:avLst/>
          </a:prstGeom>
          <a:ln w="18000">
            <a:solidFill>
              <a:srgbClr val="D8DEE6"/>
            </a:solidFill>
          </a:ln>
        </p:spPr>
      </p:cxnSp>
      <p:sp>
        <p:nvSpPr>
          <p:cNvPr id="310" name="Rectangle"/>
          <p:cNvSpPr/>
          <p:nvPr/>
        </p:nvSpPr>
        <p:spPr>
          <a:xfrm>
            <a:off x="1000125" y="2952750"/>
            <a:ext cx="4476750" cy="2095500"/>
          </a:xfrm>
          <a:prstGeom prst="roundRect">
            <a:avLst/>
          </a:prstGeom>
          <a:solidFill>
            <a:srgbClr val="EEF5FF"/>
          </a:solidFill>
          <a:ln w="10000">
            <a:solidFill>
              <a:srgbClr val="1F77B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1" name="Text"/>
          <p:cNvSpPr txBox="1"/>
          <p:nvPr/>
        </p:nvSpPr>
        <p:spPr>
          <a:xfrm>
            <a:off x="1285875" y="3219450"/>
            <a:ext cx="3905250" cy="3238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 b="1">
                <a:solidFill>
                  <a:srgbClr val="1F77B4"/>
                </a:solidFill>
                <a:latin typeface="Arial"/>
              </a:rPr>
              <a:t>Good interpretation</a:t>
            </a:r>
          </a:p>
        </p:txBody>
      </p:sp>
      <p:sp>
        <p:nvSpPr>
          <p:cNvPr id="320" name="Rectangle"/>
          <p:cNvSpPr/>
          <p:nvPr/>
        </p:nvSpPr>
        <p:spPr>
          <a:xfrm>
            <a:off x="1381125" y="3838575"/>
            <a:ext cx="114300" cy="114300"/>
          </a:xfrm>
          <a:prstGeom prst="roundRect">
            <a:avLst/>
          </a:prstGeom>
          <a:solidFill>
            <a:srgbClr val="1F77B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1" name="Text"/>
          <p:cNvSpPr txBox="1"/>
          <p:nvPr/>
        </p:nvSpPr>
        <p:spPr>
          <a:xfrm>
            <a:off x="1647825" y="3762375"/>
            <a:ext cx="3219450" cy="42862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>
                <a:solidFill>
                  <a:srgbClr val="1F2933"/>
                </a:solidFill>
                <a:latin typeface="Arial"/>
              </a:rPr>
              <a:t>Stronger interest</a:t>
            </a:r>
          </a:p>
        </p:txBody>
      </p:sp>
      <p:sp>
        <p:nvSpPr>
          <p:cNvPr id="323" name="Rectangle"/>
          <p:cNvSpPr/>
          <p:nvPr/>
        </p:nvSpPr>
        <p:spPr>
          <a:xfrm>
            <a:off x="1381125" y="4238625"/>
            <a:ext cx="114300" cy="114300"/>
          </a:xfrm>
          <a:prstGeom prst="roundRect">
            <a:avLst/>
          </a:prstGeom>
          <a:solidFill>
            <a:srgbClr val="1F77B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4" name="Text"/>
          <p:cNvSpPr txBox="1"/>
          <p:nvPr/>
        </p:nvSpPr>
        <p:spPr>
          <a:xfrm>
            <a:off x="1647825" y="4162425"/>
            <a:ext cx="3219450" cy="42862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>
                <a:solidFill>
                  <a:srgbClr val="1F2933"/>
                </a:solidFill>
                <a:latin typeface="Arial"/>
              </a:rPr>
              <a:t>More product browsing</a:t>
            </a:r>
          </a:p>
        </p:txBody>
      </p:sp>
      <p:sp>
        <p:nvSpPr>
          <p:cNvPr id="326" name="Rectangle"/>
          <p:cNvSpPr/>
          <p:nvPr/>
        </p:nvSpPr>
        <p:spPr>
          <a:xfrm>
            <a:off x="1381125" y="4638675"/>
            <a:ext cx="114300" cy="114300"/>
          </a:xfrm>
          <a:prstGeom prst="roundRect">
            <a:avLst/>
          </a:prstGeom>
          <a:solidFill>
            <a:srgbClr val="1F77B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7" name="Text"/>
          <p:cNvSpPr txBox="1"/>
          <p:nvPr/>
        </p:nvSpPr>
        <p:spPr>
          <a:xfrm>
            <a:off x="1647825" y="4562475"/>
            <a:ext cx="3219450" cy="42862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>
                <a:solidFill>
                  <a:srgbClr val="1F2933"/>
                </a:solidFill>
                <a:latin typeface="Arial"/>
              </a:rPr>
              <a:t>Better-fit traffic</a:t>
            </a:r>
          </a:p>
        </p:txBody>
      </p:sp>
      <p:sp>
        <p:nvSpPr>
          <p:cNvPr id="340" name="Rectangle"/>
          <p:cNvSpPr/>
          <p:nvPr/>
        </p:nvSpPr>
        <p:spPr>
          <a:xfrm>
            <a:off x="6667500" y="2952750"/>
            <a:ext cx="4476750" cy="2095500"/>
          </a:xfrm>
          <a:prstGeom prst="roundRect">
            <a:avLst/>
          </a:prstGeom>
          <a:solidFill>
            <a:srgbClr val="FFF1F0"/>
          </a:solidFill>
          <a:ln w="10000">
            <a:solidFill>
              <a:srgbClr val="C2574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41" name="Text"/>
          <p:cNvSpPr txBox="1"/>
          <p:nvPr/>
        </p:nvSpPr>
        <p:spPr>
          <a:xfrm>
            <a:off x="6953250" y="3219450"/>
            <a:ext cx="3905250" cy="3238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 b="1">
                <a:solidFill>
                  <a:srgbClr val="C25746"/>
                </a:solidFill>
                <a:latin typeface="Arial"/>
              </a:rPr>
              <a:t>Risk interpretation</a:t>
            </a:r>
          </a:p>
        </p:txBody>
      </p:sp>
      <p:sp>
        <p:nvSpPr>
          <p:cNvPr id="350" name="Rectangle"/>
          <p:cNvSpPr/>
          <p:nvPr/>
        </p:nvSpPr>
        <p:spPr>
          <a:xfrm>
            <a:off x="7048500" y="3838575"/>
            <a:ext cx="114300" cy="114300"/>
          </a:xfrm>
          <a:prstGeom prst="roundRect">
            <a:avLst/>
          </a:prstGeom>
          <a:solidFill>
            <a:srgbClr val="1F77B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51" name="Text"/>
          <p:cNvSpPr txBox="1"/>
          <p:nvPr/>
        </p:nvSpPr>
        <p:spPr>
          <a:xfrm>
            <a:off x="7315200" y="3762375"/>
            <a:ext cx="3219450" cy="42862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>
                <a:solidFill>
                  <a:srgbClr val="1F2933"/>
                </a:solidFill>
                <a:latin typeface="Arial"/>
              </a:rPr>
              <a:t>Confusion</a:t>
            </a:r>
          </a:p>
        </p:txBody>
      </p:sp>
      <p:sp>
        <p:nvSpPr>
          <p:cNvPr id="353" name="Rectangle"/>
          <p:cNvSpPr/>
          <p:nvPr/>
        </p:nvSpPr>
        <p:spPr>
          <a:xfrm>
            <a:off x="7048500" y="4238625"/>
            <a:ext cx="114300" cy="114300"/>
          </a:xfrm>
          <a:prstGeom prst="roundRect">
            <a:avLst/>
          </a:prstGeom>
          <a:solidFill>
            <a:srgbClr val="1F77B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54" name="Text"/>
          <p:cNvSpPr txBox="1"/>
          <p:nvPr/>
        </p:nvSpPr>
        <p:spPr>
          <a:xfrm>
            <a:off x="7315200" y="4162425"/>
            <a:ext cx="3219450" cy="42862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>
                <a:solidFill>
                  <a:srgbClr val="1F2933"/>
                </a:solidFill>
                <a:latin typeface="Arial"/>
              </a:rPr>
              <a:t>Friction</a:t>
            </a:r>
          </a:p>
        </p:txBody>
      </p:sp>
      <p:sp>
        <p:nvSpPr>
          <p:cNvPr id="356" name="Rectangle"/>
          <p:cNvSpPr/>
          <p:nvPr/>
        </p:nvSpPr>
        <p:spPr>
          <a:xfrm>
            <a:off x="7048500" y="4638675"/>
            <a:ext cx="114300" cy="114300"/>
          </a:xfrm>
          <a:prstGeom prst="roundRect">
            <a:avLst/>
          </a:prstGeom>
          <a:solidFill>
            <a:srgbClr val="1F77B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57" name="Text"/>
          <p:cNvSpPr txBox="1"/>
          <p:nvPr/>
        </p:nvSpPr>
        <p:spPr>
          <a:xfrm>
            <a:off x="7315200" y="4562475"/>
            <a:ext cx="3219450" cy="42862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>
                <a:solidFill>
                  <a:srgbClr val="1F2933"/>
                </a:solidFill>
                <a:latin typeface="Arial"/>
              </a:rPr>
              <a:t>Inactive browser tabs</a:t>
            </a:r>
          </a:p>
        </p:txBody>
      </p:sp>
      <p:sp>
        <p:nvSpPr>
          <p:cNvPr id="370" name="Text"/>
          <p:cNvSpPr txBox="1"/>
          <p:nvPr/>
        </p:nvSpPr>
        <p:spPr>
          <a:xfrm>
            <a:off x="1619250" y="5667375"/>
            <a:ext cx="8763000" cy="4000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 b="1">
                <a:solidFill>
                  <a:srgbClr val="1F2933"/>
                </a:solidFill>
                <a:latin typeface="Arial"/>
              </a:rPr>
              <a:t>Next decision should combine duration with purchases, revenue, and conversion rate.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Text"/>
          <p:cNvSpPr txBox="1"/>
          <p:nvPr/>
        </p:nvSpPr>
        <p:spPr>
          <a:xfrm>
            <a:off x="666750" y="400050"/>
            <a:ext cx="53340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 b="1">
                <a:solidFill>
                  <a:srgbClr val="1F77B4"/>
                </a:solidFill>
                <a:latin typeface="Arial"/>
              </a:rPr>
              <a:t>LIMITATIONS</a:t>
            </a:r>
          </a:p>
        </p:txBody>
      </p:sp>
      <p:sp>
        <p:nvSpPr>
          <p:cNvPr id="391" name="Text"/>
          <p:cNvSpPr txBox="1"/>
          <p:nvPr/>
        </p:nvSpPr>
        <p:spPr>
          <a:xfrm>
            <a:off x="666750" y="742950"/>
            <a:ext cx="9810750" cy="9525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4000" b="1">
                <a:solidFill>
                  <a:srgbClr val="1F2933"/>
                </a:solidFill>
                <a:latin typeface="Arial"/>
              </a:rPr>
              <a:t>Modeling Limits</a:t>
            </a:r>
          </a:p>
        </p:txBody>
      </p:sp>
      <p:sp>
        <p:nvSpPr>
          <p:cNvPr id="392" name="Text"/>
          <p:cNvSpPr txBox="1"/>
          <p:nvPr/>
        </p:nvSpPr>
        <p:spPr>
          <a:xfrm>
            <a:off x="666750" y="1771650"/>
            <a:ext cx="1028700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>
                <a:solidFill>
                  <a:srgbClr val="5F6B7A"/>
                </a:solidFill>
                <a:latin typeface="Arial"/>
              </a:rPr>
              <a:t>The analysis is useful for direction, but not causal proof of campaign quality.</a:t>
            </a:r>
          </a:p>
        </p:txBody>
      </p:sp>
      <p:cxnSp>
        <p:nvCxnSpPr>
          <p:cNvPr id="393" name="Line"/>
          <p:cNvCxnSpPr/>
          <p:nvPr/>
        </p:nvCxnSpPr>
        <p:spPr>
          <a:xfrm>
            <a:off x="666750" y="2343150"/>
            <a:ext cx="10858500" cy="1"/>
          </a:xfrm>
          <a:prstGeom prst="line">
            <a:avLst/>
          </a:prstGeom>
          <a:ln w="18000">
            <a:solidFill>
              <a:srgbClr val="D8DEE6"/>
            </a:solidFill>
          </a:ln>
        </p:spPr>
      </p:cxnSp>
      <p:sp>
        <p:nvSpPr>
          <p:cNvPr id="400" name="Rectangle"/>
          <p:cNvSpPr/>
          <p:nvPr/>
        </p:nvSpPr>
        <p:spPr>
          <a:xfrm>
            <a:off x="1047750" y="2933700"/>
            <a:ext cx="114300" cy="114300"/>
          </a:xfrm>
          <a:prstGeom prst="roundRect">
            <a:avLst/>
          </a:prstGeom>
          <a:solidFill>
            <a:srgbClr val="1F77B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1" name="Text"/>
          <p:cNvSpPr txBox="1"/>
          <p:nvPr/>
        </p:nvSpPr>
        <p:spPr>
          <a:xfrm>
            <a:off x="1314450" y="2857500"/>
            <a:ext cx="9601200" cy="42862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>
                <a:solidFill>
                  <a:srgbClr val="1F2933"/>
                </a:solidFill>
                <a:latin typeface="Arial"/>
              </a:rPr>
              <a:t>Session IDs were not available, so sessions were estimated.</a:t>
            </a:r>
          </a:p>
        </p:txBody>
      </p:sp>
      <p:sp>
        <p:nvSpPr>
          <p:cNvPr id="403" name="Rectangle"/>
          <p:cNvSpPr/>
          <p:nvPr/>
        </p:nvSpPr>
        <p:spPr>
          <a:xfrm>
            <a:off x="1047750" y="3486150"/>
            <a:ext cx="114300" cy="114300"/>
          </a:xfrm>
          <a:prstGeom prst="roundRect">
            <a:avLst/>
          </a:prstGeom>
          <a:solidFill>
            <a:srgbClr val="1F77B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4" name="Text"/>
          <p:cNvSpPr txBox="1"/>
          <p:nvPr/>
        </p:nvSpPr>
        <p:spPr>
          <a:xfrm>
            <a:off x="1314450" y="3409950"/>
            <a:ext cx="9601200" cy="42862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>
                <a:solidFill>
                  <a:srgbClr val="1F2933"/>
                </a:solidFill>
                <a:latin typeface="Arial"/>
              </a:rPr>
              <a:t>Single-event sessions have a duration of 0 minutes.</a:t>
            </a:r>
          </a:p>
        </p:txBody>
      </p:sp>
      <p:sp>
        <p:nvSpPr>
          <p:cNvPr id="406" name="Rectangle"/>
          <p:cNvSpPr/>
          <p:nvPr/>
        </p:nvSpPr>
        <p:spPr>
          <a:xfrm>
            <a:off x="1047750" y="4038600"/>
            <a:ext cx="114300" cy="114300"/>
          </a:xfrm>
          <a:prstGeom prst="roundRect">
            <a:avLst/>
          </a:prstGeom>
          <a:solidFill>
            <a:srgbClr val="1F77B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7" name="Text"/>
          <p:cNvSpPr txBox="1"/>
          <p:nvPr/>
        </p:nvSpPr>
        <p:spPr>
          <a:xfrm>
            <a:off x="1314450" y="3962400"/>
            <a:ext cx="9601200" cy="42862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>
                <a:solidFill>
                  <a:srgbClr val="1F2933"/>
                </a:solidFill>
                <a:latin typeface="Arial"/>
              </a:rPr>
              <a:t>Campaign attribution may be incomplete when campaign values are missing.</a:t>
            </a:r>
          </a:p>
        </p:txBody>
      </p:sp>
      <p:sp>
        <p:nvSpPr>
          <p:cNvPr id="409" name="Rectangle"/>
          <p:cNvSpPr/>
          <p:nvPr/>
        </p:nvSpPr>
        <p:spPr>
          <a:xfrm>
            <a:off x="1047750" y="4591050"/>
            <a:ext cx="114300" cy="114300"/>
          </a:xfrm>
          <a:prstGeom prst="roundRect">
            <a:avLst/>
          </a:prstGeom>
          <a:solidFill>
            <a:srgbClr val="1F77B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0" name="Text"/>
          <p:cNvSpPr txBox="1"/>
          <p:nvPr/>
        </p:nvSpPr>
        <p:spPr>
          <a:xfrm>
            <a:off x="1314450" y="4514850"/>
            <a:ext cx="9601200" cy="42862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>
                <a:solidFill>
                  <a:srgbClr val="1F2933"/>
                </a:solidFill>
                <a:latin typeface="Arial"/>
              </a:rPr>
              <a:t>Small campaign samples can move sharply with one unusual visit.</a:t>
            </a:r>
          </a:p>
        </p:txBody>
      </p:sp>
      <p:sp>
        <p:nvSpPr>
          <p:cNvPr id="412" name="Rectangle"/>
          <p:cNvSpPr/>
          <p:nvPr/>
        </p:nvSpPr>
        <p:spPr>
          <a:xfrm>
            <a:off x="1047750" y="5143500"/>
            <a:ext cx="114300" cy="114300"/>
          </a:xfrm>
          <a:prstGeom prst="roundRect">
            <a:avLst/>
          </a:prstGeom>
          <a:solidFill>
            <a:srgbClr val="1F77B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3" name="Text"/>
          <p:cNvSpPr txBox="1"/>
          <p:nvPr/>
        </p:nvSpPr>
        <p:spPr>
          <a:xfrm>
            <a:off x="1314450" y="5067300"/>
            <a:ext cx="9601200" cy="42862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>
                <a:solidFill>
                  <a:srgbClr val="1F2933"/>
                </a:solidFill>
                <a:latin typeface="Arial"/>
              </a:rPr>
              <a:t>The analysis does not prove that longer sessions create more revenue.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Text"/>
          <p:cNvSpPr txBox="1"/>
          <p:nvPr/>
        </p:nvSpPr>
        <p:spPr>
          <a:xfrm>
            <a:off x="666750" y="400050"/>
            <a:ext cx="53340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 b="1">
                <a:solidFill>
                  <a:srgbClr val="1F77B4"/>
                </a:solidFill>
                <a:latin typeface="Arial"/>
              </a:rPr>
              <a:t>ACTION PLAN</a:t>
            </a:r>
          </a:p>
        </p:txBody>
      </p:sp>
      <p:sp>
        <p:nvSpPr>
          <p:cNvPr id="441" name="Text"/>
          <p:cNvSpPr txBox="1"/>
          <p:nvPr/>
        </p:nvSpPr>
        <p:spPr>
          <a:xfrm>
            <a:off x="666750" y="742950"/>
            <a:ext cx="9810750" cy="9525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4000" b="1">
                <a:solidFill>
                  <a:srgbClr val="1F2933"/>
                </a:solidFill>
                <a:latin typeface="Arial"/>
              </a:rPr>
              <a:t>Outcome Follow-Up</a:t>
            </a:r>
          </a:p>
        </p:txBody>
      </p:sp>
      <p:sp>
        <p:nvSpPr>
          <p:cNvPr id="442" name="Text"/>
          <p:cNvSpPr txBox="1"/>
          <p:nvPr/>
        </p:nvSpPr>
        <p:spPr>
          <a:xfrm>
            <a:off x="666750" y="1771650"/>
            <a:ext cx="1028700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>
                <a:solidFill>
                  <a:srgbClr val="5F6B7A"/>
                </a:solidFill>
                <a:latin typeface="Arial"/>
              </a:rPr>
              <a:t>Longer sessions matter most if they also lead to conversion or revenue.</a:t>
            </a:r>
          </a:p>
        </p:txBody>
      </p:sp>
      <p:cxnSp>
        <p:nvCxnSpPr>
          <p:cNvPr id="443" name="Line"/>
          <p:cNvCxnSpPr/>
          <p:nvPr/>
        </p:nvCxnSpPr>
        <p:spPr>
          <a:xfrm>
            <a:off x="666750" y="2343150"/>
            <a:ext cx="10858500" cy="1"/>
          </a:xfrm>
          <a:prstGeom prst="line">
            <a:avLst/>
          </a:prstGeom>
          <a:ln w="18000">
            <a:solidFill>
              <a:srgbClr val="D8DEE6"/>
            </a:solidFill>
          </a:ln>
        </p:spPr>
      </p:cxnSp>
      <p:sp>
        <p:nvSpPr>
          <p:cNvPr id="450" name="Rectangle"/>
          <p:cNvSpPr/>
          <p:nvPr/>
        </p:nvSpPr>
        <p:spPr>
          <a:xfrm>
            <a:off x="904875" y="2857500"/>
            <a:ext cx="2857500" cy="1386949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8DEE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51" name="Text"/>
          <p:cNvSpPr txBox="1"/>
          <p:nvPr/>
        </p:nvSpPr>
        <p:spPr>
          <a:xfrm>
            <a:off x="1123950" y="3095625"/>
            <a:ext cx="457200" cy="42862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 b="1">
                <a:solidFill>
                  <a:srgbClr val="1F77B4"/>
                </a:solidFill>
                <a:latin typeface="Arial"/>
              </a:rPr>
              <a:t>1</a:t>
            </a:r>
          </a:p>
        </p:txBody>
      </p:sp>
      <p:sp>
        <p:nvSpPr>
          <p:cNvPr id="452" name="Text"/>
          <p:cNvSpPr txBox="1"/>
          <p:nvPr/>
        </p:nvSpPr>
        <p:spPr>
          <a:xfrm>
            <a:off x="1666875" y="3162300"/>
            <a:ext cx="1762125" cy="7429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 b="1">
                <a:solidFill>
                  <a:srgbClr val="1F2933"/>
                </a:solidFill>
                <a:latin typeface="Arial"/>
              </a:rPr>
              <a:t>Link to</a:t>
            </a:r>
          </a:p>
          <a:p>
            <a:pPr algn="l"/>
            <a:r>
              <a:rPr lang="en-US" sz="2000" b="1">
                <a:solidFill>
                  <a:srgbClr val="1F2933"/>
                </a:solidFill>
                <a:latin typeface="Arial"/>
              </a:rPr>
              <a:t>revenue</a:t>
            </a:r>
          </a:p>
        </p:txBody>
      </p:sp>
      <p:sp>
        <p:nvSpPr>
          <p:cNvPr id="460" name="Rectangle"/>
          <p:cNvSpPr/>
          <p:nvPr/>
        </p:nvSpPr>
        <p:spPr>
          <a:xfrm>
            <a:off x="4572000" y="2857500"/>
            <a:ext cx="2857500" cy="1386949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8DEE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61" name="Text"/>
          <p:cNvSpPr txBox="1"/>
          <p:nvPr/>
        </p:nvSpPr>
        <p:spPr>
          <a:xfrm>
            <a:off x="4791075" y="3095625"/>
            <a:ext cx="457200" cy="42862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 b="1">
                <a:solidFill>
                  <a:srgbClr val="188038"/>
                </a:solidFill>
                <a:latin typeface="Arial"/>
              </a:rPr>
              <a:t>2</a:t>
            </a:r>
          </a:p>
        </p:txBody>
      </p:sp>
      <p:sp>
        <p:nvSpPr>
          <p:cNvPr id="462" name="Text"/>
          <p:cNvSpPr txBox="1"/>
          <p:nvPr/>
        </p:nvSpPr>
        <p:spPr>
          <a:xfrm>
            <a:off x="5334000" y="3162300"/>
            <a:ext cx="1762125" cy="7429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 b="1">
                <a:solidFill>
                  <a:srgbClr val="1F2933"/>
                </a:solidFill>
                <a:latin typeface="Arial"/>
              </a:rPr>
              <a:t>Segment</a:t>
            </a:r>
          </a:p>
          <a:p>
            <a:pPr algn="l"/>
            <a:r>
              <a:rPr lang="en-US" sz="2000" b="1">
                <a:solidFill>
                  <a:srgbClr val="1F2933"/>
                </a:solidFill>
                <a:latin typeface="Arial"/>
              </a:rPr>
              <a:t>traffic</a:t>
            </a:r>
          </a:p>
        </p:txBody>
      </p:sp>
      <p:sp>
        <p:nvSpPr>
          <p:cNvPr id="470" name="Rectangle"/>
          <p:cNvSpPr/>
          <p:nvPr/>
        </p:nvSpPr>
        <p:spPr>
          <a:xfrm>
            <a:off x="8239125" y="2857500"/>
            <a:ext cx="2857500" cy="1386949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8DEE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71" name="Text"/>
          <p:cNvSpPr txBox="1"/>
          <p:nvPr/>
        </p:nvSpPr>
        <p:spPr>
          <a:xfrm>
            <a:off x="8458200" y="3095625"/>
            <a:ext cx="457200" cy="42862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 b="1">
                <a:solidFill>
                  <a:srgbClr val="F57C00"/>
                </a:solidFill>
                <a:latin typeface="Arial"/>
              </a:rPr>
              <a:t>3</a:t>
            </a:r>
          </a:p>
        </p:txBody>
      </p:sp>
      <p:sp>
        <p:nvSpPr>
          <p:cNvPr id="472" name="Text"/>
          <p:cNvSpPr txBox="1"/>
          <p:nvPr/>
        </p:nvSpPr>
        <p:spPr>
          <a:xfrm>
            <a:off x="9001125" y="3162300"/>
            <a:ext cx="1762125" cy="7429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 b="1">
                <a:solidFill>
                  <a:srgbClr val="1F2933"/>
                </a:solidFill>
                <a:latin typeface="Arial"/>
              </a:rPr>
              <a:t>Compare</a:t>
            </a:r>
          </a:p>
          <a:p>
            <a:pPr algn="l"/>
            <a:r>
              <a:rPr lang="en-US" sz="2000" b="1">
                <a:solidFill>
                  <a:srgbClr val="1F2933"/>
                </a:solidFill>
                <a:latin typeface="Arial"/>
              </a:rPr>
              <a:t>median</a:t>
            </a:r>
          </a:p>
        </p:txBody>
      </p:sp>
      <p:sp>
        <p:nvSpPr>
          <p:cNvPr id="490" name="Rectangle"/>
          <p:cNvSpPr/>
          <p:nvPr/>
        </p:nvSpPr>
        <p:spPr>
          <a:xfrm>
            <a:off x="1619250" y="5076825"/>
            <a:ext cx="114300" cy="114300"/>
          </a:xfrm>
          <a:prstGeom prst="roundRect">
            <a:avLst/>
          </a:prstGeom>
          <a:solidFill>
            <a:srgbClr val="1F77B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91" name="Text"/>
          <p:cNvSpPr txBox="1"/>
          <p:nvPr/>
        </p:nvSpPr>
        <p:spPr>
          <a:xfrm>
            <a:off x="1885950" y="5000625"/>
            <a:ext cx="8267700" cy="42862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>
                <a:solidFill>
                  <a:srgbClr val="1F2933"/>
                </a:solidFill>
                <a:latin typeface="Arial"/>
              </a:rPr>
              <a:t>Review zero-duration sessions separately.</a:t>
            </a:r>
          </a:p>
        </p:txBody>
      </p:sp>
      <p:sp>
        <p:nvSpPr>
          <p:cNvPr id="493" name="Rectangle"/>
          <p:cNvSpPr/>
          <p:nvPr/>
        </p:nvSpPr>
        <p:spPr>
          <a:xfrm>
            <a:off x="1619250" y="5486400"/>
            <a:ext cx="114300" cy="114300"/>
          </a:xfrm>
          <a:prstGeom prst="roundRect">
            <a:avLst/>
          </a:prstGeom>
          <a:solidFill>
            <a:srgbClr val="1F77B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94" name="Text"/>
          <p:cNvSpPr txBox="1"/>
          <p:nvPr/>
        </p:nvSpPr>
        <p:spPr>
          <a:xfrm>
            <a:off x="1885950" y="5410200"/>
            <a:ext cx="8267700" cy="42862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>
                <a:solidFill>
                  <a:srgbClr val="1F2933"/>
                </a:solidFill>
                <a:latin typeface="Arial"/>
              </a:rPr>
              <a:t>Use real session IDs when available.</a:t>
            </a:r>
          </a:p>
        </p:txBody>
      </p:sp>
      <p:sp>
        <p:nvSpPr>
          <p:cNvPr id="496" name="Rectangle"/>
          <p:cNvSpPr/>
          <p:nvPr/>
        </p:nvSpPr>
        <p:spPr>
          <a:xfrm>
            <a:off x="1619250" y="5895975"/>
            <a:ext cx="114300" cy="114300"/>
          </a:xfrm>
          <a:prstGeom prst="roundRect">
            <a:avLst/>
          </a:prstGeom>
          <a:solidFill>
            <a:srgbClr val="1F77B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97" name="Text"/>
          <p:cNvSpPr txBox="1"/>
          <p:nvPr/>
        </p:nvSpPr>
        <p:spPr>
          <a:xfrm>
            <a:off x="1885950" y="5819775"/>
            <a:ext cx="8267700" cy="42862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>
                <a:solidFill>
                  <a:srgbClr val="1F2933"/>
                </a:solidFill>
                <a:latin typeface="Arial"/>
              </a:rPr>
              <a:t>Treat small spikes as investigation leads.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Text"/>
          <p:cNvSpPr txBox="1"/>
          <p:nvPr/>
        </p:nvSpPr>
        <p:spPr>
          <a:xfrm>
            <a:off x="666750" y="400050"/>
            <a:ext cx="53340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 b="1">
                <a:solidFill>
                  <a:srgbClr val="1F77B4"/>
                </a:solidFill>
                <a:latin typeface="Arial"/>
              </a:rPr>
              <a:t>FINAL DECISION</a:t>
            </a:r>
          </a:p>
        </p:txBody>
      </p:sp>
      <p:sp>
        <p:nvSpPr>
          <p:cNvPr id="521" name="Text"/>
          <p:cNvSpPr txBox="1"/>
          <p:nvPr/>
        </p:nvSpPr>
        <p:spPr>
          <a:xfrm>
            <a:off x="666750" y="742950"/>
            <a:ext cx="9810750" cy="9525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4000" b="1">
                <a:solidFill>
                  <a:srgbClr val="1F2933"/>
                </a:solidFill>
                <a:latin typeface="Arial"/>
              </a:rPr>
              <a:t>Decision Summary</a:t>
            </a:r>
          </a:p>
        </p:txBody>
      </p:sp>
      <p:sp>
        <p:nvSpPr>
          <p:cNvPr id="522" name="Text"/>
          <p:cNvSpPr txBox="1"/>
          <p:nvPr/>
        </p:nvSpPr>
        <p:spPr>
          <a:xfrm>
            <a:off x="666750" y="1771650"/>
            <a:ext cx="1028700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>
                <a:solidFill>
                  <a:srgbClr val="5F6B7A"/>
                </a:solidFill>
                <a:latin typeface="Arial"/>
              </a:rPr>
              <a:t>Use referral as the reliable benchmark and investigate Data Share Promo next.</a:t>
            </a:r>
          </a:p>
        </p:txBody>
      </p:sp>
      <p:cxnSp>
        <p:nvCxnSpPr>
          <p:cNvPr id="523" name="Line"/>
          <p:cNvCxnSpPr/>
          <p:nvPr/>
        </p:nvCxnSpPr>
        <p:spPr>
          <a:xfrm>
            <a:off x="666750" y="2343150"/>
            <a:ext cx="10858500" cy="1"/>
          </a:xfrm>
          <a:prstGeom prst="line">
            <a:avLst/>
          </a:prstGeom>
          <a:ln w="18000">
            <a:solidFill>
              <a:srgbClr val="D8DEE6"/>
            </a:solidFill>
          </a:ln>
        </p:spPr>
      </p:cxnSp>
      <p:sp>
        <p:nvSpPr>
          <p:cNvPr id="530" name="Rectangle"/>
          <p:cNvSpPr/>
          <p:nvPr/>
        </p:nvSpPr>
        <p:spPr>
          <a:xfrm>
            <a:off x="1143000" y="2952750"/>
            <a:ext cx="9715500" cy="1162048"/>
          </a:xfrm>
          <a:prstGeom prst="roundRect">
            <a:avLst/>
          </a:prstGeom>
          <a:solidFill>
            <a:srgbClr val="EEF5FF"/>
          </a:solidFill>
          <a:ln w="10000">
            <a:solidFill>
              <a:srgbClr val="1F77B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31" name="Text"/>
          <p:cNvSpPr txBox="1"/>
          <p:nvPr/>
        </p:nvSpPr>
        <p:spPr>
          <a:xfrm>
            <a:off x="1476375" y="3219450"/>
            <a:ext cx="9048750" cy="4000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 b="1">
                <a:solidFill>
                  <a:srgbClr val="1F2933"/>
                </a:solidFill>
                <a:latin typeface="Arial"/>
              </a:rPr>
              <a:t>Decision: compare future campaigns against referral's stable weekday engagement pattern.</a:t>
            </a:r>
          </a:p>
        </p:txBody>
      </p:sp>
      <p:sp>
        <p:nvSpPr>
          <p:cNvPr id="550" name="Rectangle"/>
          <p:cNvSpPr/>
          <p:nvPr/>
        </p:nvSpPr>
        <p:spPr>
          <a:xfrm>
            <a:off x="1428750" y="4838700"/>
            <a:ext cx="114300" cy="114300"/>
          </a:xfrm>
          <a:prstGeom prst="roundRect">
            <a:avLst/>
          </a:prstGeom>
          <a:solidFill>
            <a:srgbClr val="1F77B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51" name="Text"/>
          <p:cNvSpPr txBox="1"/>
          <p:nvPr/>
        </p:nvSpPr>
        <p:spPr>
          <a:xfrm>
            <a:off x="1695450" y="4762500"/>
            <a:ext cx="9029700" cy="42862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>
                <a:solidFill>
                  <a:srgbClr val="1F2933"/>
                </a:solidFill>
                <a:latin typeface="Arial"/>
              </a:rPr>
              <a:t>Referral is the most dependable benchmark.</a:t>
            </a:r>
          </a:p>
        </p:txBody>
      </p:sp>
      <p:sp>
        <p:nvSpPr>
          <p:cNvPr id="553" name="Rectangle"/>
          <p:cNvSpPr/>
          <p:nvPr/>
        </p:nvSpPr>
        <p:spPr>
          <a:xfrm>
            <a:off x="1428750" y="5391150"/>
            <a:ext cx="114300" cy="114300"/>
          </a:xfrm>
          <a:prstGeom prst="roundRect">
            <a:avLst/>
          </a:prstGeom>
          <a:solidFill>
            <a:srgbClr val="1F77B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54" name="Text"/>
          <p:cNvSpPr txBox="1"/>
          <p:nvPr/>
        </p:nvSpPr>
        <p:spPr>
          <a:xfrm>
            <a:off x="1695450" y="5314950"/>
            <a:ext cx="9029700" cy="42862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>
                <a:solidFill>
                  <a:srgbClr val="1F2933"/>
                </a:solidFill>
                <a:latin typeface="Arial"/>
              </a:rPr>
              <a:t>Data Share Promo needs conversion and revenue follow-up.</a:t>
            </a:r>
          </a:p>
        </p:txBody>
      </p:sp>
      <p:sp>
        <p:nvSpPr>
          <p:cNvPr id="556" name="Rectangle"/>
          <p:cNvSpPr/>
          <p:nvPr/>
        </p:nvSpPr>
        <p:spPr>
          <a:xfrm>
            <a:off x="1428750" y="5943600"/>
            <a:ext cx="114300" cy="114300"/>
          </a:xfrm>
          <a:prstGeom prst="roundRect">
            <a:avLst/>
          </a:prstGeom>
          <a:solidFill>
            <a:srgbClr val="1F77B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57" name="Text"/>
          <p:cNvSpPr txBox="1"/>
          <p:nvPr/>
        </p:nvSpPr>
        <p:spPr>
          <a:xfrm>
            <a:off x="1695450" y="5867400"/>
            <a:ext cx="9029700" cy="42862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sz="2000">
                <a:solidFill>
                  <a:srgbClr val="1F2933"/>
                </a:solidFill>
                <a:latin typeface="Arial"/>
              </a:rPr>
              <a:t>Tiny holiday samples are only investigation leads.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747</Words>
  <Application>Microsoft Macintosh PowerPoint</Application>
  <PresentationFormat>Custom</PresentationFormat>
  <Paragraphs>105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Lubana Akter</cp:lastModifiedBy>
  <cp:revision>3</cp:revision>
  <dcterms:modified xsi:type="dcterms:W3CDTF">2026-06-19T20:54:02Z</dcterms:modified>
</cp:coreProperties>
</file>