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6" r:id="rId4"/>
    <p:sldId id="261" r:id="rId5"/>
    <p:sldId id="262" r:id="rId6"/>
    <p:sldId id="263" r:id="rId7"/>
    <p:sldId id="264" r:id="rId8"/>
    <p:sldId id="265" r:id="rId9"/>
    <p:sldId id="257" r:id="rId10"/>
    <p:sldId id="258" r:id="rId11"/>
  </p:sldIdLst>
  <p:sldSz cx="13333413" cy="7499350"/>
  <p:notesSz cx="6858000" cy="9144000"/>
  <p:defaultTextStyle>
    <a:defPPr>
      <a:defRPr lang="en-B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088"/>
    <p:restoredTop sz="94629"/>
  </p:normalViewPr>
  <p:slideViewPr>
    <p:cSldViewPr snapToGrid="0">
      <p:cViewPr varScale="1">
        <p:scale>
          <a:sx n="90" d="100"/>
          <a:sy n="90" d="100"/>
        </p:scale>
        <p:origin x="21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FCC4CB-2A8B-8242-8291-AC094506108E}" type="doc">
      <dgm:prSet loTypeId="urn:microsoft.com/office/officeart/2009/3/layout/OpposingIdeas" loCatId="" qsTypeId="urn:microsoft.com/office/officeart/2005/8/quickstyle/simple2" qsCatId="simple" csTypeId="urn:microsoft.com/office/officeart/2005/8/colors/accent5_1" csCatId="accent5" phldr="1"/>
      <dgm:spPr/>
      <dgm:t>
        <a:bodyPr/>
        <a:lstStyle/>
        <a:p>
          <a:endParaRPr lang="en-GB"/>
        </a:p>
      </dgm:t>
    </dgm:pt>
    <dgm:pt modelId="{BE2B66B6-6BE1-0F42-8D12-6C1046CBF845}">
      <dgm:prSet phldrT="[Text]" custT="1"/>
      <dgm:spPr/>
      <dgm:t>
        <a:bodyPr/>
        <a:lstStyle/>
        <a:p>
          <a:r>
            <a:rPr lang="en-GB" sz="1800">
              <a:latin typeface="Arial" panose="020B0604020202020204" pitchFamily="34" charset="0"/>
              <a:cs typeface="Arial" panose="020B0604020202020204" pitchFamily="34" charset="0"/>
            </a:rPr>
            <a:t>Known</a:t>
          </a:r>
          <a:endParaRPr lang="en-GB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BA0C100-D7CC-924D-85C8-FC1DB797260B}" type="parTrans" cxnId="{693814DB-89B2-FD4C-8061-102F1778F14B}">
      <dgm:prSet/>
      <dgm:spPr/>
      <dgm:t>
        <a:bodyPr/>
        <a:lstStyle/>
        <a:p>
          <a:endParaRPr lang="en-GB" sz="1800"/>
        </a:p>
      </dgm:t>
    </dgm:pt>
    <dgm:pt modelId="{7A728F38-5D0A-C943-AE30-7424C620A483}" type="sibTrans" cxnId="{693814DB-89B2-FD4C-8061-102F1778F14B}">
      <dgm:prSet/>
      <dgm:spPr/>
      <dgm:t>
        <a:bodyPr/>
        <a:lstStyle/>
        <a:p>
          <a:endParaRPr lang="en-GB" sz="1800"/>
        </a:p>
      </dgm:t>
    </dgm:pt>
    <dgm:pt modelId="{6E0AA296-47C0-D244-B7B7-4E433F561770}">
      <dgm:prSet phldrT="[Text]" custT="1"/>
      <dgm:spPr/>
      <dgm:t>
        <a:bodyPr/>
        <a:lstStyle/>
        <a:p>
          <a:r>
            <a:rPr lang="en-GB" sz="1800" dirty="0">
              <a:latin typeface="Arial" panose="020B0604020202020204" pitchFamily="34" charset="0"/>
              <a:cs typeface="Arial" panose="020B0604020202020204" pitchFamily="34" charset="0"/>
            </a:rPr>
            <a:t>A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typical same-day purchaser buys in about 19 minutes.</a:t>
          </a:r>
          <a:endParaRPr lang="en-GB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59B0C2A-FFB6-8246-810A-DA6BA59B447D}" type="parTrans" cxnId="{62DB4592-5F9F-DE48-A48E-BD3F026DD13C}">
      <dgm:prSet/>
      <dgm:spPr/>
      <dgm:t>
        <a:bodyPr/>
        <a:lstStyle/>
        <a:p>
          <a:endParaRPr lang="en-GB" sz="1800"/>
        </a:p>
      </dgm:t>
    </dgm:pt>
    <dgm:pt modelId="{219A5E3E-84B7-5A4C-B24D-139422D8EC2F}" type="sibTrans" cxnId="{62DB4592-5F9F-DE48-A48E-BD3F026DD13C}">
      <dgm:prSet/>
      <dgm:spPr/>
      <dgm:t>
        <a:bodyPr/>
        <a:lstStyle/>
        <a:p>
          <a:endParaRPr lang="en-GB" sz="1800"/>
        </a:p>
      </dgm:t>
    </dgm:pt>
    <dgm:pt modelId="{C4EC7C29-2ED5-4541-891E-DD871647A852}">
      <dgm:prSet phldrT="[Text]" custT="1"/>
      <dgm:spPr/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Desktop and mobile behavior is nearly identical.</a:t>
          </a:r>
          <a:endParaRPr lang="en-GB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21A33E2-3E9E-DD4E-9075-EC3ABC8F1CC9}" type="parTrans" cxnId="{9AE76AD8-18FD-4743-9206-4B5EF98892F3}">
      <dgm:prSet/>
      <dgm:spPr/>
      <dgm:t>
        <a:bodyPr/>
        <a:lstStyle/>
        <a:p>
          <a:endParaRPr lang="en-GB" sz="1800"/>
        </a:p>
      </dgm:t>
    </dgm:pt>
    <dgm:pt modelId="{F6831078-383F-464A-9CB1-78D35895FC74}" type="sibTrans" cxnId="{9AE76AD8-18FD-4743-9206-4B5EF98892F3}">
      <dgm:prSet/>
      <dgm:spPr/>
      <dgm:t>
        <a:bodyPr/>
        <a:lstStyle/>
        <a:p>
          <a:endParaRPr lang="en-GB" sz="1800"/>
        </a:p>
      </dgm:t>
    </dgm:pt>
    <dgm:pt modelId="{21CBC7C6-3093-2442-86E4-9EC0B48F9153}">
      <dgm:prSet phldrT="[Text]" custT="1"/>
      <dgm:spPr/>
      <dgm:t>
        <a:bodyPr/>
        <a:lstStyle/>
        <a:p>
          <a:r>
            <a:rPr lang="en-GB" sz="1800" dirty="0">
              <a:latin typeface="Arial" panose="020B0604020202020204" pitchFamily="34" charset="0"/>
              <a:cs typeface="Arial" panose="020B0604020202020204" pitchFamily="34" charset="0"/>
            </a:rPr>
            <a:t>Unknown</a:t>
          </a:r>
        </a:p>
      </dgm:t>
    </dgm:pt>
    <dgm:pt modelId="{069C6F5C-862F-9A4E-9DDD-C4B1D8BD8360}" type="parTrans" cxnId="{BC6BC945-7998-5640-945F-1C04330604D6}">
      <dgm:prSet/>
      <dgm:spPr/>
      <dgm:t>
        <a:bodyPr/>
        <a:lstStyle/>
        <a:p>
          <a:endParaRPr lang="en-GB" sz="1800"/>
        </a:p>
      </dgm:t>
    </dgm:pt>
    <dgm:pt modelId="{1D37E888-120E-8848-902A-7DE0D0A492E1}" type="sibTrans" cxnId="{BC6BC945-7998-5640-945F-1C04330604D6}">
      <dgm:prSet/>
      <dgm:spPr/>
      <dgm:t>
        <a:bodyPr/>
        <a:lstStyle/>
        <a:p>
          <a:endParaRPr lang="en-GB" sz="1800"/>
        </a:p>
      </dgm:t>
    </dgm:pt>
    <dgm:pt modelId="{5514981C-ED9E-A644-B82F-18CED24FCFFA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800" dirty="0">
              <a:latin typeface="Arial" panose="020B0604020202020204" pitchFamily="34" charset="0"/>
              <a:cs typeface="Arial" panose="020B0604020202020204" pitchFamily="34" charset="0"/>
            </a:rPr>
            <a:t>Which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funnel step causes delay.</a:t>
          </a:r>
          <a:endParaRPr lang="en-GB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34BE8C8-B607-9F49-A733-138BE89B66F9}" type="parTrans" cxnId="{9AB7DD3C-DF3D-4D49-B572-4ED43157CAB1}">
      <dgm:prSet/>
      <dgm:spPr/>
      <dgm:t>
        <a:bodyPr/>
        <a:lstStyle/>
        <a:p>
          <a:endParaRPr lang="en-GB" sz="1800"/>
        </a:p>
      </dgm:t>
    </dgm:pt>
    <dgm:pt modelId="{597444A2-2181-974E-8EA9-906AB3F5027F}" type="sibTrans" cxnId="{9AB7DD3C-DF3D-4D49-B572-4ED43157CAB1}">
      <dgm:prSet/>
      <dgm:spPr/>
      <dgm:t>
        <a:bodyPr/>
        <a:lstStyle/>
        <a:p>
          <a:endParaRPr lang="en-GB" sz="1800"/>
        </a:p>
      </dgm:t>
    </dgm:pt>
    <dgm:pt modelId="{D90A2927-D45B-D642-B896-5F4EFDE8915E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800" dirty="0">
              <a:latin typeface="Arial" panose="020B0604020202020204" pitchFamily="34" charset="0"/>
              <a:cs typeface="Arial" panose="020B0604020202020204" pitchFamily="34" charset="0"/>
            </a:rPr>
            <a:t>What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happens in journeys that cross midnight.</a:t>
          </a:r>
          <a:endParaRPr lang="en-GB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175F2BF-EDEB-CA43-841B-57638985C3AC}" type="parTrans" cxnId="{23391220-49A8-F944-A843-124A6DDB7D5E}">
      <dgm:prSet/>
      <dgm:spPr/>
      <dgm:t>
        <a:bodyPr/>
        <a:lstStyle/>
        <a:p>
          <a:endParaRPr lang="en-GB" sz="1800"/>
        </a:p>
      </dgm:t>
    </dgm:pt>
    <dgm:pt modelId="{7E215B59-FAB7-4D42-B6D3-DB065E1FA168}" type="sibTrans" cxnId="{23391220-49A8-F944-A843-124A6DDB7D5E}">
      <dgm:prSet/>
      <dgm:spPr/>
      <dgm:t>
        <a:bodyPr/>
        <a:lstStyle/>
        <a:p>
          <a:endParaRPr lang="en-GB" sz="1800"/>
        </a:p>
      </dgm:t>
    </dgm:pt>
    <dgm:pt modelId="{83C08896-764E-5F4D-98E2-56A22B1B668E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whether multi-hour durations include inactive tabs.</a:t>
          </a:r>
          <a:endParaRPr lang="en-GB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657E2E1-A1F6-A44F-BAC8-315A26F6FA48}" type="parTrans" cxnId="{88C3F81E-52E3-4F48-8ADD-E84F81317733}">
      <dgm:prSet/>
      <dgm:spPr/>
      <dgm:t>
        <a:bodyPr/>
        <a:lstStyle/>
        <a:p>
          <a:endParaRPr lang="en-GB" sz="1800"/>
        </a:p>
      </dgm:t>
    </dgm:pt>
    <dgm:pt modelId="{927D7B6D-A27A-104A-BE38-FED7DD95E63D}" type="sibTrans" cxnId="{88C3F81E-52E3-4F48-8ADD-E84F81317733}">
      <dgm:prSet/>
      <dgm:spPr/>
      <dgm:t>
        <a:bodyPr/>
        <a:lstStyle/>
        <a:p>
          <a:endParaRPr lang="en-GB" sz="1800"/>
        </a:p>
      </dgm:t>
    </dgm:pt>
    <dgm:pt modelId="{3FEE5824-76EC-E84E-AD4C-4947D0206549}" type="pres">
      <dgm:prSet presAssocID="{2BFCC4CB-2A8B-8242-8291-AC094506108E}" presName="Name0" presStyleCnt="0">
        <dgm:presLayoutVars>
          <dgm:chMax val="2"/>
          <dgm:dir/>
          <dgm:animOne val="branch"/>
          <dgm:animLvl val="lvl"/>
          <dgm:resizeHandles val="exact"/>
        </dgm:presLayoutVars>
      </dgm:prSet>
      <dgm:spPr/>
    </dgm:pt>
    <dgm:pt modelId="{476CAC7F-C98C-D445-B562-F090624F8896}" type="pres">
      <dgm:prSet presAssocID="{2BFCC4CB-2A8B-8242-8291-AC094506108E}" presName="Background" presStyleLbl="node1" presStyleIdx="0" presStyleCnt="1"/>
      <dgm:spPr/>
    </dgm:pt>
    <dgm:pt modelId="{1CC0F3B3-D619-4D40-A4A5-860EF4F62013}" type="pres">
      <dgm:prSet presAssocID="{2BFCC4CB-2A8B-8242-8291-AC094506108E}" presName="Divider" presStyleLbl="callout" presStyleIdx="0" presStyleCnt="1"/>
      <dgm:spPr/>
    </dgm:pt>
    <dgm:pt modelId="{21D201BE-E2C1-5743-ADBA-DCB6023E6339}" type="pres">
      <dgm:prSet presAssocID="{2BFCC4CB-2A8B-8242-8291-AC094506108E}" presName="ChildText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6FC4B07-3548-674E-827E-5DDF501D5DA9}" type="pres">
      <dgm:prSet presAssocID="{2BFCC4CB-2A8B-8242-8291-AC094506108E}" presName="ChildText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FA6107E-20E7-7D47-8485-6392E4FB000D}" type="pres">
      <dgm:prSet presAssocID="{2BFCC4CB-2A8B-8242-8291-AC094506108E}" presName="ParentText1" presStyleLbl="revTx" presStyleIdx="0" presStyleCnt="0">
        <dgm:presLayoutVars>
          <dgm:chMax val="1"/>
          <dgm:chPref val="1"/>
        </dgm:presLayoutVars>
      </dgm:prSet>
      <dgm:spPr/>
    </dgm:pt>
    <dgm:pt modelId="{F08D9F8A-BC4B-094A-B15A-A68A07C5A1CD}" type="pres">
      <dgm:prSet presAssocID="{2BFCC4CB-2A8B-8242-8291-AC094506108E}" presName="ParentShape1" presStyleLbl="alignImgPlace1" presStyleIdx="0" presStyleCnt="2">
        <dgm:presLayoutVars/>
      </dgm:prSet>
      <dgm:spPr/>
    </dgm:pt>
    <dgm:pt modelId="{568F4EBA-4852-7842-ADCF-BE084B434873}" type="pres">
      <dgm:prSet presAssocID="{2BFCC4CB-2A8B-8242-8291-AC094506108E}" presName="ParentText2" presStyleLbl="revTx" presStyleIdx="0" presStyleCnt="0">
        <dgm:presLayoutVars>
          <dgm:chMax val="1"/>
          <dgm:chPref val="1"/>
        </dgm:presLayoutVars>
      </dgm:prSet>
      <dgm:spPr/>
    </dgm:pt>
    <dgm:pt modelId="{CACBAE22-65C0-A246-9E82-C382844273CE}" type="pres">
      <dgm:prSet presAssocID="{2BFCC4CB-2A8B-8242-8291-AC094506108E}" presName="ParentShape2" presStyleLbl="alignImgPlace1" presStyleIdx="1" presStyleCnt="2">
        <dgm:presLayoutVars/>
      </dgm:prSet>
      <dgm:spPr/>
    </dgm:pt>
  </dgm:ptLst>
  <dgm:cxnLst>
    <dgm:cxn modelId="{88C3F81E-52E3-4F48-8ADD-E84F81317733}" srcId="{21CBC7C6-3093-2442-86E4-9EC0B48F9153}" destId="{83C08896-764E-5F4D-98E2-56A22B1B668E}" srcOrd="2" destOrd="0" parTransId="{4657E2E1-A1F6-A44F-BAC8-315A26F6FA48}" sibTransId="{927D7B6D-A27A-104A-BE38-FED7DD95E63D}"/>
    <dgm:cxn modelId="{23391220-49A8-F944-A843-124A6DDB7D5E}" srcId="{21CBC7C6-3093-2442-86E4-9EC0B48F9153}" destId="{D90A2927-D45B-D642-B896-5F4EFDE8915E}" srcOrd="1" destOrd="0" parTransId="{A175F2BF-EDEB-CA43-841B-57638985C3AC}" sibTransId="{7E215B59-FAB7-4D42-B6D3-DB065E1FA168}"/>
    <dgm:cxn modelId="{E8E7BF31-D10A-764E-867F-A7930DBB3531}" type="presOf" srcId="{BE2B66B6-6BE1-0F42-8D12-6C1046CBF845}" destId="{4FA6107E-20E7-7D47-8485-6392E4FB000D}" srcOrd="0" destOrd="0" presId="urn:microsoft.com/office/officeart/2009/3/layout/OpposingIdeas"/>
    <dgm:cxn modelId="{DF900237-DCEF-AB4C-AAA0-C39D2F06229B}" type="presOf" srcId="{D90A2927-D45B-D642-B896-5F4EFDE8915E}" destId="{26FC4B07-3548-674E-827E-5DDF501D5DA9}" srcOrd="0" destOrd="1" presId="urn:microsoft.com/office/officeart/2009/3/layout/OpposingIdeas"/>
    <dgm:cxn modelId="{9AB7DD3C-DF3D-4D49-B572-4ED43157CAB1}" srcId="{21CBC7C6-3093-2442-86E4-9EC0B48F9153}" destId="{5514981C-ED9E-A644-B82F-18CED24FCFFA}" srcOrd="0" destOrd="0" parTransId="{434BE8C8-B607-9F49-A733-138BE89B66F9}" sibTransId="{597444A2-2181-974E-8EA9-906AB3F5027F}"/>
    <dgm:cxn modelId="{BC6BC945-7998-5640-945F-1C04330604D6}" srcId="{2BFCC4CB-2A8B-8242-8291-AC094506108E}" destId="{21CBC7C6-3093-2442-86E4-9EC0B48F9153}" srcOrd="1" destOrd="0" parTransId="{069C6F5C-862F-9A4E-9DDD-C4B1D8BD8360}" sibTransId="{1D37E888-120E-8848-902A-7DE0D0A492E1}"/>
    <dgm:cxn modelId="{8C0FCE72-DEFE-8349-BCE2-E42D0D9BD9D3}" type="presOf" srcId="{C4EC7C29-2ED5-4541-891E-DD871647A852}" destId="{21D201BE-E2C1-5743-ADBA-DCB6023E6339}" srcOrd="0" destOrd="1" presId="urn:microsoft.com/office/officeart/2009/3/layout/OpposingIdeas"/>
    <dgm:cxn modelId="{15232791-870D-4246-B1A2-8ECD4779060D}" type="presOf" srcId="{6E0AA296-47C0-D244-B7B7-4E433F561770}" destId="{21D201BE-E2C1-5743-ADBA-DCB6023E6339}" srcOrd="0" destOrd="0" presId="urn:microsoft.com/office/officeart/2009/3/layout/OpposingIdeas"/>
    <dgm:cxn modelId="{62DB4592-5F9F-DE48-A48E-BD3F026DD13C}" srcId="{BE2B66B6-6BE1-0F42-8D12-6C1046CBF845}" destId="{6E0AA296-47C0-D244-B7B7-4E433F561770}" srcOrd="0" destOrd="0" parTransId="{859B0C2A-FFB6-8246-810A-DA6BA59B447D}" sibTransId="{219A5E3E-84B7-5A4C-B24D-139422D8EC2F}"/>
    <dgm:cxn modelId="{D844D097-07D0-9C42-99C5-CF581F3CD88A}" type="presOf" srcId="{21CBC7C6-3093-2442-86E4-9EC0B48F9153}" destId="{CACBAE22-65C0-A246-9E82-C382844273CE}" srcOrd="1" destOrd="0" presId="urn:microsoft.com/office/officeart/2009/3/layout/OpposingIdeas"/>
    <dgm:cxn modelId="{1BA18BAA-4B5E-8547-BA24-FD6A5C73BD2A}" type="presOf" srcId="{BE2B66B6-6BE1-0F42-8D12-6C1046CBF845}" destId="{F08D9F8A-BC4B-094A-B15A-A68A07C5A1CD}" srcOrd="1" destOrd="0" presId="urn:microsoft.com/office/officeart/2009/3/layout/OpposingIdeas"/>
    <dgm:cxn modelId="{CE5CF2C3-F0DF-6C4C-AD13-DE82095AEF8F}" type="presOf" srcId="{83C08896-764E-5F4D-98E2-56A22B1B668E}" destId="{26FC4B07-3548-674E-827E-5DDF501D5DA9}" srcOrd="0" destOrd="2" presId="urn:microsoft.com/office/officeart/2009/3/layout/OpposingIdeas"/>
    <dgm:cxn modelId="{377BA3C5-3952-2546-BBC9-B36840EF0D87}" type="presOf" srcId="{5514981C-ED9E-A644-B82F-18CED24FCFFA}" destId="{26FC4B07-3548-674E-827E-5DDF501D5DA9}" srcOrd="0" destOrd="0" presId="urn:microsoft.com/office/officeart/2009/3/layout/OpposingIdeas"/>
    <dgm:cxn modelId="{9C4E22CD-69C6-3A47-B38A-0091F7CB39B5}" type="presOf" srcId="{2BFCC4CB-2A8B-8242-8291-AC094506108E}" destId="{3FEE5824-76EC-E84E-AD4C-4947D0206549}" srcOrd="0" destOrd="0" presId="urn:microsoft.com/office/officeart/2009/3/layout/OpposingIdeas"/>
    <dgm:cxn modelId="{9AE76AD8-18FD-4743-9206-4B5EF98892F3}" srcId="{BE2B66B6-6BE1-0F42-8D12-6C1046CBF845}" destId="{C4EC7C29-2ED5-4541-891E-DD871647A852}" srcOrd="1" destOrd="0" parTransId="{521A33E2-3E9E-DD4E-9075-EC3ABC8F1CC9}" sibTransId="{F6831078-383F-464A-9CB1-78D35895FC74}"/>
    <dgm:cxn modelId="{693814DB-89B2-FD4C-8061-102F1778F14B}" srcId="{2BFCC4CB-2A8B-8242-8291-AC094506108E}" destId="{BE2B66B6-6BE1-0F42-8D12-6C1046CBF845}" srcOrd="0" destOrd="0" parTransId="{1BA0C100-D7CC-924D-85C8-FC1DB797260B}" sibTransId="{7A728F38-5D0A-C943-AE30-7424C620A483}"/>
    <dgm:cxn modelId="{19B4CAF3-9DD9-C74E-8599-5F5F5B064CF7}" type="presOf" srcId="{21CBC7C6-3093-2442-86E4-9EC0B48F9153}" destId="{568F4EBA-4852-7842-ADCF-BE084B434873}" srcOrd="0" destOrd="0" presId="urn:microsoft.com/office/officeart/2009/3/layout/OpposingIdeas"/>
    <dgm:cxn modelId="{9656CD8D-53FA-9140-B606-0755CF8F2672}" type="presParOf" srcId="{3FEE5824-76EC-E84E-AD4C-4947D0206549}" destId="{476CAC7F-C98C-D445-B562-F090624F8896}" srcOrd="0" destOrd="0" presId="urn:microsoft.com/office/officeart/2009/3/layout/OpposingIdeas"/>
    <dgm:cxn modelId="{73F01BF8-A2E7-FA4E-8094-03356A406BF4}" type="presParOf" srcId="{3FEE5824-76EC-E84E-AD4C-4947D0206549}" destId="{1CC0F3B3-D619-4D40-A4A5-860EF4F62013}" srcOrd="1" destOrd="0" presId="urn:microsoft.com/office/officeart/2009/3/layout/OpposingIdeas"/>
    <dgm:cxn modelId="{DB48EB0E-358D-3D4B-97D2-9C8396F31124}" type="presParOf" srcId="{3FEE5824-76EC-E84E-AD4C-4947D0206549}" destId="{21D201BE-E2C1-5743-ADBA-DCB6023E6339}" srcOrd="2" destOrd="0" presId="urn:microsoft.com/office/officeart/2009/3/layout/OpposingIdeas"/>
    <dgm:cxn modelId="{FD09A015-9EF3-2944-995D-74F11E54A8CC}" type="presParOf" srcId="{3FEE5824-76EC-E84E-AD4C-4947D0206549}" destId="{26FC4B07-3548-674E-827E-5DDF501D5DA9}" srcOrd="3" destOrd="0" presId="urn:microsoft.com/office/officeart/2009/3/layout/OpposingIdeas"/>
    <dgm:cxn modelId="{8F77F00A-EABB-FF42-B5D3-22916944FC3E}" type="presParOf" srcId="{3FEE5824-76EC-E84E-AD4C-4947D0206549}" destId="{4FA6107E-20E7-7D47-8485-6392E4FB000D}" srcOrd="4" destOrd="0" presId="urn:microsoft.com/office/officeart/2009/3/layout/OpposingIdeas"/>
    <dgm:cxn modelId="{75E25A38-DA38-2C4E-91CB-597A59DD5DAF}" type="presParOf" srcId="{3FEE5824-76EC-E84E-AD4C-4947D0206549}" destId="{F08D9F8A-BC4B-094A-B15A-A68A07C5A1CD}" srcOrd="5" destOrd="0" presId="urn:microsoft.com/office/officeart/2009/3/layout/OpposingIdeas"/>
    <dgm:cxn modelId="{E28B33B8-BF31-E14B-AE12-F29C18FA0E93}" type="presParOf" srcId="{3FEE5824-76EC-E84E-AD4C-4947D0206549}" destId="{568F4EBA-4852-7842-ADCF-BE084B434873}" srcOrd="6" destOrd="0" presId="urn:microsoft.com/office/officeart/2009/3/layout/OpposingIdeas"/>
    <dgm:cxn modelId="{273CE3BB-7898-504F-8975-A256D41FBF66}" type="presParOf" srcId="{3FEE5824-76EC-E84E-AD4C-4947D0206549}" destId="{CACBAE22-65C0-A246-9E82-C382844273CE}" srcOrd="7" destOrd="0" presId="urn:microsoft.com/office/officeart/2009/3/layout/OpposingIdea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6CAC7F-C98C-D445-B562-F090624F8896}">
      <dsp:nvSpPr>
        <dsp:cNvPr id="0" name=""/>
        <dsp:cNvSpPr/>
      </dsp:nvSpPr>
      <dsp:spPr>
        <a:xfrm>
          <a:off x="2453481" y="776263"/>
          <a:ext cx="5604163" cy="3013727"/>
        </a:xfrm>
        <a:prstGeom prst="round2DiagRect">
          <a:avLst>
            <a:gd name="adj1" fmla="val 0"/>
            <a:gd name="adj2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CC0F3B3-D619-4D40-A4A5-860EF4F62013}">
      <dsp:nvSpPr>
        <dsp:cNvPr id="0" name=""/>
        <dsp:cNvSpPr/>
      </dsp:nvSpPr>
      <dsp:spPr>
        <a:xfrm>
          <a:off x="5255563" y="1095900"/>
          <a:ext cx="747" cy="2374452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1D201BE-E2C1-5743-ADBA-DCB6023E6339}">
      <dsp:nvSpPr>
        <dsp:cNvPr id="0" name=""/>
        <dsp:cNvSpPr/>
      </dsp:nvSpPr>
      <dsp:spPr>
        <a:xfrm>
          <a:off x="2640286" y="1004575"/>
          <a:ext cx="2428470" cy="255710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latin typeface="Arial" panose="020B0604020202020204" pitchFamily="34" charset="0"/>
              <a:cs typeface="Arial" panose="020B0604020202020204" pitchFamily="34" charset="0"/>
            </a:rPr>
            <a:t>A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typical same-day purchaser buys in about 19 minutes.</a:t>
          </a:r>
          <a:endParaRPr lang="en-GB" sz="18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Desktop and mobile behavior is nearly identical.</a:t>
          </a:r>
          <a:endParaRPr lang="en-GB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640286" y="1004575"/>
        <a:ext cx="2428470" cy="2557102"/>
      </dsp:txXfrm>
    </dsp:sp>
    <dsp:sp modelId="{26FC4B07-3548-674E-827E-5DDF501D5DA9}">
      <dsp:nvSpPr>
        <dsp:cNvPr id="0" name=""/>
        <dsp:cNvSpPr/>
      </dsp:nvSpPr>
      <dsp:spPr>
        <a:xfrm>
          <a:off x="5442368" y="1004575"/>
          <a:ext cx="2428470" cy="255710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800" kern="1200" dirty="0">
              <a:latin typeface="Arial" panose="020B0604020202020204" pitchFamily="34" charset="0"/>
              <a:cs typeface="Arial" panose="020B0604020202020204" pitchFamily="34" charset="0"/>
            </a:rPr>
            <a:t>Which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funnel step causes delay.</a:t>
          </a:r>
          <a:endParaRPr lang="en-GB" sz="18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800" kern="1200" dirty="0">
              <a:latin typeface="Arial" panose="020B0604020202020204" pitchFamily="34" charset="0"/>
              <a:cs typeface="Arial" panose="020B0604020202020204" pitchFamily="34" charset="0"/>
            </a:rPr>
            <a:t>What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happens in journeys that cross midnight.</a:t>
          </a:r>
          <a:endParaRPr lang="en-GB" sz="18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whether multi-hour durations include inactive tabs.</a:t>
          </a:r>
          <a:endParaRPr lang="en-GB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442368" y="1004575"/>
        <a:ext cx="2428470" cy="2557102"/>
      </dsp:txXfrm>
    </dsp:sp>
    <dsp:sp modelId="{F08D9F8A-BC4B-094A-B15A-A68A07C5A1CD}">
      <dsp:nvSpPr>
        <dsp:cNvPr id="0" name=""/>
        <dsp:cNvSpPr/>
      </dsp:nvSpPr>
      <dsp:spPr>
        <a:xfrm rot="16200000">
          <a:off x="342616" y="1176837"/>
          <a:ext cx="3287702" cy="934027"/>
        </a:xfrm>
        <a:prstGeom prst="rightArrow">
          <a:avLst>
            <a:gd name="adj1" fmla="val 49830"/>
            <a:gd name="adj2" fmla="val 6066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>
              <a:latin typeface="Arial" panose="020B0604020202020204" pitchFamily="34" charset="0"/>
              <a:cs typeface="Arial" panose="020B0604020202020204" pitchFamily="34" charset="0"/>
            </a:rPr>
            <a:t>Known</a:t>
          </a:r>
          <a:endParaRPr lang="en-GB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83780" y="1552302"/>
        <a:ext cx="3005375" cy="465425"/>
      </dsp:txXfrm>
    </dsp:sp>
    <dsp:sp modelId="{CACBAE22-65C0-A246-9E82-C382844273CE}">
      <dsp:nvSpPr>
        <dsp:cNvPr id="0" name=""/>
        <dsp:cNvSpPr/>
      </dsp:nvSpPr>
      <dsp:spPr>
        <a:xfrm rot="5400000">
          <a:off x="6880806" y="2455388"/>
          <a:ext cx="3287702" cy="934027"/>
        </a:xfrm>
        <a:prstGeom prst="rightArrow">
          <a:avLst>
            <a:gd name="adj1" fmla="val 49830"/>
            <a:gd name="adj2" fmla="val 6066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latin typeface="Arial" panose="020B0604020202020204" pitchFamily="34" charset="0"/>
              <a:cs typeface="Arial" panose="020B0604020202020204" pitchFamily="34" charset="0"/>
            </a:rPr>
            <a:t>Unknown</a:t>
          </a:r>
        </a:p>
      </dsp:txBody>
      <dsp:txXfrm>
        <a:off x="7021970" y="2548526"/>
        <a:ext cx="3005375" cy="4654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OpposingIdeas">
  <dgm:title val=""/>
  <dgm:desc val=""/>
  <dgm:catLst>
    <dgm:cat type="relationship" pri="34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clrData>
  <dgm:layoutNode name="Name0">
    <dgm:varLst>
      <dgm:chMax val="2"/>
      <dgm:dir/>
      <dgm:animOne val="branch"/>
      <dgm:animLvl val="lvl"/>
      <dgm:resizeHandles val="exact"/>
    </dgm:varLst>
    <dgm:choose name="Name1">
      <dgm:if name="Name2" axis="ch" ptType="node" func="cnt" op="lte" val="1">
        <dgm:alg type="composite">
          <dgm:param type="ar" val="0.9928"/>
        </dgm:alg>
      </dgm:if>
      <dgm:else name="Name3">
        <dgm:alg type="composite">
          <dgm:param type="ar" val="1.6364"/>
        </dgm:alg>
      </dgm:else>
    </dgm:choose>
    <dgm:shape xmlns:r="http://schemas.openxmlformats.org/officeDocument/2006/relationships" r:blip="">
      <dgm:adjLst/>
    </dgm:shape>
    <dgm:choose name="Name4">
      <dgm:if name="Name5" func="var" arg="dir" op="equ" val="norm">
        <dgm:choose name="Name6">
          <dgm:if name="Name7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2963"/>
              <dgm:constr type="t" for="ch" forName="ChildText1" refType="h" fact="0.2722"/>
              <dgm:constr type="w" for="ch" forName="ChildText1" refType="w" fact="0.6534"/>
              <dgm:constr type="h" for="ch" forName="ChildText1" refType="h" fact="0.6682"/>
              <dgm:constr type="l" for="ch" forName="Background" refType="w" fact="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l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l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8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l" for="ch" forName="ChildText2" refType="w" fact="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l" for="ch" forName="Background" refType="w" fact="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l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l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l" for="ch" forName="ParentText2" refType="w" fact="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l" for="ch" forName="ParentShape2" refType="w" fact="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l" for="ch" forName="Divider" refType="w" fact="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if>
      <dgm:else name="Name9">
        <dgm:choose name="Name10">
          <dgm:if name="Name11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2455"/>
              <dgm:constr type="t" for="ch" forName="ChildText1" refType="h" fact="0.2651"/>
              <dgm:constr type="w" for="ch" forName="ChildText1" refType="w" fact="0.5351"/>
              <dgm:constr type="h" for="ch" forName="ChildText1" refType="h" fact="0.56"/>
              <dgm:constr type="r" for="ch" forName="Background" refType="w" fact="-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r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r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12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r" for="ch" forName="ChildText2" refType="w" fact="-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r" for="ch" forName="Background" refType="w" fact="-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r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r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r" for="ch" forName="ParentText2" refType="w" fact="-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r" for="ch" forName="ParentShape2" refType="w" fact="-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r" for="ch" forName="Divider" refType="w" fact="-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else>
    </dgm:choose>
    <dgm:choose name="Name13">
      <dgm:if name="Name14" axis="ch" ptType="node" func="cnt" op="gte" val="1">
        <dgm:layoutNode name="Background" styleLbl="node1">
          <dgm:alg type="sp"/>
          <dgm:choose name="Name15">
            <dgm:if name="Name16" func="var" arg="dir" op="equ" val="norm">
              <dgm:shape xmlns:r="http://schemas.openxmlformats.org/officeDocument/2006/relationships" type="round2DiagRect" r:blip="">
                <dgm:adjLst>
                  <dgm:adj idx="1" val="0"/>
                  <dgm:adj idx="2" val="0.1667"/>
                </dgm:adjLst>
              </dgm:shape>
            </dgm:if>
            <dgm:else name="Name17">
              <dgm:shape xmlns:r="http://schemas.openxmlformats.org/officeDocument/2006/relationships" type="round2DiagRect" r:blip="">
                <dgm:adjLst>
                  <dgm:adj idx="1" val="0.1667"/>
                  <dgm:adj idx="2" val="0"/>
                </dgm:adjLst>
              </dgm:shape>
            </dgm:else>
          </dgm:choose>
          <dgm:presOf/>
        </dgm:layoutNode>
        <dgm:choose name="Name18">
          <dgm:if name="Name19" axis="ch" ptType="node" func="cnt" op="gte" val="2">
            <dgm:layoutNode name="Divider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</dgm:if>
          <dgm:else name="Name20"/>
        </dgm:choose>
        <dgm:layoutNode name="ChildText1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ch des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21">
          <dgm:if name="Name22" axis="ch" ptType="node" func="cnt" op="gte" val="2">
            <dgm:layoutNode name="ChildText2" styleLbl="revTx">
              <dgm:varLst>
                <dgm:chMax val="0"/>
                <dgm:chPref val="0"/>
                <dgm:bulletEnabled val="1"/>
              </dgm:varLst>
              <dgm:alg type="tx">
                <dgm:param type="parTxLTRAlign" val="l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ch des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23"/>
        </dgm:choose>
        <dgm:layoutNode name="ParentText1" styleLbl="revTx">
          <dgm:varLst>
            <dgm:chMax val="1"/>
            <dgm:chPref val="1"/>
          </dgm:varLst>
          <dgm:choose name="Name24">
            <dgm:if name="Name25" func="var" arg="dir" op="equ" val="norm">
              <dgm:alg type="tx">
                <dgm:param type="parTxLTRAlign" val="r"/>
                <dgm:param type="shpTxLTRAlignCh" val="r"/>
                <dgm:param type="txAnchorVertCh" val="mid"/>
                <dgm:param type="autoTxRot" val="grav"/>
              </dgm:alg>
            </dgm:if>
            <dgm:else name="Name26">
              <dgm:alg type="tx">
                <dgm:param type="parTxLTRAlign" val="l"/>
                <dgm:param type="shpTxLTRAlignCh" val="r"/>
                <dgm:param type="txAnchorVertCh" val="mid"/>
                <dgm:param type="autoTxRot" val="grav"/>
              </dgm:alg>
            </dgm:else>
          </dgm:choose>
          <dgm:choose name="Name27">
            <dgm:if name="Name28" func="var" arg="dir" op="equ" val="norm">
              <dgm:shape xmlns:r="http://schemas.openxmlformats.org/officeDocument/2006/relationships" rot="-90" type="rightArrow" r:blip="" hideGeom="1">
                <dgm:adjLst>
                  <dgm:adj idx="1" val="0.4983"/>
                  <dgm:adj idx="2" val="0.6066"/>
                </dgm:adjLst>
              </dgm:shape>
            </dgm:if>
            <dgm:else name="Name29">
              <dgm:shape xmlns:r="http://schemas.openxmlformats.org/officeDocument/2006/relationships" rot="90" type="leftArrow" r:blip="" hideGeom="1">
                <dgm:adjLst>
                  <dgm:adj idx="1" val="0.4983"/>
                  <dgm:adj idx="2" val="0.6066"/>
                </dgm:adjLst>
              </dgm:shape>
            </dgm:else>
          </dgm:choose>
          <dgm:presOf axis="ch 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ParentShape1" styleLbl="alignImgPlace1">
          <dgm:varLst/>
          <dgm:alg type="sp"/>
          <dgm:presOf axis="ch self" ptType="node node" st="1 1" cnt="1 0"/>
          <dgm:choose name="Name30">
            <dgm:if name="Name31" func="var" arg="dir" op="equ" val="norm">
              <dgm:shape xmlns:r="http://schemas.openxmlformats.org/officeDocument/2006/relationships" rot="-90" type="rightArrow" r:blip="">
                <dgm:adjLst>
                  <dgm:adj idx="1" val="0.4983"/>
                  <dgm:adj idx="2" val="0.6066"/>
                </dgm:adjLst>
              </dgm:shape>
            </dgm:if>
            <dgm:else name="Name32">
              <dgm:shape xmlns:r="http://schemas.openxmlformats.org/officeDocument/2006/relationships" rot="90" type="leftArrow" r:blip="">
                <dgm:adjLst>
                  <dgm:adj idx="1" val="0.4983"/>
                  <dgm:adj idx="2" val="0.6066"/>
                </dgm:adjLst>
              </dgm:shape>
            </dgm:else>
          </dgm:choose>
        </dgm:layoutNode>
        <dgm:choose name="Name33">
          <dgm:if name="Name34" axis="ch" ptType="node" func="cnt" op="gte" val="2">
            <dgm:layoutNode name="ParentText2" styleLbl="revTx">
              <dgm:varLst>
                <dgm:chMax val="1"/>
                <dgm:chPref val="1"/>
              </dgm:varLst>
              <dgm:choose name="Name35">
                <dgm:if name="Name36" func="var" arg="dir" op="equ" val="norm">
                  <dgm:alg type="tx">
                    <dgm:param type="parTxLTRAlign" val="r"/>
                    <dgm:param type="shpTxLTRAlignCh" val="r"/>
                    <dgm:param type="txAnchorVertCh" val="mid"/>
                    <dgm:param type="autoTxRot" val="grav"/>
                  </dgm:alg>
                </dgm:if>
                <dgm:else name="Name37">
                  <dgm:alg type="tx">
                    <dgm:param type="parTxLTRAlign" val="l"/>
                    <dgm:param type="shpTxLTRAlignCh" val="r"/>
                    <dgm:param type="txAnchorVertCh" val="mid"/>
                    <dgm:param type="autoTxRot" val="grav"/>
                  </dgm:alg>
                </dgm:else>
              </dgm:choose>
              <dgm:choose name="Name38">
                <dgm:if name="Name39" func="var" arg="dir" op="equ" val="norm">
                  <dgm:shape xmlns:r="http://schemas.openxmlformats.org/officeDocument/2006/relationships" rot="90" type="rightArrow" r:blip="" hideGeom="1">
                    <dgm:adjLst>
                      <dgm:adj idx="1" val="0.4983"/>
                      <dgm:adj idx="2" val="0.6066"/>
                    </dgm:adjLst>
                  </dgm:shape>
                </dgm:if>
                <dgm:else name="Name40">
                  <dgm:shape xmlns:r="http://schemas.openxmlformats.org/officeDocument/2006/relationships" rot="-90" type="leftArrow" r:blip="" hideGeom="1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ParentShape2" styleLbl="alignImgPlace1">
              <dgm:varLst/>
              <dgm:alg type="sp"/>
              <dgm:choose name="Name41">
                <dgm:if name="Name42" func="var" arg="dir" op="equ" val="norm">
                  <dgm:shape xmlns:r="http://schemas.openxmlformats.org/officeDocument/2006/relationships" rot="90" type="rightArrow" r:blip="">
                    <dgm:adjLst>
                      <dgm:adj idx="1" val="0.4983"/>
                      <dgm:adj idx="2" val="0.6066"/>
                    </dgm:adjLst>
                  </dgm:shape>
                </dgm:if>
                <dgm:else name="Name43">
                  <dgm:shape xmlns:r="http://schemas.openxmlformats.org/officeDocument/2006/relationships" rot="-90" type="leftArrow" r:blip="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</dgm:layoutNode>
          </dgm:if>
          <dgm:else name="Name44"/>
        </dgm:choose>
      </dgm:if>
      <dgm:else name="Name4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685800" y="9144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/>
              <a:t>Introduce the project and the PM question: how quickly do same-day purchasers buy after first arriving on the e-commerce website? Keep this slide brief and move directly to the daily trend.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685800" y="9144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/>
              <a:t>The median is relatively stable across 92 days. Some dates have wider middle-50% ranges. Low-volume days should be interpreted cautiously.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3981D-C96F-BD5D-4188-87A4CB6AC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>
            <a:extLst>
              <a:ext uri="{FF2B5EF4-FFF2-40B4-BE49-F238E27FC236}">
                <a16:creationId xmlns:a16="http://schemas.microsoft.com/office/drawing/2014/main" id="{D6EBD47C-82D4-F364-106F-9F40CC7F3D1A}"/>
              </a:ext>
            </a:extLst>
          </p:cNvPr>
          <p:cNvSpPr txBox="1"/>
          <p:nvPr/>
        </p:nvSpPr>
        <p:spPr>
          <a:xfrm>
            <a:off x="685800" y="9144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/>
              <a:t>Across all 4,794 user-level journeys, the average is 74.68 minutes and the median is 19.07 minutes. The chart shows daily averages versus daily medians. A smaller group of multi-hour journeys pulls averages upward, so use median for typical users and p75/p90 for the long tail.</a:t>
            </a:r>
          </a:p>
        </p:txBody>
      </p:sp>
    </p:spTree>
    <p:extLst>
      <p:ext uri="{BB962C8B-B14F-4D97-AF65-F5344CB8AC3E}">
        <p14:creationId xmlns:p14="http://schemas.microsoft.com/office/powerpoint/2010/main" val="1196248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685800" y="9144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/>
              <a:t>December had the most same-day purchasers and a modest increase in typical duration. Treat this as a monitoring signal, not evidence of a severe slowdown.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685800" y="9144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/>
              <a:t>Desktop and mobile medians differ by only 0.28 minutes. Device category is not the main explanation in the current data.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685800" y="9144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/>
              <a:t>Country differences identify where to look next, but sample size, traffic source, product mix, language, and intent must be checked before acting.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685800" y="9144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/>
              <a:t>Separate supported findings from unanswered questions. Because the task asks for first arrival on a given day, the first recorded event for each user-date is used as arrival. Dates are derived in UTC, and a local-timezone or session-based definition could change results.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685800" y="9144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/>
              <a:t>Recommend a small monitoring set: weekly median, purchaser count, p75, and p90. Investigate material shifts by funnel step, traffic source, and country after validating session logic.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685800" y="9144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/>
              <a:t>Appendix only. Explain that each user contributes one same-day journey per date, avoiding repeated-event overcounting.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685800" y="9144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/>
              <a:t>Appendix only. Walk from raw events to user-day journeys, duration, and daily summary. The SQL file is included in the submission.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/>
          <p:cNvSpPr/>
          <p:nvPr/>
        </p:nvSpPr>
        <p:spPr>
          <a:xfrm>
            <a:off x="0" y="0"/>
            <a:ext cx="13333333" cy="7500000"/>
          </a:xfrm>
          <a:prstGeom prst="roundRect">
            <a:avLst/>
          </a:prstGeom>
          <a:solidFill>
            <a:srgbClr val="1F29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ext"/>
          <p:cNvSpPr txBox="1"/>
          <p:nvPr/>
        </p:nvSpPr>
        <p:spPr>
          <a:xfrm>
            <a:off x="742950" y="666750"/>
            <a:ext cx="6191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b="1">
                <a:solidFill>
                  <a:srgbClr val="F57C00"/>
                </a:solidFill>
                <a:latin typeface="Arial"/>
              </a:rPr>
              <a:t>PRODUCT ANALYSIS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742950" y="1428750"/>
            <a:ext cx="7981950" cy="129266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6000" b="1" dirty="0">
                <a:solidFill>
                  <a:srgbClr val="FFFFFF"/>
                </a:solidFill>
                <a:latin typeface="Arial"/>
              </a:rPr>
              <a:t>Time to Purchase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742950" y="4095750"/>
            <a:ext cx="8096250" cy="8763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dirty="0">
                <a:solidFill>
                  <a:srgbClr val="D8DEE6"/>
                </a:solidFill>
                <a:latin typeface="Arial"/>
              </a:rPr>
              <a:t>How quickly same-day purchasers buy after first arriving</a:t>
            </a:r>
          </a:p>
          <a:p>
            <a:pPr algn="l"/>
            <a:r>
              <a:rPr lang="en-US" sz="2000" dirty="0">
                <a:solidFill>
                  <a:srgbClr val="D8DEE6"/>
                </a:solidFill>
                <a:latin typeface="Arial"/>
              </a:rPr>
              <a:t>on the e-commerce website.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742950" y="6096000"/>
            <a:ext cx="76200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C7CED6"/>
                </a:solidFill>
                <a:latin typeface="Arial"/>
              </a:rPr>
              <a:t>Analysis period: 2020-11-01 to 2021-01-31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"/>
          <p:cNvSpPr txBox="1"/>
          <p:nvPr/>
        </p:nvSpPr>
        <p:spPr>
          <a:xfrm>
            <a:off x="666750" y="400050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b="1">
                <a:solidFill>
                  <a:srgbClr val="1F77B4"/>
                </a:solidFill>
                <a:latin typeface="Arial"/>
              </a:rPr>
              <a:t>DAILY TREND</a:t>
            </a:r>
          </a:p>
        </p:txBody>
      </p:sp>
      <p:sp>
        <p:nvSpPr>
          <p:cNvPr id="191" name="Text"/>
          <p:cNvSpPr txBox="1"/>
          <p:nvPr/>
        </p:nvSpPr>
        <p:spPr>
          <a:xfrm>
            <a:off x="666750" y="742950"/>
            <a:ext cx="9810750" cy="1200329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3600" b="1" dirty="0">
                <a:solidFill>
                  <a:srgbClr val="1F2933"/>
                </a:solidFill>
                <a:latin typeface="Arial"/>
              </a:rPr>
              <a:t>Purchase time is stable around 19 minutes on most days.</a:t>
            </a:r>
          </a:p>
        </p:txBody>
      </p:sp>
      <p:sp>
        <p:nvSpPr>
          <p:cNvPr id="192" name="Text"/>
          <p:cNvSpPr txBox="1"/>
          <p:nvPr/>
        </p:nvSpPr>
        <p:spPr>
          <a:xfrm>
            <a:off x="666750" y="2100000"/>
            <a:ext cx="10287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dirty="0">
                <a:solidFill>
                  <a:srgbClr val="5F6B7A"/>
                </a:solidFill>
                <a:latin typeface="Arial"/>
              </a:rPr>
              <a:t>Across 92 days, the average daily median was 18.72 minutes.</a:t>
            </a:r>
          </a:p>
        </p:txBody>
      </p:sp>
      <p:cxnSp>
        <p:nvCxnSpPr>
          <p:cNvPr id="193" name="Line"/>
          <p:cNvCxnSpPr/>
          <p:nvPr/>
        </p:nvCxnSpPr>
        <p:spPr>
          <a:xfrm>
            <a:off x="666750" y="2520000"/>
            <a:ext cx="10858500" cy="1"/>
          </a:xfrm>
          <a:prstGeom prst="line">
            <a:avLst/>
          </a:prstGeom>
          <a:ln w="18000">
            <a:solidFill>
              <a:srgbClr val="D8DEE6"/>
            </a:solidFill>
          </a:ln>
        </p:spPr>
      </p:cxnSp>
      <p:pic>
        <p:nvPicPr>
          <p:cNvPr id="200" name="Daily median time to purchase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759" y="2580617"/>
            <a:ext cx="8159835" cy="4589907"/>
          </a:xfrm>
          <a:prstGeom prst="rect">
            <a:avLst/>
          </a:prstGeom>
          <a:ln w="6000">
            <a:solidFill>
              <a:srgbClr val="D8DEE6"/>
            </a:solidFill>
          </a:ln>
        </p:spPr>
      </p:pic>
      <p:sp>
        <p:nvSpPr>
          <p:cNvPr id="210" name="Rectangle"/>
          <p:cNvSpPr/>
          <p:nvPr/>
        </p:nvSpPr>
        <p:spPr>
          <a:xfrm>
            <a:off x="672859" y="307657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Text"/>
          <p:cNvSpPr txBox="1"/>
          <p:nvPr/>
        </p:nvSpPr>
        <p:spPr>
          <a:xfrm>
            <a:off x="939559" y="3000375"/>
            <a:ext cx="3505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dirty="0">
                <a:solidFill>
                  <a:srgbClr val="1F2933"/>
                </a:solidFill>
                <a:latin typeface="Arial"/>
              </a:rPr>
              <a:t>Daily median range: 10.52 to 38.98 minutes.</a:t>
            </a:r>
          </a:p>
        </p:txBody>
      </p:sp>
      <p:sp>
        <p:nvSpPr>
          <p:cNvPr id="213" name="Rectangle"/>
          <p:cNvSpPr/>
          <p:nvPr/>
        </p:nvSpPr>
        <p:spPr>
          <a:xfrm>
            <a:off x="672859" y="367665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4" name="Text"/>
          <p:cNvSpPr txBox="1"/>
          <p:nvPr/>
        </p:nvSpPr>
        <p:spPr>
          <a:xfrm>
            <a:off x="939559" y="3600450"/>
            <a:ext cx="3505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1F2933"/>
                </a:solidFill>
                <a:latin typeface="Arial"/>
              </a:rPr>
              <a:t>The middle 50% band widens on some dates.</a:t>
            </a:r>
          </a:p>
        </p:txBody>
      </p:sp>
      <p:sp>
        <p:nvSpPr>
          <p:cNvPr id="216" name="Rectangle"/>
          <p:cNvSpPr/>
          <p:nvPr/>
        </p:nvSpPr>
        <p:spPr>
          <a:xfrm>
            <a:off x="672859" y="427672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7" name="Text"/>
          <p:cNvSpPr txBox="1"/>
          <p:nvPr/>
        </p:nvSpPr>
        <p:spPr>
          <a:xfrm>
            <a:off x="939559" y="4200525"/>
            <a:ext cx="3505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1F2933"/>
                </a:solidFill>
                <a:latin typeface="Arial"/>
              </a:rPr>
              <a:t>Low-volume days should be interpreted cautiously.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F9FF24-15F1-342F-8781-5017BFBFE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">
            <a:extLst>
              <a:ext uri="{FF2B5EF4-FFF2-40B4-BE49-F238E27FC236}">
                <a16:creationId xmlns:a16="http://schemas.microsoft.com/office/drawing/2014/main" id="{7695124B-EB2D-B5A8-B123-4D9FAA4E5726}"/>
              </a:ext>
            </a:extLst>
          </p:cNvPr>
          <p:cNvSpPr txBox="1"/>
          <p:nvPr/>
        </p:nvSpPr>
        <p:spPr>
          <a:xfrm>
            <a:off x="666750" y="400050"/>
            <a:ext cx="5334000" cy="276999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b="1" dirty="0">
                <a:solidFill>
                  <a:srgbClr val="1F77B4"/>
                </a:solidFill>
                <a:latin typeface="Arial"/>
              </a:rPr>
              <a:t>METRIC CHOICE</a:t>
            </a:r>
          </a:p>
        </p:txBody>
      </p:sp>
      <p:sp>
        <p:nvSpPr>
          <p:cNvPr id="191" name="Text">
            <a:extLst>
              <a:ext uri="{FF2B5EF4-FFF2-40B4-BE49-F238E27FC236}">
                <a16:creationId xmlns:a16="http://schemas.microsoft.com/office/drawing/2014/main" id="{D4BD8844-C73F-BE2C-2E9D-550E3D24FAD6}"/>
              </a:ext>
            </a:extLst>
          </p:cNvPr>
          <p:cNvSpPr txBox="1"/>
          <p:nvPr/>
        </p:nvSpPr>
        <p:spPr>
          <a:xfrm>
            <a:off x="666750" y="742950"/>
            <a:ext cx="9810750" cy="1200329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3600" b="1" dirty="0">
                <a:solidFill>
                  <a:srgbClr val="1F2933"/>
                </a:solidFill>
                <a:latin typeface="Arial"/>
              </a:rPr>
              <a:t>Average time hides a long tail; median better represents users.</a:t>
            </a:r>
          </a:p>
        </p:txBody>
      </p:sp>
      <p:sp>
        <p:nvSpPr>
          <p:cNvPr id="192" name="Text">
            <a:extLst>
              <a:ext uri="{FF2B5EF4-FFF2-40B4-BE49-F238E27FC236}">
                <a16:creationId xmlns:a16="http://schemas.microsoft.com/office/drawing/2014/main" id="{F78D4F47-FEC5-FB5E-4DA1-37D8D1FDA870}"/>
              </a:ext>
            </a:extLst>
          </p:cNvPr>
          <p:cNvSpPr txBox="1"/>
          <p:nvPr/>
        </p:nvSpPr>
        <p:spPr>
          <a:xfrm>
            <a:off x="666750" y="2100000"/>
            <a:ext cx="10287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dirty="0">
                <a:solidFill>
                  <a:srgbClr val="5F6B7A"/>
                </a:solidFill>
                <a:latin typeface="Arial"/>
              </a:rPr>
              <a:t>A small number of multi-hour journeys lifts the average far above</a:t>
            </a:r>
            <a:r>
              <a:rPr lang="en-US" sz="1800">
                <a:solidFill>
                  <a:srgbClr val="5F6B7A"/>
                </a:solidFill>
                <a:latin typeface="Arial"/>
              </a:rPr>
              <a:t>the typical purchase time.</a:t>
            </a:r>
            <a:endParaRPr lang="en-US" sz="1800" dirty="0">
              <a:solidFill>
                <a:srgbClr val="5F6B7A"/>
              </a:solidFill>
              <a:latin typeface="Arial"/>
            </a:endParaRPr>
          </a:p>
        </p:txBody>
      </p:sp>
      <p:cxnSp>
        <p:nvCxnSpPr>
          <p:cNvPr id="193" name="Line">
            <a:extLst>
              <a:ext uri="{FF2B5EF4-FFF2-40B4-BE49-F238E27FC236}">
                <a16:creationId xmlns:a16="http://schemas.microsoft.com/office/drawing/2014/main" id="{D70331EB-65ED-8B7F-D518-EAA346D15A8E}"/>
              </a:ext>
            </a:extLst>
          </p:cNvPr>
          <p:cNvCxnSpPr/>
          <p:nvPr/>
        </p:nvCxnSpPr>
        <p:spPr>
          <a:xfrm>
            <a:off x="666750" y="2520000"/>
            <a:ext cx="10858500" cy="1"/>
          </a:xfrm>
          <a:prstGeom prst="line">
            <a:avLst/>
          </a:prstGeom>
          <a:ln w="18000">
            <a:solidFill>
              <a:srgbClr val="D8DEE6"/>
            </a:solidFill>
          </a:ln>
        </p:spPr>
      </p:cxnSp>
      <p:pic>
        <p:nvPicPr>
          <p:cNvPr id="200" name="Daily median time to purchase chart">
            <a:extLst>
              <a:ext uri="{FF2B5EF4-FFF2-40B4-BE49-F238E27FC236}">
                <a16:creationId xmlns:a16="http://schemas.microsoft.com/office/drawing/2014/main" id="{2E9530A9-5B93-EC87-A31A-7AFD75DF4F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6581" y="2666384"/>
            <a:ext cx="8159835" cy="4079917"/>
          </a:xfrm>
          <a:prstGeom prst="rect">
            <a:avLst/>
          </a:prstGeom>
          <a:ln w="6000">
            <a:solidFill>
              <a:srgbClr val="D8DEE6"/>
            </a:solidFill>
          </a:ln>
        </p:spPr>
      </p:pic>
      <p:sp>
        <p:nvSpPr>
          <p:cNvPr id="210" name="Rectangle">
            <a:extLst>
              <a:ext uri="{FF2B5EF4-FFF2-40B4-BE49-F238E27FC236}">
                <a16:creationId xmlns:a16="http://schemas.microsoft.com/office/drawing/2014/main" id="{A0534345-4528-546A-E5F2-3429BF030B84}"/>
              </a:ext>
            </a:extLst>
          </p:cNvPr>
          <p:cNvSpPr/>
          <p:nvPr/>
        </p:nvSpPr>
        <p:spPr>
          <a:xfrm>
            <a:off x="672859" y="307657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Text">
            <a:extLst>
              <a:ext uri="{FF2B5EF4-FFF2-40B4-BE49-F238E27FC236}">
                <a16:creationId xmlns:a16="http://schemas.microsoft.com/office/drawing/2014/main" id="{298726B1-C54F-C150-3EE3-C9D9837EF370}"/>
              </a:ext>
            </a:extLst>
          </p:cNvPr>
          <p:cNvSpPr txBox="1"/>
          <p:nvPr/>
        </p:nvSpPr>
        <p:spPr>
          <a:xfrm>
            <a:off x="939559" y="3000375"/>
            <a:ext cx="3505200" cy="615553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dirty="0">
                <a:solidFill>
                  <a:srgbClr val="1F2933"/>
                </a:solidFill>
                <a:latin typeface="Arial"/>
              </a:rPr>
              <a:t>Overall user average: 74.68 minutes</a:t>
            </a:r>
          </a:p>
        </p:txBody>
      </p:sp>
      <p:sp>
        <p:nvSpPr>
          <p:cNvPr id="213" name="Rectangle">
            <a:extLst>
              <a:ext uri="{FF2B5EF4-FFF2-40B4-BE49-F238E27FC236}">
                <a16:creationId xmlns:a16="http://schemas.microsoft.com/office/drawing/2014/main" id="{697055FA-6889-3D52-D28B-1901C425B3D9}"/>
              </a:ext>
            </a:extLst>
          </p:cNvPr>
          <p:cNvSpPr/>
          <p:nvPr/>
        </p:nvSpPr>
        <p:spPr>
          <a:xfrm>
            <a:off x="672859" y="367665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4" name="Text">
            <a:extLst>
              <a:ext uri="{FF2B5EF4-FFF2-40B4-BE49-F238E27FC236}">
                <a16:creationId xmlns:a16="http://schemas.microsoft.com/office/drawing/2014/main" id="{C36E1193-C4B8-A50E-B14F-329CFDA6DB7A}"/>
              </a:ext>
            </a:extLst>
          </p:cNvPr>
          <p:cNvSpPr txBox="1"/>
          <p:nvPr/>
        </p:nvSpPr>
        <p:spPr>
          <a:xfrm>
            <a:off x="939559" y="3600450"/>
            <a:ext cx="3505200" cy="615553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dirty="0">
                <a:solidFill>
                  <a:srgbClr val="1F2933"/>
                </a:solidFill>
                <a:latin typeface="Arial"/>
              </a:rPr>
              <a:t>Average daily median: 18.72 minutes</a:t>
            </a:r>
          </a:p>
        </p:txBody>
      </p:sp>
      <p:sp>
        <p:nvSpPr>
          <p:cNvPr id="216" name="Rectangle">
            <a:extLst>
              <a:ext uri="{FF2B5EF4-FFF2-40B4-BE49-F238E27FC236}">
                <a16:creationId xmlns:a16="http://schemas.microsoft.com/office/drawing/2014/main" id="{8030CA0F-1E9D-F8A7-E8A4-92E8446499B8}"/>
              </a:ext>
            </a:extLst>
          </p:cNvPr>
          <p:cNvSpPr/>
          <p:nvPr/>
        </p:nvSpPr>
        <p:spPr>
          <a:xfrm>
            <a:off x="672859" y="427672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7" name="Text">
            <a:extLst>
              <a:ext uri="{FF2B5EF4-FFF2-40B4-BE49-F238E27FC236}">
                <a16:creationId xmlns:a16="http://schemas.microsoft.com/office/drawing/2014/main" id="{C6A621E6-7E88-FF05-1E6E-DDB1A28E8B97}"/>
              </a:ext>
            </a:extLst>
          </p:cNvPr>
          <p:cNvSpPr txBox="1"/>
          <p:nvPr/>
        </p:nvSpPr>
        <p:spPr>
          <a:xfrm>
            <a:off x="939559" y="4200525"/>
            <a:ext cx="3505200" cy="877163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dirty="0">
                <a:solidFill>
                  <a:srgbClr val="1F2933"/>
                </a:solidFill>
                <a:latin typeface="Arial"/>
              </a:rPr>
              <a:t>Use median as the headline KPI.</a:t>
            </a: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FEA7874C-B08A-9640-F328-127E084FAFE5}"/>
              </a:ext>
            </a:extLst>
          </p:cNvPr>
          <p:cNvSpPr/>
          <p:nvPr/>
        </p:nvSpPr>
        <p:spPr>
          <a:xfrm>
            <a:off x="672859" y="5153888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296B724D-F9A2-FE9F-F57F-208ECF01D29A}"/>
              </a:ext>
            </a:extLst>
          </p:cNvPr>
          <p:cNvSpPr txBox="1"/>
          <p:nvPr/>
        </p:nvSpPr>
        <p:spPr>
          <a:xfrm>
            <a:off x="939559" y="5077688"/>
            <a:ext cx="3505200" cy="830997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BD" sz="1800" dirty="0"/>
              <a:t>Use p75 and p90 to monitor slower journeys.</a:t>
            </a:r>
          </a:p>
        </p:txBody>
      </p:sp>
    </p:spTree>
    <p:extLst>
      <p:ext uri="{BB962C8B-B14F-4D97-AF65-F5344CB8AC3E}">
        <p14:creationId xmlns:p14="http://schemas.microsoft.com/office/powerpoint/2010/main" val="3963737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ext"/>
          <p:cNvSpPr txBox="1"/>
          <p:nvPr/>
        </p:nvSpPr>
        <p:spPr>
          <a:xfrm>
            <a:off x="666750" y="400050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b="1">
                <a:solidFill>
                  <a:srgbClr val="1F77B4"/>
                </a:solidFill>
                <a:latin typeface="Arial"/>
              </a:rPr>
              <a:t>VOLUME SIGNAL</a:t>
            </a:r>
          </a:p>
        </p:txBody>
      </p:sp>
      <p:sp>
        <p:nvSpPr>
          <p:cNvPr id="281" name="Text"/>
          <p:cNvSpPr txBox="1"/>
          <p:nvPr/>
        </p:nvSpPr>
        <p:spPr>
          <a:xfrm>
            <a:off x="666750" y="742950"/>
            <a:ext cx="9810750" cy="1200329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3600" b="1" dirty="0">
                <a:solidFill>
                  <a:srgbClr val="1F2933"/>
                </a:solidFill>
                <a:latin typeface="Arial"/>
              </a:rPr>
              <a:t>Higher December volume came with only a modest slowdown.</a:t>
            </a:r>
          </a:p>
        </p:txBody>
      </p:sp>
      <p:sp>
        <p:nvSpPr>
          <p:cNvPr id="282" name="Text"/>
          <p:cNvSpPr txBox="1"/>
          <p:nvPr/>
        </p:nvSpPr>
        <p:spPr>
          <a:xfrm>
            <a:off x="666750" y="2100000"/>
            <a:ext cx="10287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5F6B7A"/>
                </a:solidFill>
                <a:latin typeface="Arial"/>
              </a:rPr>
              <a:t>December had the most purchasers and a median about two minutes above November.</a:t>
            </a:r>
          </a:p>
        </p:txBody>
      </p:sp>
      <p:cxnSp>
        <p:nvCxnSpPr>
          <p:cNvPr id="283" name="Line"/>
          <p:cNvCxnSpPr/>
          <p:nvPr/>
        </p:nvCxnSpPr>
        <p:spPr>
          <a:xfrm>
            <a:off x="666750" y="2520000"/>
            <a:ext cx="10858500" cy="1"/>
          </a:xfrm>
          <a:prstGeom prst="line">
            <a:avLst/>
          </a:prstGeom>
          <a:ln w="18000">
            <a:solidFill>
              <a:srgbClr val="D8DEE6"/>
            </a:solidFill>
          </a:ln>
        </p:spPr>
      </p:cxnSp>
      <p:pic>
        <p:nvPicPr>
          <p:cNvPr id="290" name="Daily purchasing users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950" y="2543745"/>
            <a:ext cx="7287695" cy="3890888"/>
          </a:xfrm>
          <a:prstGeom prst="rect">
            <a:avLst/>
          </a:prstGeom>
          <a:ln w="6000">
            <a:solidFill>
              <a:srgbClr val="D8DEE6"/>
            </a:solidFill>
          </a:ln>
        </p:spPr>
      </p:pic>
      <p:sp>
        <p:nvSpPr>
          <p:cNvPr id="300" name="Rectangle"/>
          <p:cNvSpPr/>
          <p:nvPr/>
        </p:nvSpPr>
        <p:spPr>
          <a:xfrm>
            <a:off x="857250" y="2952750"/>
            <a:ext cx="4333875" cy="24765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DE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1" name="Text"/>
          <p:cNvSpPr txBox="1"/>
          <p:nvPr/>
        </p:nvSpPr>
        <p:spPr>
          <a:xfrm>
            <a:off x="1123950" y="3190875"/>
            <a:ext cx="12382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b="1">
                <a:solidFill>
                  <a:srgbClr val="5F6B7A"/>
                </a:solidFill>
                <a:latin typeface="Arial"/>
              </a:rPr>
              <a:t>Month</a:t>
            </a:r>
          </a:p>
        </p:txBody>
      </p:sp>
      <p:sp>
        <p:nvSpPr>
          <p:cNvPr id="302" name="Text"/>
          <p:cNvSpPr txBox="1"/>
          <p:nvPr/>
        </p:nvSpPr>
        <p:spPr>
          <a:xfrm>
            <a:off x="2876550" y="3190875"/>
            <a:ext cx="809625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en-US" sz="1800" b="1" dirty="0">
                <a:solidFill>
                  <a:srgbClr val="5F6B7A"/>
                </a:solidFill>
                <a:latin typeface="Arial"/>
              </a:rPr>
              <a:t>N</a:t>
            </a:r>
          </a:p>
        </p:txBody>
      </p:sp>
      <p:sp>
        <p:nvSpPr>
          <p:cNvPr id="303" name="Text"/>
          <p:cNvSpPr txBox="1"/>
          <p:nvPr/>
        </p:nvSpPr>
        <p:spPr>
          <a:xfrm>
            <a:off x="3924300" y="3190875"/>
            <a:ext cx="1000125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en-US" sz="1800" b="1">
                <a:solidFill>
                  <a:srgbClr val="5F6B7A"/>
                </a:solidFill>
                <a:latin typeface="Arial"/>
              </a:rPr>
              <a:t>Time</a:t>
            </a:r>
          </a:p>
        </p:txBody>
      </p:sp>
      <p:sp>
        <p:nvSpPr>
          <p:cNvPr id="310" name="Text"/>
          <p:cNvSpPr txBox="1"/>
          <p:nvPr/>
        </p:nvSpPr>
        <p:spPr>
          <a:xfrm>
            <a:off x="1123950" y="3667125"/>
            <a:ext cx="1381125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1F2933"/>
                </a:solidFill>
                <a:latin typeface="Arial"/>
              </a:rPr>
              <a:t>Nov 2020</a:t>
            </a:r>
          </a:p>
        </p:txBody>
      </p:sp>
      <p:sp>
        <p:nvSpPr>
          <p:cNvPr id="311" name="Text"/>
          <p:cNvSpPr txBox="1"/>
          <p:nvPr/>
        </p:nvSpPr>
        <p:spPr>
          <a:xfrm>
            <a:off x="2876550" y="3667125"/>
            <a:ext cx="809625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en-US" sz="1800">
                <a:solidFill>
                  <a:srgbClr val="1F2933"/>
                </a:solidFill>
                <a:latin typeface="Arial"/>
              </a:rPr>
              <a:t>1,601</a:t>
            </a:r>
          </a:p>
        </p:txBody>
      </p:sp>
      <p:sp>
        <p:nvSpPr>
          <p:cNvPr id="312" name="Text"/>
          <p:cNvSpPr txBox="1"/>
          <p:nvPr/>
        </p:nvSpPr>
        <p:spPr>
          <a:xfrm>
            <a:off x="3810000" y="3667125"/>
            <a:ext cx="1114425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en-US" sz="1800">
                <a:solidFill>
                  <a:srgbClr val="1F2933"/>
                </a:solidFill>
                <a:latin typeface="Arial"/>
              </a:rPr>
              <a:t>18.2 min</a:t>
            </a:r>
          </a:p>
        </p:txBody>
      </p:sp>
      <p:sp>
        <p:nvSpPr>
          <p:cNvPr id="314" name="Text"/>
          <p:cNvSpPr txBox="1"/>
          <p:nvPr/>
        </p:nvSpPr>
        <p:spPr>
          <a:xfrm>
            <a:off x="1123950" y="4181475"/>
            <a:ext cx="1381125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1F2933"/>
                </a:solidFill>
                <a:latin typeface="Arial"/>
              </a:rPr>
              <a:t>Dec 2020</a:t>
            </a:r>
          </a:p>
        </p:txBody>
      </p:sp>
      <p:sp>
        <p:nvSpPr>
          <p:cNvPr id="315" name="Text"/>
          <p:cNvSpPr txBox="1"/>
          <p:nvPr/>
        </p:nvSpPr>
        <p:spPr>
          <a:xfrm>
            <a:off x="2876550" y="4181475"/>
            <a:ext cx="809625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en-US" sz="1800">
                <a:solidFill>
                  <a:srgbClr val="1F2933"/>
                </a:solidFill>
                <a:latin typeface="Arial"/>
              </a:rPr>
              <a:t>2,085</a:t>
            </a:r>
          </a:p>
        </p:txBody>
      </p:sp>
      <p:sp>
        <p:nvSpPr>
          <p:cNvPr id="316" name="Text"/>
          <p:cNvSpPr txBox="1"/>
          <p:nvPr/>
        </p:nvSpPr>
        <p:spPr>
          <a:xfrm>
            <a:off x="3810000" y="4181475"/>
            <a:ext cx="1114425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en-US" sz="1800">
                <a:solidFill>
                  <a:srgbClr val="1F2933"/>
                </a:solidFill>
                <a:latin typeface="Arial"/>
              </a:rPr>
              <a:t>20.0 min</a:t>
            </a:r>
          </a:p>
        </p:txBody>
      </p:sp>
      <p:sp>
        <p:nvSpPr>
          <p:cNvPr id="318" name="Text"/>
          <p:cNvSpPr txBox="1"/>
          <p:nvPr/>
        </p:nvSpPr>
        <p:spPr>
          <a:xfrm>
            <a:off x="1123950" y="4695825"/>
            <a:ext cx="1381125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1F2933"/>
                </a:solidFill>
                <a:latin typeface="Arial"/>
              </a:rPr>
              <a:t>Jan 2021</a:t>
            </a:r>
          </a:p>
        </p:txBody>
      </p:sp>
      <p:sp>
        <p:nvSpPr>
          <p:cNvPr id="319" name="Text"/>
          <p:cNvSpPr txBox="1"/>
          <p:nvPr/>
        </p:nvSpPr>
        <p:spPr>
          <a:xfrm>
            <a:off x="2876550" y="4695825"/>
            <a:ext cx="809625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en-US" sz="1800">
                <a:solidFill>
                  <a:srgbClr val="1F2933"/>
                </a:solidFill>
                <a:latin typeface="Arial"/>
              </a:rPr>
              <a:t>1,108</a:t>
            </a:r>
          </a:p>
        </p:txBody>
      </p:sp>
      <p:sp>
        <p:nvSpPr>
          <p:cNvPr id="320" name="Text"/>
          <p:cNvSpPr txBox="1"/>
          <p:nvPr/>
        </p:nvSpPr>
        <p:spPr>
          <a:xfrm>
            <a:off x="3810000" y="4695825"/>
            <a:ext cx="1114425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en-US" sz="1800">
                <a:solidFill>
                  <a:srgbClr val="1F2933"/>
                </a:solidFill>
                <a:latin typeface="Arial"/>
              </a:rPr>
              <a:t>18.0 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"/>
          <p:cNvSpPr txBox="1"/>
          <p:nvPr/>
        </p:nvSpPr>
        <p:spPr>
          <a:xfrm>
            <a:off x="666750" y="400050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b="1">
                <a:solidFill>
                  <a:srgbClr val="1F77B4"/>
                </a:solidFill>
                <a:latin typeface="Arial"/>
              </a:rPr>
              <a:t>DEVICE CHECK</a:t>
            </a:r>
          </a:p>
        </p:txBody>
      </p:sp>
      <p:sp>
        <p:nvSpPr>
          <p:cNvPr id="331" name="Text"/>
          <p:cNvSpPr txBox="1"/>
          <p:nvPr/>
        </p:nvSpPr>
        <p:spPr>
          <a:xfrm>
            <a:off x="666750" y="742950"/>
            <a:ext cx="9810750" cy="1200329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3600" b="1" dirty="0">
                <a:solidFill>
                  <a:srgbClr val="1F2933"/>
                </a:solidFill>
                <a:latin typeface="Arial"/>
              </a:rPr>
              <a:t>Desktop and mobile users purchase at nearly the same speed.</a:t>
            </a:r>
          </a:p>
        </p:txBody>
      </p:sp>
      <p:sp>
        <p:nvSpPr>
          <p:cNvPr id="332" name="Text"/>
          <p:cNvSpPr txBox="1"/>
          <p:nvPr/>
        </p:nvSpPr>
        <p:spPr>
          <a:xfrm>
            <a:off x="666750" y="2100000"/>
            <a:ext cx="10287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dirty="0">
                <a:solidFill>
                  <a:srgbClr val="5F6B7A"/>
                </a:solidFill>
                <a:latin typeface="Arial"/>
              </a:rPr>
              <a:t>The 0.28-minute gap is too small to treat device as the main explanation.</a:t>
            </a:r>
          </a:p>
        </p:txBody>
      </p:sp>
      <p:cxnSp>
        <p:nvCxnSpPr>
          <p:cNvPr id="333" name="Line"/>
          <p:cNvCxnSpPr/>
          <p:nvPr/>
        </p:nvCxnSpPr>
        <p:spPr>
          <a:xfrm>
            <a:off x="666750" y="2520000"/>
            <a:ext cx="10858500" cy="1"/>
          </a:xfrm>
          <a:prstGeom prst="line">
            <a:avLst/>
          </a:prstGeom>
          <a:ln w="18000">
            <a:solidFill>
              <a:srgbClr val="D8DEE6"/>
            </a:solidFill>
          </a:ln>
        </p:spPr>
      </p:cxnSp>
      <p:pic>
        <p:nvPicPr>
          <p:cNvPr id="340" name="Device median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024" y="2486024"/>
            <a:ext cx="6906623" cy="4189263"/>
          </a:xfrm>
          <a:prstGeom prst="rect">
            <a:avLst/>
          </a:prstGeom>
          <a:ln w="6000">
            <a:solidFill>
              <a:srgbClr val="D8DEE6"/>
            </a:solidFill>
          </a:ln>
        </p:spPr>
      </p:pic>
      <p:sp>
        <p:nvSpPr>
          <p:cNvPr id="350" name="Rectangle"/>
          <p:cNvSpPr/>
          <p:nvPr/>
        </p:nvSpPr>
        <p:spPr>
          <a:xfrm>
            <a:off x="904875" y="302895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1" name="Text"/>
          <p:cNvSpPr txBox="1"/>
          <p:nvPr/>
        </p:nvSpPr>
        <p:spPr>
          <a:xfrm>
            <a:off x="1171575" y="2952750"/>
            <a:ext cx="3600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1F2933"/>
                </a:solidFill>
                <a:latin typeface="Arial"/>
              </a:rPr>
              <a:t>Desktop: 19.20 minutes, n=2,722.</a:t>
            </a:r>
          </a:p>
        </p:txBody>
      </p:sp>
      <p:sp>
        <p:nvSpPr>
          <p:cNvPr id="353" name="Rectangle"/>
          <p:cNvSpPr/>
          <p:nvPr/>
        </p:nvSpPr>
        <p:spPr>
          <a:xfrm>
            <a:off x="904875" y="358140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4" name="Text"/>
          <p:cNvSpPr txBox="1"/>
          <p:nvPr/>
        </p:nvSpPr>
        <p:spPr>
          <a:xfrm>
            <a:off x="1171575" y="3505200"/>
            <a:ext cx="3600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1F2933"/>
                </a:solidFill>
                <a:latin typeface="Arial"/>
              </a:rPr>
              <a:t>Mobile: 18.92 minutes, n=1,969.</a:t>
            </a:r>
          </a:p>
        </p:txBody>
      </p:sp>
      <p:sp>
        <p:nvSpPr>
          <p:cNvPr id="356" name="Rectangle"/>
          <p:cNvSpPr/>
          <p:nvPr/>
        </p:nvSpPr>
        <p:spPr>
          <a:xfrm>
            <a:off x="904875" y="413385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7" name="Text"/>
          <p:cNvSpPr txBox="1"/>
          <p:nvPr/>
        </p:nvSpPr>
        <p:spPr>
          <a:xfrm>
            <a:off x="1171575" y="4057650"/>
            <a:ext cx="3600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1F2933"/>
                </a:solidFill>
                <a:latin typeface="Arial"/>
              </a:rPr>
              <a:t>Tablet: 17.10 minutes, n=103.</a:t>
            </a:r>
          </a:p>
        </p:txBody>
      </p:sp>
      <p:sp>
        <p:nvSpPr>
          <p:cNvPr id="359" name="Rectangle"/>
          <p:cNvSpPr/>
          <p:nvPr/>
        </p:nvSpPr>
        <p:spPr>
          <a:xfrm>
            <a:off x="904875" y="468630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0" name="Text"/>
          <p:cNvSpPr txBox="1"/>
          <p:nvPr/>
        </p:nvSpPr>
        <p:spPr>
          <a:xfrm>
            <a:off x="1171575" y="4610100"/>
            <a:ext cx="3600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1F2933"/>
                </a:solidFill>
                <a:latin typeface="Arial"/>
              </a:rPr>
              <a:t>Device category does not explain the long tail.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Text"/>
          <p:cNvSpPr txBox="1"/>
          <p:nvPr/>
        </p:nvSpPr>
        <p:spPr>
          <a:xfrm>
            <a:off x="666750" y="400050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b="1">
                <a:solidFill>
                  <a:srgbClr val="1F77B4"/>
                </a:solidFill>
                <a:latin typeface="Arial"/>
              </a:rPr>
              <a:t>MARKET LEADS</a:t>
            </a:r>
          </a:p>
        </p:txBody>
      </p:sp>
      <p:sp>
        <p:nvSpPr>
          <p:cNvPr id="371" name="Text"/>
          <p:cNvSpPr txBox="1"/>
          <p:nvPr/>
        </p:nvSpPr>
        <p:spPr>
          <a:xfrm>
            <a:off x="666750" y="742950"/>
            <a:ext cx="9810750" cy="1200329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3600" b="1" dirty="0">
                <a:solidFill>
                  <a:srgbClr val="1F2933"/>
                </a:solidFill>
                <a:latin typeface="Arial"/>
              </a:rPr>
              <a:t>Country differences are leads, not evidence of product failure.</a:t>
            </a:r>
          </a:p>
        </p:txBody>
      </p:sp>
      <p:sp>
        <p:nvSpPr>
          <p:cNvPr id="372" name="Text"/>
          <p:cNvSpPr txBox="1"/>
          <p:nvPr/>
        </p:nvSpPr>
        <p:spPr>
          <a:xfrm>
            <a:off x="666750" y="2100000"/>
            <a:ext cx="10287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5F6B7A"/>
                </a:solidFill>
                <a:latin typeface="Arial"/>
              </a:rPr>
              <a:t>Sample size and traffic mix must be checked before acting on country differences.</a:t>
            </a:r>
          </a:p>
        </p:txBody>
      </p:sp>
      <p:cxnSp>
        <p:nvCxnSpPr>
          <p:cNvPr id="373" name="Line"/>
          <p:cNvCxnSpPr/>
          <p:nvPr/>
        </p:nvCxnSpPr>
        <p:spPr>
          <a:xfrm>
            <a:off x="666750" y="2520000"/>
            <a:ext cx="10858500" cy="1"/>
          </a:xfrm>
          <a:prstGeom prst="line">
            <a:avLst/>
          </a:prstGeom>
          <a:ln w="18000">
            <a:solidFill>
              <a:srgbClr val="D8DEE6"/>
            </a:solidFill>
          </a:ln>
        </p:spPr>
      </p:cxnSp>
      <p:pic>
        <p:nvPicPr>
          <p:cNvPr id="380" name="Country median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2625224"/>
            <a:ext cx="7713663" cy="4416220"/>
          </a:xfrm>
          <a:prstGeom prst="rect">
            <a:avLst/>
          </a:prstGeom>
          <a:ln w="6000">
            <a:solidFill>
              <a:srgbClr val="D8DEE6"/>
            </a:solidFill>
          </a:ln>
        </p:spPr>
      </p:pic>
      <p:sp>
        <p:nvSpPr>
          <p:cNvPr id="390" name="Rectangle"/>
          <p:cNvSpPr/>
          <p:nvPr/>
        </p:nvSpPr>
        <p:spPr>
          <a:xfrm>
            <a:off x="904875" y="293370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1" name="Text"/>
          <p:cNvSpPr txBox="1"/>
          <p:nvPr/>
        </p:nvSpPr>
        <p:spPr>
          <a:xfrm>
            <a:off x="1171575" y="2857500"/>
            <a:ext cx="3600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1F2933"/>
                </a:solidFill>
                <a:latin typeface="Arial"/>
              </a:rPr>
              <a:t>United States: 18.60 minutes, n=2,095.</a:t>
            </a:r>
          </a:p>
        </p:txBody>
      </p:sp>
      <p:sp>
        <p:nvSpPr>
          <p:cNvPr id="393" name="Rectangle"/>
          <p:cNvSpPr/>
          <p:nvPr/>
        </p:nvSpPr>
        <p:spPr>
          <a:xfrm>
            <a:off x="904875" y="347662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4" name="Text"/>
          <p:cNvSpPr txBox="1"/>
          <p:nvPr/>
        </p:nvSpPr>
        <p:spPr>
          <a:xfrm>
            <a:off x="1171575" y="3400425"/>
            <a:ext cx="3600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1F2933"/>
                </a:solidFill>
                <a:latin typeface="Arial"/>
              </a:rPr>
              <a:t>India: 19.21 minutes, n=446.</a:t>
            </a:r>
          </a:p>
        </p:txBody>
      </p:sp>
      <p:sp>
        <p:nvSpPr>
          <p:cNvPr id="396" name="Rectangle"/>
          <p:cNvSpPr/>
          <p:nvPr/>
        </p:nvSpPr>
        <p:spPr>
          <a:xfrm>
            <a:off x="904875" y="401955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7" name="Text"/>
          <p:cNvSpPr txBox="1"/>
          <p:nvPr/>
        </p:nvSpPr>
        <p:spPr>
          <a:xfrm>
            <a:off x="1171575" y="3943350"/>
            <a:ext cx="3600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1F2933"/>
                </a:solidFill>
                <a:latin typeface="Arial"/>
              </a:rPr>
              <a:t>Canada: 20.51 minutes, n=386.</a:t>
            </a:r>
          </a:p>
        </p:txBody>
      </p:sp>
      <p:sp>
        <p:nvSpPr>
          <p:cNvPr id="399" name="Rectangle"/>
          <p:cNvSpPr/>
          <p:nvPr/>
        </p:nvSpPr>
        <p:spPr>
          <a:xfrm>
            <a:off x="904875" y="456247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0" name="Text"/>
          <p:cNvSpPr txBox="1"/>
          <p:nvPr/>
        </p:nvSpPr>
        <p:spPr>
          <a:xfrm>
            <a:off x="1171575" y="4486275"/>
            <a:ext cx="3600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1F2933"/>
                </a:solidFill>
                <a:latin typeface="Arial"/>
              </a:rPr>
              <a:t>Slower smaller markets are candidates for follow-up, not conclusions.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Text"/>
          <p:cNvSpPr txBox="1"/>
          <p:nvPr/>
        </p:nvSpPr>
        <p:spPr>
          <a:xfrm>
            <a:off x="666750" y="400050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b="1">
                <a:solidFill>
                  <a:srgbClr val="1F77B4"/>
                </a:solidFill>
                <a:latin typeface="Arial"/>
              </a:rPr>
              <a:t>DECISION BOUNDARY</a:t>
            </a:r>
          </a:p>
        </p:txBody>
      </p:sp>
      <p:sp>
        <p:nvSpPr>
          <p:cNvPr id="411" name="Text"/>
          <p:cNvSpPr txBox="1"/>
          <p:nvPr/>
        </p:nvSpPr>
        <p:spPr>
          <a:xfrm>
            <a:off x="666750" y="742950"/>
            <a:ext cx="9810750" cy="646331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3600" b="1" dirty="0">
                <a:solidFill>
                  <a:srgbClr val="1F2933"/>
                </a:solidFill>
                <a:latin typeface="Arial"/>
              </a:rPr>
              <a:t>Known vs. Unknown</a:t>
            </a:r>
          </a:p>
        </p:txBody>
      </p:sp>
      <p:sp>
        <p:nvSpPr>
          <p:cNvPr id="412" name="Text"/>
          <p:cNvSpPr txBox="1"/>
          <p:nvPr/>
        </p:nvSpPr>
        <p:spPr>
          <a:xfrm>
            <a:off x="666750" y="2100000"/>
            <a:ext cx="10287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5F6B7A"/>
                </a:solidFill>
                <a:latin typeface="Arial"/>
              </a:rPr>
              <a:t>The metric supports monitoring, but it does not diagnose slow journeys.</a:t>
            </a:r>
          </a:p>
        </p:txBody>
      </p:sp>
      <p:cxnSp>
        <p:nvCxnSpPr>
          <p:cNvPr id="413" name="Line"/>
          <p:cNvCxnSpPr/>
          <p:nvPr/>
        </p:nvCxnSpPr>
        <p:spPr>
          <a:xfrm>
            <a:off x="666750" y="2520000"/>
            <a:ext cx="10858500" cy="1"/>
          </a:xfrm>
          <a:prstGeom prst="line">
            <a:avLst/>
          </a:prstGeom>
          <a:ln w="18000">
            <a:solidFill>
              <a:srgbClr val="D8DEE6"/>
            </a:solidFill>
          </a:ln>
        </p:spPr>
      </p:cxn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D820CAF-6A42-9955-E64C-3DDC4AB76B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8353921"/>
              </p:ext>
            </p:extLst>
          </p:nvPr>
        </p:nvGraphicFramePr>
        <p:xfrm>
          <a:off x="1411143" y="2696223"/>
          <a:ext cx="10511126" cy="45662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Text"/>
          <p:cNvSpPr txBox="1"/>
          <p:nvPr/>
        </p:nvSpPr>
        <p:spPr>
          <a:xfrm>
            <a:off x="666750" y="400050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b="1">
                <a:solidFill>
                  <a:srgbClr val="1F77B4"/>
                </a:solidFill>
                <a:latin typeface="Arial"/>
              </a:rPr>
              <a:t>ACTION PLAN</a:t>
            </a:r>
          </a:p>
        </p:txBody>
      </p:sp>
      <p:sp>
        <p:nvSpPr>
          <p:cNvPr id="451" name="Text"/>
          <p:cNvSpPr txBox="1"/>
          <p:nvPr/>
        </p:nvSpPr>
        <p:spPr>
          <a:xfrm>
            <a:off x="666750" y="742950"/>
            <a:ext cx="9810750" cy="1200329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3600" b="1" dirty="0">
                <a:solidFill>
                  <a:srgbClr val="1F2933"/>
                </a:solidFill>
                <a:latin typeface="Arial"/>
              </a:rPr>
              <a:t>Track median weekly, then investigate funnel-step time.</a:t>
            </a:r>
          </a:p>
        </p:txBody>
      </p:sp>
      <p:sp>
        <p:nvSpPr>
          <p:cNvPr id="452" name="Text"/>
          <p:cNvSpPr txBox="1"/>
          <p:nvPr/>
        </p:nvSpPr>
        <p:spPr>
          <a:xfrm>
            <a:off x="666750" y="2100000"/>
            <a:ext cx="10287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5F6B7A"/>
                </a:solidFill>
                <a:latin typeface="Arial"/>
              </a:rPr>
              <a:t>Use a small KPI set and clear investigation triggers.</a:t>
            </a:r>
          </a:p>
        </p:txBody>
      </p:sp>
      <p:cxnSp>
        <p:nvCxnSpPr>
          <p:cNvPr id="453" name="Line"/>
          <p:cNvCxnSpPr/>
          <p:nvPr/>
        </p:nvCxnSpPr>
        <p:spPr>
          <a:xfrm>
            <a:off x="666750" y="2520000"/>
            <a:ext cx="10858500" cy="1"/>
          </a:xfrm>
          <a:prstGeom prst="line">
            <a:avLst/>
          </a:prstGeom>
          <a:ln w="18000">
            <a:solidFill>
              <a:srgbClr val="D8DEE6"/>
            </a:solidFill>
          </a:ln>
        </p:spPr>
      </p:cxnSp>
      <p:sp>
        <p:nvSpPr>
          <p:cNvPr id="460" name="Rectangle"/>
          <p:cNvSpPr/>
          <p:nvPr/>
        </p:nvSpPr>
        <p:spPr>
          <a:xfrm>
            <a:off x="1047750" y="2857500"/>
            <a:ext cx="9715500" cy="1285875"/>
          </a:xfrm>
          <a:prstGeom prst="roundRect">
            <a:avLst/>
          </a:prstGeom>
          <a:solidFill>
            <a:srgbClr val="EEF5FF"/>
          </a:solidFill>
          <a:ln w="10000">
            <a:solidFill>
              <a:srgbClr val="1F77B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1" name="Text"/>
          <p:cNvSpPr txBox="1"/>
          <p:nvPr/>
        </p:nvSpPr>
        <p:spPr>
          <a:xfrm>
            <a:off x="1381125" y="3262312"/>
            <a:ext cx="9048750" cy="4762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b="1" dirty="0">
                <a:solidFill>
                  <a:srgbClr val="1F2933"/>
                </a:solidFill>
                <a:latin typeface="Arial"/>
              </a:rPr>
              <a:t>Decision: track median, not average.</a:t>
            </a:r>
          </a:p>
        </p:txBody>
      </p:sp>
      <p:sp>
        <p:nvSpPr>
          <p:cNvPr id="470" name="Rectangle"/>
          <p:cNvSpPr/>
          <p:nvPr/>
        </p:nvSpPr>
        <p:spPr>
          <a:xfrm>
            <a:off x="1238250" y="455295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1" name="Text"/>
          <p:cNvSpPr txBox="1"/>
          <p:nvPr/>
        </p:nvSpPr>
        <p:spPr>
          <a:xfrm>
            <a:off x="1504950" y="4476750"/>
            <a:ext cx="9220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1F2933"/>
                </a:solidFill>
                <a:latin typeface="Arial"/>
              </a:rPr>
              <a:t>Monitor weekly median with purchaser count.</a:t>
            </a:r>
          </a:p>
        </p:txBody>
      </p:sp>
      <p:sp>
        <p:nvSpPr>
          <p:cNvPr id="473" name="Rectangle"/>
          <p:cNvSpPr/>
          <p:nvPr/>
        </p:nvSpPr>
        <p:spPr>
          <a:xfrm>
            <a:off x="1238250" y="496252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4" name="Text"/>
          <p:cNvSpPr txBox="1"/>
          <p:nvPr/>
        </p:nvSpPr>
        <p:spPr>
          <a:xfrm>
            <a:off x="1504950" y="4886325"/>
            <a:ext cx="9220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dirty="0">
                <a:solidFill>
                  <a:srgbClr val="1F2933"/>
                </a:solidFill>
                <a:latin typeface="Arial"/>
              </a:rPr>
              <a:t>Add p75 and p90 to expose the long tail.</a:t>
            </a:r>
          </a:p>
        </p:txBody>
      </p:sp>
      <p:sp>
        <p:nvSpPr>
          <p:cNvPr id="476" name="Rectangle"/>
          <p:cNvSpPr/>
          <p:nvPr/>
        </p:nvSpPr>
        <p:spPr>
          <a:xfrm>
            <a:off x="1238250" y="537210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7" name="Text"/>
          <p:cNvSpPr txBox="1"/>
          <p:nvPr/>
        </p:nvSpPr>
        <p:spPr>
          <a:xfrm>
            <a:off x="1504950" y="5295900"/>
            <a:ext cx="9220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1F2933"/>
                </a:solidFill>
                <a:latin typeface="Arial"/>
              </a:rPr>
              <a:t>Investigate material shifts by funnel step and traffic source.</a:t>
            </a:r>
          </a:p>
        </p:txBody>
      </p:sp>
      <p:sp>
        <p:nvSpPr>
          <p:cNvPr id="479" name="Rectangle"/>
          <p:cNvSpPr/>
          <p:nvPr/>
        </p:nvSpPr>
        <p:spPr>
          <a:xfrm>
            <a:off x="1238250" y="578167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0" name="Text"/>
          <p:cNvSpPr txBox="1"/>
          <p:nvPr/>
        </p:nvSpPr>
        <p:spPr>
          <a:xfrm>
            <a:off x="1504950" y="5705475"/>
            <a:ext cx="9220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1F2933"/>
                </a:solidFill>
                <a:latin typeface="Arial"/>
              </a:rPr>
              <a:t>Validate session logic before operational use.</a:t>
            </a:r>
          </a:p>
        </p:txBody>
      </p:sp>
      <p:sp>
        <p:nvSpPr>
          <p:cNvPr id="482" name="Rectangle"/>
          <p:cNvSpPr/>
          <p:nvPr/>
        </p:nvSpPr>
        <p:spPr>
          <a:xfrm>
            <a:off x="1238250" y="619125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3" name="Text"/>
          <p:cNvSpPr txBox="1"/>
          <p:nvPr/>
        </p:nvSpPr>
        <p:spPr>
          <a:xfrm>
            <a:off x="1504950" y="6115050"/>
            <a:ext cx="9220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1F2933"/>
                </a:solidFill>
                <a:latin typeface="Arial"/>
              </a:rPr>
              <a:t>Use country as a diagnostic split, not a standalone conclusion.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"/>
          <p:cNvSpPr txBox="1"/>
          <p:nvPr/>
        </p:nvSpPr>
        <p:spPr>
          <a:xfrm>
            <a:off x="666750" y="400050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b="1">
                <a:solidFill>
                  <a:srgbClr val="1F77B4"/>
                </a:solidFill>
                <a:latin typeface="Arial"/>
              </a:rPr>
              <a:t>METRIC APPENDIX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666750" y="742950"/>
            <a:ext cx="9810750" cy="1200329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3600" b="1" dirty="0">
                <a:solidFill>
                  <a:srgbClr val="1F2933"/>
                </a:solidFill>
                <a:latin typeface="Arial"/>
              </a:rPr>
              <a:t>The metric uses one same-day journey per user.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66750" y="2100000"/>
            <a:ext cx="10287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5F6B7A"/>
                </a:solidFill>
                <a:latin typeface="Arial"/>
              </a:rPr>
              <a:t>First recorded event to first same-day purchase, summarized by date.</a:t>
            </a:r>
          </a:p>
        </p:txBody>
      </p:sp>
      <p:cxnSp>
        <p:nvCxnSpPr>
          <p:cNvPr id="53" name="Line"/>
          <p:cNvCxnSpPr/>
          <p:nvPr/>
        </p:nvCxnSpPr>
        <p:spPr>
          <a:xfrm>
            <a:off x="666750" y="2520000"/>
            <a:ext cx="10858500" cy="1"/>
          </a:xfrm>
          <a:prstGeom prst="line">
            <a:avLst/>
          </a:prstGeom>
          <a:ln w="18000">
            <a:solidFill>
              <a:srgbClr val="D8DEE6"/>
            </a:solidFill>
          </a:ln>
        </p:spPr>
      </p:cxnSp>
      <p:sp>
        <p:nvSpPr>
          <p:cNvPr id="60" name="Rectangle"/>
          <p:cNvSpPr/>
          <p:nvPr/>
        </p:nvSpPr>
        <p:spPr>
          <a:xfrm>
            <a:off x="914400" y="2952749"/>
            <a:ext cx="2762250" cy="1514473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DE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Text"/>
          <p:cNvSpPr txBox="1"/>
          <p:nvPr/>
        </p:nvSpPr>
        <p:spPr>
          <a:xfrm>
            <a:off x="1162050" y="3200400"/>
            <a:ext cx="21907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b="1">
                <a:solidFill>
                  <a:srgbClr val="1F77B4"/>
                </a:solidFill>
                <a:latin typeface="Arial"/>
              </a:rPr>
              <a:t>Arrival</a:t>
            </a:r>
          </a:p>
        </p:txBody>
      </p:sp>
      <p:sp>
        <p:nvSpPr>
          <p:cNvPr id="62" name="Text"/>
          <p:cNvSpPr txBox="1"/>
          <p:nvPr/>
        </p:nvSpPr>
        <p:spPr>
          <a:xfrm>
            <a:off x="1162050" y="3619500"/>
            <a:ext cx="219075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5F6B7A"/>
                </a:solidFill>
                <a:latin typeface="Arial"/>
              </a:rPr>
              <a:t>First event on that date.</a:t>
            </a:r>
          </a:p>
        </p:txBody>
      </p:sp>
      <p:sp>
        <p:nvSpPr>
          <p:cNvPr id="70" name="Rectangle"/>
          <p:cNvSpPr/>
          <p:nvPr/>
        </p:nvSpPr>
        <p:spPr>
          <a:xfrm>
            <a:off x="4629150" y="2952749"/>
            <a:ext cx="2762250" cy="1514473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DE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Text"/>
          <p:cNvSpPr txBox="1"/>
          <p:nvPr/>
        </p:nvSpPr>
        <p:spPr>
          <a:xfrm>
            <a:off x="4876800" y="3200400"/>
            <a:ext cx="21907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b="1">
                <a:solidFill>
                  <a:srgbClr val="188038"/>
                </a:solidFill>
                <a:latin typeface="Arial"/>
              </a:rPr>
              <a:t>Purchase</a:t>
            </a:r>
          </a:p>
        </p:txBody>
      </p:sp>
      <p:sp>
        <p:nvSpPr>
          <p:cNvPr id="72" name="Text"/>
          <p:cNvSpPr txBox="1"/>
          <p:nvPr/>
        </p:nvSpPr>
        <p:spPr>
          <a:xfrm>
            <a:off x="4876800" y="3619500"/>
            <a:ext cx="219075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5F6B7A"/>
                </a:solidFill>
                <a:latin typeface="Arial"/>
              </a:rPr>
              <a:t>First same-day purchase.</a:t>
            </a:r>
          </a:p>
        </p:txBody>
      </p:sp>
      <p:sp>
        <p:nvSpPr>
          <p:cNvPr id="80" name="Rectangle"/>
          <p:cNvSpPr/>
          <p:nvPr/>
        </p:nvSpPr>
        <p:spPr>
          <a:xfrm>
            <a:off x="8343900" y="2952749"/>
            <a:ext cx="2762250" cy="1514473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DE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1" name="Text"/>
          <p:cNvSpPr txBox="1"/>
          <p:nvPr/>
        </p:nvSpPr>
        <p:spPr>
          <a:xfrm>
            <a:off x="8591550" y="3200400"/>
            <a:ext cx="21907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b="1">
                <a:solidFill>
                  <a:srgbClr val="F57C00"/>
                </a:solidFill>
                <a:latin typeface="Arial"/>
              </a:rPr>
              <a:t>Duration</a:t>
            </a:r>
          </a:p>
        </p:txBody>
      </p:sp>
      <p:sp>
        <p:nvSpPr>
          <p:cNvPr id="82" name="Text"/>
          <p:cNvSpPr txBox="1"/>
          <p:nvPr/>
        </p:nvSpPr>
        <p:spPr>
          <a:xfrm>
            <a:off x="8591550" y="3619500"/>
            <a:ext cx="219075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5F6B7A"/>
                </a:solidFill>
                <a:latin typeface="Arial"/>
              </a:rPr>
              <a:t>Minutes between both events.</a:t>
            </a:r>
          </a:p>
        </p:txBody>
      </p:sp>
      <p:cxnSp>
        <p:nvCxnSpPr>
          <p:cNvPr id="90" name="Line"/>
          <p:cNvCxnSpPr/>
          <p:nvPr/>
        </p:nvCxnSpPr>
        <p:spPr>
          <a:xfrm>
            <a:off x="3676650" y="3524250"/>
            <a:ext cx="952500" cy="1"/>
          </a:xfrm>
          <a:prstGeom prst="line">
            <a:avLst/>
          </a:prstGeom>
          <a:ln w="18000">
            <a:solidFill>
              <a:srgbClr val="1F77B4"/>
            </a:solidFill>
          </a:ln>
        </p:spPr>
      </p:cxnSp>
      <p:cxnSp>
        <p:nvCxnSpPr>
          <p:cNvPr id="91" name="Line"/>
          <p:cNvCxnSpPr/>
          <p:nvPr/>
        </p:nvCxnSpPr>
        <p:spPr>
          <a:xfrm>
            <a:off x="7391400" y="3524250"/>
            <a:ext cx="952500" cy="1"/>
          </a:xfrm>
          <a:prstGeom prst="line">
            <a:avLst/>
          </a:prstGeom>
          <a:ln w="18000">
            <a:solidFill>
              <a:srgbClr val="1F77B4"/>
            </a:solidFill>
          </a:ln>
        </p:spPr>
      </p:cxnSp>
      <p:sp>
        <p:nvSpPr>
          <p:cNvPr id="100" name="Rectangle"/>
          <p:cNvSpPr/>
          <p:nvPr/>
        </p:nvSpPr>
        <p:spPr>
          <a:xfrm>
            <a:off x="1238250" y="488632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Text"/>
          <p:cNvSpPr txBox="1"/>
          <p:nvPr/>
        </p:nvSpPr>
        <p:spPr>
          <a:xfrm>
            <a:off x="1504950" y="4810125"/>
            <a:ext cx="90297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1F2933"/>
                </a:solidFill>
                <a:latin typeface="Arial"/>
              </a:rPr>
              <a:t>One journey is created for each user and date.</a:t>
            </a:r>
          </a:p>
        </p:txBody>
      </p:sp>
      <p:sp>
        <p:nvSpPr>
          <p:cNvPr id="103" name="Rectangle"/>
          <p:cNvSpPr/>
          <p:nvPr/>
        </p:nvSpPr>
        <p:spPr>
          <a:xfrm>
            <a:off x="1238250" y="534352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ext"/>
          <p:cNvSpPr txBox="1"/>
          <p:nvPr/>
        </p:nvSpPr>
        <p:spPr>
          <a:xfrm>
            <a:off x="1504950" y="5267325"/>
            <a:ext cx="90297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1F2933"/>
                </a:solidFill>
                <a:latin typeface="Arial"/>
              </a:rPr>
              <a:t>Only users with a same-day purchase enter the duration metric.</a:t>
            </a:r>
          </a:p>
        </p:txBody>
      </p:sp>
      <p:sp>
        <p:nvSpPr>
          <p:cNvPr id="106" name="Rectangle"/>
          <p:cNvSpPr/>
          <p:nvPr/>
        </p:nvSpPr>
        <p:spPr>
          <a:xfrm>
            <a:off x="1238250" y="580072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ext"/>
          <p:cNvSpPr txBox="1"/>
          <p:nvPr/>
        </p:nvSpPr>
        <p:spPr>
          <a:xfrm>
            <a:off x="1504950" y="5724525"/>
            <a:ext cx="90297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1F2933"/>
                </a:solidFill>
                <a:latin typeface="Arial"/>
              </a:rPr>
              <a:t>Daily summaries include median, average, p25, p75, and p90.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"/>
          <p:cNvSpPr txBox="1"/>
          <p:nvPr/>
        </p:nvSpPr>
        <p:spPr>
          <a:xfrm>
            <a:off x="666750" y="400050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b="1">
                <a:solidFill>
                  <a:srgbClr val="1F77B4"/>
                </a:solidFill>
                <a:latin typeface="Arial"/>
              </a:rPr>
              <a:t>SQL APPENDIX</a:t>
            </a:r>
          </a:p>
        </p:txBody>
      </p:sp>
      <p:sp>
        <p:nvSpPr>
          <p:cNvPr id="121" name="Text"/>
          <p:cNvSpPr txBox="1"/>
          <p:nvPr/>
        </p:nvSpPr>
        <p:spPr>
          <a:xfrm>
            <a:off x="666750" y="742950"/>
            <a:ext cx="9810750" cy="1200329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3600" b="1" dirty="0">
                <a:solidFill>
                  <a:srgbClr val="1F2933"/>
                </a:solidFill>
                <a:latin typeface="Arial"/>
              </a:rPr>
              <a:t>Raw events are transformed into a daily product metric.</a:t>
            </a:r>
          </a:p>
        </p:txBody>
      </p:sp>
      <p:sp>
        <p:nvSpPr>
          <p:cNvPr id="122" name="Text"/>
          <p:cNvSpPr txBox="1"/>
          <p:nvPr/>
        </p:nvSpPr>
        <p:spPr>
          <a:xfrm>
            <a:off x="666750" y="2100000"/>
            <a:ext cx="10287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5F6B7A"/>
                </a:solidFill>
                <a:latin typeface="Arial"/>
              </a:rPr>
              <a:t>The reproducible logic is saved in daily_time_to_purchase.sql.</a:t>
            </a:r>
          </a:p>
        </p:txBody>
      </p:sp>
      <p:cxnSp>
        <p:nvCxnSpPr>
          <p:cNvPr id="123" name="Line"/>
          <p:cNvCxnSpPr/>
          <p:nvPr/>
        </p:nvCxnSpPr>
        <p:spPr>
          <a:xfrm>
            <a:off x="666750" y="2520000"/>
            <a:ext cx="10858500" cy="1"/>
          </a:xfrm>
          <a:prstGeom prst="line">
            <a:avLst/>
          </a:prstGeom>
          <a:ln w="18000">
            <a:solidFill>
              <a:srgbClr val="D8DEE6"/>
            </a:solidFill>
          </a:ln>
        </p:spPr>
      </p:cxnSp>
      <p:sp>
        <p:nvSpPr>
          <p:cNvPr id="130" name="Rectangle"/>
          <p:cNvSpPr/>
          <p:nvPr/>
        </p:nvSpPr>
        <p:spPr>
          <a:xfrm>
            <a:off x="809625" y="3047999"/>
            <a:ext cx="2333625" cy="1400165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DE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1" name="Text"/>
          <p:cNvSpPr txBox="1"/>
          <p:nvPr/>
        </p:nvSpPr>
        <p:spPr>
          <a:xfrm>
            <a:off x="1000125" y="3276600"/>
            <a:ext cx="1952625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b="1">
                <a:solidFill>
                  <a:srgbClr val="1F2933"/>
                </a:solidFill>
                <a:latin typeface="Arial"/>
              </a:rPr>
              <a:t>Raw events</a:t>
            </a:r>
          </a:p>
        </p:txBody>
      </p:sp>
      <p:sp>
        <p:nvSpPr>
          <p:cNvPr id="132" name="Text"/>
          <p:cNvSpPr txBox="1"/>
          <p:nvPr/>
        </p:nvSpPr>
        <p:spPr>
          <a:xfrm>
            <a:off x="1000125" y="3714750"/>
            <a:ext cx="1952625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5F6B7A"/>
                </a:solidFill>
                <a:latin typeface="Arial"/>
              </a:rPr>
              <a:t>Event data</a:t>
            </a:r>
          </a:p>
        </p:txBody>
      </p:sp>
      <p:cxnSp>
        <p:nvCxnSpPr>
          <p:cNvPr id="160" name="Line"/>
          <p:cNvCxnSpPr/>
          <p:nvPr/>
        </p:nvCxnSpPr>
        <p:spPr>
          <a:xfrm>
            <a:off x="3143250" y="3676650"/>
            <a:ext cx="476250" cy="1"/>
          </a:xfrm>
          <a:prstGeom prst="line">
            <a:avLst/>
          </a:prstGeom>
          <a:ln w="18000">
            <a:solidFill>
              <a:srgbClr val="1F77B4"/>
            </a:solidFill>
          </a:ln>
        </p:spPr>
      </p:cxnSp>
      <p:sp>
        <p:nvSpPr>
          <p:cNvPr id="136" name="Rectangle"/>
          <p:cNvSpPr/>
          <p:nvPr/>
        </p:nvSpPr>
        <p:spPr>
          <a:xfrm>
            <a:off x="3619500" y="3047999"/>
            <a:ext cx="2333625" cy="1400165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DE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7" name="Text"/>
          <p:cNvSpPr txBox="1"/>
          <p:nvPr/>
        </p:nvSpPr>
        <p:spPr>
          <a:xfrm>
            <a:off x="3810000" y="3276600"/>
            <a:ext cx="2143125" cy="41549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b="1" dirty="0">
                <a:solidFill>
                  <a:srgbClr val="1F2933"/>
                </a:solidFill>
                <a:latin typeface="Arial"/>
              </a:rPr>
              <a:t>User-day</a:t>
            </a:r>
          </a:p>
        </p:txBody>
      </p:sp>
      <p:sp>
        <p:nvSpPr>
          <p:cNvPr id="138" name="Text"/>
          <p:cNvSpPr txBox="1"/>
          <p:nvPr/>
        </p:nvSpPr>
        <p:spPr>
          <a:xfrm>
            <a:off x="3810000" y="3714750"/>
            <a:ext cx="1952625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5F6B7A"/>
                </a:solidFill>
                <a:latin typeface="Arial"/>
              </a:rPr>
              <a:t>Arrival + purchase</a:t>
            </a:r>
          </a:p>
        </p:txBody>
      </p:sp>
      <p:cxnSp>
        <p:nvCxnSpPr>
          <p:cNvPr id="161" name="Line"/>
          <p:cNvCxnSpPr/>
          <p:nvPr/>
        </p:nvCxnSpPr>
        <p:spPr>
          <a:xfrm>
            <a:off x="5953125" y="3676650"/>
            <a:ext cx="476250" cy="1"/>
          </a:xfrm>
          <a:prstGeom prst="line">
            <a:avLst/>
          </a:prstGeom>
          <a:ln w="18000">
            <a:solidFill>
              <a:srgbClr val="1F77B4"/>
            </a:solidFill>
          </a:ln>
        </p:spPr>
      </p:cxnSp>
      <p:sp>
        <p:nvSpPr>
          <p:cNvPr id="142" name="Rectangle"/>
          <p:cNvSpPr/>
          <p:nvPr/>
        </p:nvSpPr>
        <p:spPr>
          <a:xfrm>
            <a:off x="6429375" y="3047999"/>
            <a:ext cx="2333625" cy="1400165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DE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3" name="Text"/>
          <p:cNvSpPr txBox="1"/>
          <p:nvPr/>
        </p:nvSpPr>
        <p:spPr>
          <a:xfrm>
            <a:off x="6619875" y="3276600"/>
            <a:ext cx="1952625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b="1">
                <a:solidFill>
                  <a:srgbClr val="1F2933"/>
                </a:solidFill>
                <a:latin typeface="Arial"/>
              </a:rPr>
              <a:t>Duration</a:t>
            </a:r>
          </a:p>
        </p:txBody>
      </p:sp>
      <p:sp>
        <p:nvSpPr>
          <p:cNvPr id="144" name="Text"/>
          <p:cNvSpPr txBox="1"/>
          <p:nvPr/>
        </p:nvSpPr>
        <p:spPr>
          <a:xfrm>
            <a:off x="6619875" y="3714750"/>
            <a:ext cx="1952625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5F6B7A"/>
                </a:solidFill>
                <a:latin typeface="Arial"/>
              </a:rPr>
              <a:t>Minutes</a:t>
            </a:r>
          </a:p>
        </p:txBody>
      </p:sp>
      <p:cxnSp>
        <p:nvCxnSpPr>
          <p:cNvPr id="162" name="Line"/>
          <p:cNvCxnSpPr/>
          <p:nvPr/>
        </p:nvCxnSpPr>
        <p:spPr>
          <a:xfrm>
            <a:off x="8763000" y="3676650"/>
            <a:ext cx="476250" cy="1"/>
          </a:xfrm>
          <a:prstGeom prst="line">
            <a:avLst/>
          </a:prstGeom>
          <a:ln w="18000">
            <a:solidFill>
              <a:srgbClr val="1F77B4"/>
            </a:solidFill>
          </a:ln>
        </p:spPr>
      </p:cxnSp>
      <p:sp>
        <p:nvSpPr>
          <p:cNvPr id="148" name="Rectangle"/>
          <p:cNvSpPr/>
          <p:nvPr/>
        </p:nvSpPr>
        <p:spPr>
          <a:xfrm>
            <a:off x="9239250" y="3047999"/>
            <a:ext cx="2333625" cy="1400165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DE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9" name="Text"/>
          <p:cNvSpPr txBox="1"/>
          <p:nvPr/>
        </p:nvSpPr>
        <p:spPr>
          <a:xfrm>
            <a:off x="9429750" y="3276600"/>
            <a:ext cx="1952625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b="1">
                <a:solidFill>
                  <a:srgbClr val="1F2933"/>
                </a:solidFill>
                <a:latin typeface="Arial"/>
              </a:rPr>
              <a:t>Daily</a:t>
            </a:r>
          </a:p>
        </p:txBody>
      </p:sp>
      <p:sp>
        <p:nvSpPr>
          <p:cNvPr id="150" name="Text"/>
          <p:cNvSpPr txBox="1"/>
          <p:nvPr/>
        </p:nvSpPr>
        <p:spPr>
          <a:xfrm>
            <a:off x="9429750" y="3714750"/>
            <a:ext cx="1952625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>
                <a:solidFill>
                  <a:srgbClr val="5F6B7A"/>
                </a:solidFill>
                <a:latin typeface="Arial"/>
              </a:rPr>
              <a:t>Median + percentiles</a:t>
            </a:r>
          </a:p>
        </p:txBody>
      </p:sp>
      <p:sp>
        <p:nvSpPr>
          <p:cNvPr id="170" name="Rectangle"/>
          <p:cNvSpPr/>
          <p:nvPr/>
        </p:nvSpPr>
        <p:spPr>
          <a:xfrm>
            <a:off x="1190625" y="517207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1" name="Text"/>
          <p:cNvSpPr txBox="1"/>
          <p:nvPr/>
        </p:nvSpPr>
        <p:spPr>
          <a:xfrm>
            <a:off x="1457325" y="5039245"/>
            <a:ext cx="9220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dirty="0">
                <a:solidFill>
                  <a:srgbClr val="1F2933"/>
                </a:solidFill>
                <a:latin typeface="Arial"/>
              </a:rPr>
              <a:t>Source: tc-da-1.turing_data_analytics.raw_events.</a:t>
            </a:r>
          </a:p>
        </p:txBody>
      </p:sp>
      <p:sp>
        <p:nvSpPr>
          <p:cNvPr id="173" name="Rectangle"/>
          <p:cNvSpPr/>
          <p:nvPr/>
        </p:nvSpPr>
        <p:spPr>
          <a:xfrm>
            <a:off x="1190625" y="561022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4" name="Text"/>
          <p:cNvSpPr txBox="1"/>
          <p:nvPr/>
        </p:nvSpPr>
        <p:spPr>
          <a:xfrm>
            <a:off x="1457324" y="5506729"/>
            <a:ext cx="10685463" cy="353943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dirty="0">
                <a:solidFill>
                  <a:srgbClr val="1F2933"/>
                </a:solidFill>
                <a:latin typeface="Arial"/>
              </a:rPr>
              <a:t>Dates and durations are derived from event_timestamp.</a:t>
            </a:r>
          </a:p>
        </p:txBody>
      </p:sp>
      <p:sp>
        <p:nvSpPr>
          <p:cNvPr id="176" name="Rectangle"/>
          <p:cNvSpPr/>
          <p:nvPr/>
        </p:nvSpPr>
        <p:spPr>
          <a:xfrm>
            <a:off x="1190625" y="604837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7" name="Text"/>
          <p:cNvSpPr txBox="1"/>
          <p:nvPr/>
        </p:nvSpPr>
        <p:spPr>
          <a:xfrm>
            <a:off x="1457325" y="5944879"/>
            <a:ext cx="9220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dirty="0">
                <a:solidFill>
                  <a:srgbClr val="1F2933"/>
                </a:solidFill>
                <a:latin typeface="Arial"/>
              </a:rPr>
              <a:t>Country and category are direct fields because the table is flattened.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911</Words>
  <Application>Microsoft Macintosh PowerPoint</Application>
  <PresentationFormat>Custom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Lubana Akter</cp:lastModifiedBy>
  <cp:revision>12</cp:revision>
  <dcterms:modified xsi:type="dcterms:W3CDTF">2026-06-14T23:32:08Z</dcterms:modified>
</cp:coreProperties>
</file>