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2"/>
  </p:sldMasterIdLst>
  <p:notesMasterIdLst>
    <p:notesMasterId r:id="rId14"/>
  </p:notesMasterIdLst>
  <p:sldIdLst>
    <p:sldId id="256" r:id="rId1"/>
    <p:sldId id="257" r:id="rId2"/>
    <p:sldId id="258" r:id="rId3"/>
    <p:sldId id="259" r:id="rId4"/>
    <p:sldId id="260" r:id="rId5"/>
    <p:sldId id="261" r:id="rId6"/>
    <p:sldId id="262" r:id="rId7"/>
    <p:sldId id="263" r:id="rId8"/>
    <p:sldId id="264" r:id="rId9"/>
    <p:sldId id="265" r:id="rId10"/>
    <p:sldId id="266" r:id="rId11"/>
  </p:sldIdLst>
  <p:sldSz cx="13333333" cy="7500000" type="wide"/>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Master" Target="slideMasters/slideMaster1.xml"/>
<Relationship Id="rId13" Type="http://schemas.openxmlformats.org/officeDocument/2006/relationships/theme" Target="theme/theme1.xml"/>
<Relationship Id="rId1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Introduce the project as a quantitative survey analysis. Explain that the focus is not diagnosing mental health, but understanding patterns in treatment-seeking, workplace support, perceived consequences, and disclosure comfort. Mention that the deck follows the same story as the notebook, dashboard, and written report.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State the research question and hypotheses. Emphasize that this is a survey-based quantitative study using segmentation, hypothesis testing, and logistic regression. Say that the aim is to demonstrate research thinking: variables, hypotheses, tests, interpretation, limitations.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Explain one row as one survey response. Mention that survey data is often messy because respondents can type values differently. Highlight two important cleaning decisions: impossible ages and many gender values. This shows data preparation and reproducibility.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This is the main story slide. Walk through the three percentages slowly. The point is not simply that treatment is high, but that openness at work is lower, especially with coworkers. This creates the logic for the later recommendations.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Use this slide for H1. Explain that awareness matters: people who know that benefits or care options exist show higher treatment-seeking rates. The chi-square tests for both benefits and care options are statistically significant with p-values below 0.001.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Use this for H3. Explain that work interference is a strong severity/context signal. Be careful with language: this is association, not causation. The missing group likely includes people who did not answer because the question may not apply.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Use this for H2. Explain that stigma is measured indirectly through expected consequences and comfort discussing mental health. The tests show strong associations, so the recommendations should include confidentiality, manager training, and culture change.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Explain logistic regression in simple terms: it models a yes/no outcome. Here the outcome is whether someone sought treatment. ROC AUC of 0.891 means the model separates the two groups well, but it still does not prove causation.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Connect each recommendation to a result. For example, benefit clarity follows from the benefit and care-option findings. Manager training follows from the low supervisor discussion comfort. Stigma reduction follows from the very low coworker comfort.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Use this slide to show research maturity. A good quantitative analyst does not overclaim. Say clearly that the analysis shows associations, not causal effects, and that the sample may not represent all technology workers.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txBox="1"/>
          <p:nvPr/>
        </p:nvSpPr>
        <p:spPr>
          <a:xfrm>
            <a:off x="685800" y="914400"/>
            <a:ext cx="7772400" cy="5486400"/>
          </a:xfrm>
          <a:prstGeom prst="rect">
            <a:avLst/>
          </a:prstGeom>
          <a:noFill/>
          <a:ln>
            <a:noFill/>
          </a:ln>
        </p:spPr>
        <p:txBody>
          <a:bodyPr wrap="square"/>
          <a:lstStyle/>
          <a:p>
            <a:r>
              <a:rPr lang="en-US" sz="1200"/>
              <a:t>Close by restating the main gap. This is the sentence to remember: treatment-seeking is common, but workplace openness is constrained. Mention that the project demonstrates quantitative research skills: cleaning, segmentation, tests, model, dashboard, and written report.</a:t>
            </a:r>
          </a:p>
        </p:txBody>
      </p:sp>
    </p:spTree>
  </p:cSld>
  <p:clrMapOvr>
    <a:masterClrMapping/>
  </p:clrMapOvr>
</p:note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2933"/>
        </a:solidFill>
      </p:bgPr>
    </p:bg>
    <p:spTree>
      <p:nvGrpSpPr>
        <p:cNvPr id="1" name=""/>
        <p:cNvGrpSpPr/>
        <p:nvPr/>
      </p:nvGrpSpPr>
      <p:grpSpPr>
        <a:xfrm>
          <a:off x="0" y="0"/>
          <a:ext cx="0" cy="0"/>
          <a:chOff x="0" y="0"/>
          <a:chExt cx="0" cy="0"/>
        </a:xfrm>
      </p:grpSpPr>
      <p:sp>
        <p:nvSpPr>
          <p:cNvPr id="10" name="Rectangle"/>
          <p:cNvSpPr/>
          <p:nvPr/>
        </p:nvSpPr>
        <p:spPr>
          <a:xfrm>
            <a:off x="0" y="0"/>
            <a:ext cx="13333333" cy="7500000"/>
          </a:xfrm>
          <a:prstGeom prst="roundRect">
            <a:avLst/>
          </a:prstGeom>
          <a:solidFill>
            <a:srgbClr val="1F2933"/>
          </a:solidFill>
          <a:ln>
            <a:noFill/>
          </a:ln>
        </p:spPr>
        <p:txBody>
          <a:bodyPr/>
          <a:lstStyle/>
          <a:p/>
        </p:txBody>
      </p:sp>
      <p:sp>
        <p:nvSpPr>
          <p:cNvPr id="11" name="Text"/>
          <p:cNvSpPr txBox="1"/>
          <p:nvPr/>
        </p:nvSpPr>
        <p:spPr>
          <a:xfrm>
            <a:off x="762000" y="666750"/>
            <a:ext cx="4953000" cy="342900"/>
          </a:xfrm>
          <a:prstGeom prst="rect">
            <a:avLst/>
          </a:prstGeom>
          <a:noFill/>
          <a:ln>
            <a:noFill/>
          </a:ln>
        </p:spPr>
        <p:txBody>
          <a:bodyPr wrap="square" anchor="t">
            <a:spAutoFit/>
          </a:bodyPr>
          <a:lstStyle/>
          <a:p>
            <a:pPr algn="l"/>
            <a:r>
              <a:rPr lang="en-US" sz="1300" b="1">
                <a:solidFill>
                  <a:srgbClr val="D39B5F"/>
                </a:solidFill>
                <a:latin typeface="Aptos"/>
              </a:rPr>
              <a:t>CAPSTONE PRESENTATION</a:t>
            </a:r>
          </a:p>
        </p:txBody>
      </p:sp>
      <p:sp>
        <p:nvSpPr>
          <p:cNvPr id="12" name="Text"/>
          <p:cNvSpPr txBox="1"/>
          <p:nvPr/>
        </p:nvSpPr>
        <p:spPr>
          <a:xfrm>
            <a:off x="762000" y="1428750"/>
            <a:ext cx="8477250" cy="2952750"/>
          </a:xfrm>
          <a:prstGeom prst="rect">
            <a:avLst/>
          </a:prstGeom>
          <a:noFill/>
          <a:ln>
            <a:noFill/>
          </a:ln>
        </p:spPr>
        <p:txBody>
          <a:bodyPr wrap="square" anchor="t">
            <a:spAutoFit/>
          </a:bodyPr>
          <a:lstStyle/>
          <a:p>
            <a:pPr algn="l"/>
            <a:r>
              <a:rPr lang="en-US" sz="3800" b="1">
                <a:solidFill>
                  <a:srgbClr val="FFFFFF"/>
                </a:solidFill>
                <a:latin typeface="Aptos"/>
              </a:rPr>
              <a:t>Workplace mental health is treated privately, but disclosure at work remains constrained.</a:t>
            </a:r>
          </a:p>
        </p:txBody>
      </p:sp>
      <p:sp>
        <p:nvSpPr>
          <p:cNvPr id="13" name="Text"/>
          <p:cNvSpPr txBox="1"/>
          <p:nvPr/>
        </p:nvSpPr>
        <p:spPr>
          <a:xfrm>
            <a:off x="762000" y="4810125"/>
            <a:ext cx="8096250" cy="742950"/>
          </a:xfrm>
          <a:prstGeom prst="rect">
            <a:avLst/>
          </a:prstGeom>
          <a:noFill/>
          <a:ln>
            <a:noFill/>
          </a:ln>
        </p:spPr>
        <p:txBody>
          <a:bodyPr wrap="square" anchor="t">
            <a:spAutoFit/>
          </a:bodyPr>
          <a:lstStyle/>
          <a:p>
            <a:pPr algn="l"/>
            <a:r>
              <a:rPr lang="en-US" sz="2100">
                <a:solidFill>
                  <a:srgbClr val="D8DEE6"/>
                </a:solidFill>
                <a:latin typeface="Aptos"/>
              </a:rPr>
              <a:t>A quantitative survey analysis of the OSMI Mental Health in Tech dataset</a:t>
            </a:r>
          </a:p>
        </p:txBody>
      </p:sp>
      <p:sp>
        <p:nvSpPr>
          <p:cNvPr id="14" name="Text"/>
          <p:cNvSpPr txBox="1"/>
          <p:nvPr/>
        </p:nvSpPr>
        <p:spPr>
          <a:xfrm>
            <a:off x="762000" y="6096000"/>
            <a:ext cx="9525000" cy="323850"/>
          </a:xfrm>
          <a:prstGeom prst="rect">
            <a:avLst/>
          </a:prstGeom>
          <a:noFill/>
          <a:ln>
            <a:noFill/>
          </a:ln>
        </p:spPr>
        <p:txBody>
          <a:bodyPr wrap="square" anchor="t">
            <a:spAutoFit/>
          </a:bodyPr>
          <a:lstStyle/>
          <a:p>
            <a:pPr algn="l"/>
            <a:r>
              <a:rPr lang="en-US" sz="1300">
                <a:solidFill>
                  <a:srgbClr val="C7CED6"/>
                </a:solidFill>
                <a:latin typeface="Aptos"/>
              </a:rPr>
              <a:t>Data Analytics Capstone Project | OSMI Mental Health in Tech Survey via Kaggle</a:t>
            </a:r>
          </a:p>
        </p:txBody>
      </p:sp>
      <p:sp>
        <p:nvSpPr>
          <p:cNvPr id="20" name="Rectangle"/>
          <p:cNvSpPr/>
          <p:nvPr/>
        </p:nvSpPr>
        <p:spPr>
          <a:xfrm>
            <a:off x="9096375" y="1333500"/>
            <a:ext cx="2381250" cy="952500"/>
          </a:xfrm>
          <a:prstGeom prst="roundRect">
            <a:avLst/>
          </a:prstGeom>
          <a:solidFill>
            <a:srgbClr val="FFFFFF"/>
          </a:solidFill>
          <a:ln w="10000">
            <a:solidFill>
              <a:srgbClr val="D8DEE6"/>
            </a:solidFill>
          </a:ln>
        </p:spPr>
        <p:txBody>
          <a:bodyPr/>
          <a:lstStyle/>
          <a:p/>
        </p:txBody>
      </p:sp>
      <p:sp>
        <p:nvSpPr>
          <p:cNvPr id="21" name="Rectangle"/>
          <p:cNvSpPr/>
          <p:nvPr/>
        </p:nvSpPr>
        <p:spPr>
          <a:xfrm>
            <a:off x="9096375" y="1333500"/>
            <a:ext cx="76200" cy="952500"/>
          </a:xfrm>
          <a:prstGeom prst="roundRect">
            <a:avLst/>
          </a:prstGeom>
          <a:solidFill>
            <a:srgbClr val="D39B5F"/>
          </a:solidFill>
          <a:ln>
            <a:noFill/>
          </a:ln>
        </p:spPr>
        <p:txBody>
          <a:bodyPr/>
          <a:lstStyle/>
          <a:p/>
        </p:txBody>
      </p:sp>
      <p:sp>
        <p:nvSpPr>
          <p:cNvPr id="22" name="Text"/>
          <p:cNvSpPr txBox="1"/>
          <p:nvPr/>
        </p:nvSpPr>
        <p:spPr>
          <a:xfrm>
            <a:off x="9324975" y="1504950"/>
            <a:ext cx="2000250" cy="266700"/>
          </a:xfrm>
          <a:prstGeom prst="rect">
            <a:avLst/>
          </a:prstGeom>
          <a:noFill/>
          <a:ln>
            <a:noFill/>
          </a:ln>
        </p:spPr>
        <p:txBody>
          <a:bodyPr wrap="square" anchor="t">
            <a:spAutoFit/>
          </a:bodyPr>
          <a:lstStyle/>
          <a:p>
            <a:pPr algn="l"/>
            <a:r>
              <a:rPr lang="en-US" sz="1300">
                <a:solidFill>
                  <a:srgbClr val="5F6B7A"/>
                </a:solidFill>
                <a:latin typeface="Aptos"/>
              </a:rPr>
              <a:t>Survey responses</a:t>
            </a:r>
          </a:p>
        </p:txBody>
      </p:sp>
      <p:sp>
        <p:nvSpPr>
          <p:cNvPr id="23" name="Text"/>
          <p:cNvSpPr txBox="1"/>
          <p:nvPr/>
        </p:nvSpPr>
        <p:spPr>
          <a:xfrm>
            <a:off x="9324975" y="1828800"/>
            <a:ext cx="2000250" cy="400050"/>
          </a:xfrm>
          <a:prstGeom prst="rect">
            <a:avLst/>
          </a:prstGeom>
          <a:noFill/>
          <a:ln>
            <a:noFill/>
          </a:ln>
        </p:spPr>
        <p:txBody>
          <a:bodyPr wrap="square" anchor="t">
            <a:spAutoFit/>
          </a:bodyPr>
          <a:lstStyle/>
          <a:p>
            <a:pPr algn="l"/>
            <a:r>
              <a:rPr lang="en-US" sz="2400" b="1">
                <a:solidFill>
                  <a:srgbClr val="1F2933"/>
                </a:solidFill>
                <a:latin typeface="Aptos"/>
              </a:rPr>
              <a:t>1,259</a:t>
            </a:r>
          </a:p>
        </p:txBody>
      </p:sp>
      <p:sp>
        <p:nvSpPr>
          <p:cNvPr id="30" name="Rectangle"/>
          <p:cNvSpPr/>
          <p:nvPr/>
        </p:nvSpPr>
        <p:spPr>
          <a:xfrm>
            <a:off x="9096375" y="2571750"/>
            <a:ext cx="2381250" cy="952500"/>
          </a:xfrm>
          <a:prstGeom prst="roundRect">
            <a:avLst/>
          </a:prstGeom>
          <a:solidFill>
            <a:srgbClr val="FFFFFF"/>
          </a:solidFill>
          <a:ln w="10000">
            <a:solidFill>
              <a:srgbClr val="D8DEE6"/>
            </a:solidFill>
          </a:ln>
        </p:spPr>
        <p:txBody>
          <a:bodyPr/>
          <a:lstStyle/>
          <a:p/>
        </p:txBody>
      </p:sp>
      <p:sp>
        <p:nvSpPr>
          <p:cNvPr id="31" name="Rectangle"/>
          <p:cNvSpPr/>
          <p:nvPr/>
        </p:nvSpPr>
        <p:spPr>
          <a:xfrm>
            <a:off x="9096375" y="2571750"/>
            <a:ext cx="76200" cy="952500"/>
          </a:xfrm>
          <a:prstGeom prst="roundRect">
            <a:avLst/>
          </a:prstGeom>
          <a:solidFill>
            <a:srgbClr val="2F6F73"/>
          </a:solidFill>
          <a:ln>
            <a:noFill/>
          </a:ln>
        </p:spPr>
        <p:txBody>
          <a:bodyPr/>
          <a:lstStyle/>
          <a:p/>
        </p:txBody>
      </p:sp>
      <p:sp>
        <p:nvSpPr>
          <p:cNvPr id="32" name="Text"/>
          <p:cNvSpPr txBox="1"/>
          <p:nvPr/>
        </p:nvSpPr>
        <p:spPr>
          <a:xfrm>
            <a:off x="9324975" y="2743200"/>
            <a:ext cx="2000250" cy="266700"/>
          </a:xfrm>
          <a:prstGeom prst="rect">
            <a:avLst/>
          </a:prstGeom>
          <a:noFill/>
          <a:ln>
            <a:noFill/>
          </a:ln>
        </p:spPr>
        <p:txBody>
          <a:bodyPr wrap="square" anchor="t">
            <a:spAutoFit/>
          </a:bodyPr>
          <a:lstStyle/>
          <a:p>
            <a:pPr algn="l"/>
            <a:r>
              <a:rPr lang="en-US" sz="1300">
                <a:solidFill>
                  <a:srgbClr val="5F6B7A"/>
                </a:solidFill>
                <a:latin typeface="Aptos"/>
              </a:rPr>
              <a:t>Sought treatment</a:t>
            </a:r>
          </a:p>
        </p:txBody>
      </p:sp>
      <p:sp>
        <p:nvSpPr>
          <p:cNvPr id="33" name="Text"/>
          <p:cNvSpPr txBox="1"/>
          <p:nvPr/>
        </p:nvSpPr>
        <p:spPr>
          <a:xfrm>
            <a:off x="9324975" y="3067050"/>
            <a:ext cx="2000250" cy="400050"/>
          </a:xfrm>
          <a:prstGeom prst="rect">
            <a:avLst/>
          </a:prstGeom>
          <a:noFill/>
          <a:ln>
            <a:noFill/>
          </a:ln>
        </p:spPr>
        <p:txBody>
          <a:bodyPr wrap="square" anchor="t">
            <a:spAutoFit/>
          </a:bodyPr>
          <a:lstStyle/>
          <a:p>
            <a:pPr algn="l"/>
            <a:r>
              <a:rPr lang="en-US" sz="2400" b="1">
                <a:solidFill>
                  <a:srgbClr val="1F2933"/>
                </a:solidFill>
                <a:latin typeface="Aptos"/>
              </a:rPr>
              <a:t>50.6%</a:t>
            </a:r>
          </a:p>
        </p:txBody>
      </p:sp>
      <p:sp>
        <p:nvSpPr>
          <p:cNvPr id="40" name="Rectangle"/>
          <p:cNvSpPr/>
          <p:nvPr/>
        </p:nvSpPr>
        <p:spPr>
          <a:xfrm>
            <a:off x="9096375" y="3810000"/>
            <a:ext cx="2381250" cy="952500"/>
          </a:xfrm>
          <a:prstGeom prst="roundRect">
            <a:avLst/>
          </a:prstGeom>
          <a:solidFill>
            <a:srgbClr val="FFFFFF"/>
          </a:solidFill>
          <a:ln w="10000">
            <a:solidFill>
              <a:srgbClr val="D8DEE6"/>
            </a:solidFill>
          </a:ln>
        </p:spPr>
        <p:txBody>
          <a:bodyPr/>
          <a:lstStyle/>
          <a:p/>
        </p:txBody>
      </p:sp>
      <p:sp>
        <p:nvSpPr>
          <p:cNvPr id="41" name="Rectangle"/>
          <p:cNvSpPr/>
          <p:nvPr/>
        </p:nvSpPr>
        <p:spPr>
          <a:xfrm>
            <a:off x="9096375" y="3810000"/>
            <a:ext cx="76200" cy="952500"/>
          </a:xfrm>
          <a:prstGeom prst="roundRect">
            <a:avLst/>
          </a:prstGeom>
          <a:solidFill>
            <a:srgbClr val="C25746"/>
          </a:solidFill>
          <a:ln>
            <a:noFill/>
          </a:ln>
        </p:spPr>
        <p:txBody>
          <a:bodyPr/>
          <a:lstStyle/>
          <a:p/>
        </p:txBody>
      </p:sp>
      <p:sp>
        <p:nvSpPr>
          <p:cNvPr id="42" name="Text"/>
          <p:cNvSpPr txBox="1"/>
          <p:nvPr/>
        </p:nvSpPr>
        <p:spPr>
          <a:xfrm>
            <a:off x="9324975" y="3981450"/>
            <a:ext cx="2000250" cy="266700"/>
          </a:xfrm>
          <a:prstGeom prst="rect">
            <a:avLst/>
          </a:prstGeom>
          <a:noFill/>
          <a:ln>
            <a:noFill/>
          </a:ln>
        </p:spPr>
        <p:txBody>
          <a:bodyPr wrap="square" anchor="t">
            <a:spAutoFit/>
          </a:bodyPr>
          <a:lstStyle/>
          <a:p>
            <a:pPr algn="l"/>
            <a:r>
              <a:rPr lang="en-US" sz="1300">
                <a:solidFill>
                  <a:srgbClr val="5F6B7A"/>
                </a:solidFill>
                <a:latin typeface="Aptos"/>
              </a:rPr>
              <a:t>Coworker comfort</a:t>
            </a:r>
          </a:p>
        </p:txBody>
      </p:sp>
      <p:sp>
        <p:nvSpPr>
          <p:cNvPr id="43" name="Text"/>
          <p:cNvSpPr txBox="1"/>
          <p:nvPr/>
        </p:nvSpPr>
        <p:spPr>
          <a:xfrm>
            <a:off x="9324975" y="4305300"/>
            <a:ext cx="2000250" cy="400050"/>
          </a:xfrm>
          <a:prstGeom prst="rect">
            <a:avLst/>
          </a:prstGeom>
          <a:noFill/>
          <a:ln>
            <a:noFill/>
          </a:ln>
        </p:spPr>
        <p:txBody>
          <a:bodyPr wrap="square" anchor="t">
            <a:spAutoFit/>
          </a:bodyPr>
          <a:lstStyle/>
          <a:p>
            <a:pPr algn="l"/>
            <a:r>
              <a:rPr lang="en-US" sz="2400" b="1">
                <a:solidFill>
                  <a:srgbClr val="1F2933"/>
                </a:solidFill>
                <a:latin typeface="Aptos"/>
              </a:rPr>
              <a:t>17.9%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1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RESEARCH DESIGN</a:t>
            </a:r>
          </a:p>
        </p:txBody>
      </p:sp>
      <p:sp>
        <p:nvSpPr>
          <p:cNvPr id="1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project tests how workplace support and stigma relate to treatment-seeking.</a:t>
            </a:r>
          </a:p>
        </p:txBody>
      </p:sp>
      <p:sp>
        <p:nvSpPr>
          <p:cNvPr id="1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Research question: What workplace and personal factors are associated with mental health treatment-seeking and disclosure comfort among technology workers?</a:t>
            </a:r>
          </a:p>
        </p:txBody>
      </p:sp>
      <p:cxnSp>
        <p:nvCxnSpPr>
          <p:cNvPr id="13" name="Line"/>
          <p:cNvCxnSpPr/>
          <p:nvPr/>
        </p:nvCxnSpPr>
        <p:spPr>
          <a:xfrm>
            <a:off x="666750" y="2381250"/>
            <a:ext cx="10858500" cy="1"/>
          </a:xfrm>
          <a:prstGeom prst="line">
            <a:avLst/>
          </a:prstGeom>
          <a:ln w="18000">
            <a:solidFill>
              <a:srgbClr val="D8DEE6"/>
            </a:solidFill>
          </a:ln>
        </p:spPr>
      </p:cxnSp>
      <p:sp>
        <p:nvSpPr>
          <p:cNvPr id="20" name="Rectangle"/>
          <p:cNvSpPr/>
          <p:nvPr/>
        </p:nvSpPr>
        <p:spPr>
          <a:xfrm>
            <a:off x="857250" y="2571750"/>
            <a:ext cx="4762500" cy="1095375"/>
          </a:xfrm>
          <a:prstGeom prst="roundRect">
            <a:avLst/>
          </a:prstGeom>
          <a:solidFill>
            <a:srgbClr val="FFFFFF"/>
          </a:solidFill>
          <a:ln w="10000">
            <a:solidFill>
              <a:srgbClr val="D8DEE6"/>
            </a:solidFill>
          </a:ln>
        </p:spPr>
        <p:txBody>
          <a:bodyPr/>
          <a:lstStyle/>
          <a:p/>
        </p:txBody>
      </p:sp>
      <p:sp>
        <p:nvSpPr>
          <p:cNvPr id="21" name="Text"/>
          <p:cNvSpPr txBox="1"/>
          <p:nvPr/>
        </p:nvSpPr>
        <p:spPr>
          <a:xfrm>
            <a:off x="1066800" y="2743200"/>
            <a:ext cx="552450" cy="400050"/>
          </a:xfrm>
          <a:prstGeom prst="rect">
            <a:avLst/>
          </a:prstGeom>
          <a:noFill/>
          <a:ln>
            <a:noFill/>
          </a:ln>
        </p:spPr>
        <p:txBody>
          <a:bodyPr wrap="square" anchor="t">
            <a:spAutoFit/>
          </a:bodyPr>
          <a:lstStyle/>
          <a:p>
            <a:pPr algn="l"/>
            <a:r>
              <a:rPr lang="en-US" sz="2200" b="1">
                <a:solidFill>
                  <a:srgbClr val="2F6F73"/>
                </a:solidFill>
                <a:latin typeface="Aptos"/>
              </a:rPr>
              <a:t>H1</a:t>
            </a:r>
          </a:p>
        </p:txBody>
      </p:sp>
      <p:sp>
        <p:nvSpPr>
          <p:cNvPr id="22" name="Text"/>
          <p:cNvSpPr txBox="1"/>
          <p:nvPr/>
        </p:nvSpPr>
        <p:spPr>
          <a:xfrm>
            <a:off x="1733550" y="2762250"/>
            <a:ext cx="3476625" cy="666750"/>
          </a:xfrm>
          <a:prstGeom prst="rect">
            <a:avLst/>
          </a:prstGeom>
          <a:noFill/>
          <a:ln>
            <a:noFill/>
          </a:ln>
        </p:spPr>
        <p:txBody>
          <a:bodyPr wrap="square" anchor="t">
            <a:spAutoFit/>
          </a:bodyPr>
          <a:lstStyle/>
          <a:p>
            <a:pPr algn="l"/>
            <a:r>
              <a:rPr lang="en-US" sz="1800">
                <a:solidFill>
                  <a:srgbClr val="1F2933"/>
                </a:solidFill>
                <a:latin typeface="Aptos"/>
              </a:rPr>
              <a:t>Benefits awareness is associated with treatment-seeking.</a:t>
            </a:r>
          </a:p>
        </p:txBody>
      </p:sp>
      <p:sp>
        <p:nvSpPr>
          <p:cNvPr id="25" name="Rectangle"/>
          <p:cNvSpPr/>
          <p:nvPr/>
        </p:nvSpPr>
        <p:spPr>
          <a:xfrm>
            <a:off x="6143625" y="2571750"/>
            <a:ext cx="4762500" cy="1095375"/>
          </a:xfrm>
          <a:prstGeom prst="roundRect">
            <a:avLst/>
          </a:prstGeom>
          <a:solidFill>
            <a:srgbClr val="FFFFFF"/>
          </a:solidFill>
          <a:ln w="10000">
            <a:solidFill>
              <a:srgbClr val="D8DEE6"/>
            </a:solidFill>
          </a:ln>
        </p:spPr>
        <p:txBody>
          <a:bodyPr/>
          <a:lstStyle/>
          <a:p/>
        </p:txBody>
      </p:sp>
      <p:sp>
        <p:nvSpPr>
          <p:cNvPr id="26" name="Text"/>
          <p:cNvSpPr txBox="1"/>
          <p:nvPr/>
        </p:nvSpPr>
        <p:spPr>
          <a:xfrm>
            <a:off x="6353175" y="2743200"/>
            <a:ext cx="552450" cy="400050"/>
          </a:xfrm>
          <a:prstGeom prst="rect">
            <a:avLst/>
          </a:prstGeom>
          <a:noFill/>
          <a:ln>
            <a:noFill/>
          </a:ln>
        </p:spPr>
        <p:txBody>
          <a:bodyPr wrap="square" anchor="t">
            <a:spAutoFit/>
          </a:bodyPr>
          <a:lstStyle/>
          <a:p>
            <a:pPr algn="l"/>
            <a:r>
              <a:rPr lang="en-US" sz="2200" b="1">
                <a:solidFill>
                  <a:srgbClr val="2F6F73"/>
                </a:solidFill>
                <a:latin typeface="Aptos"/>
              </a:rPr>
              <a:t>H2</a:t>
            </a:r>
          </a:p>
        </p:txBody>
      </p:sp>
      <p:sp>
        <p:nvSpPr>
          <p:cNvPr id="27" name="Text"/>
          <p:cNvSpPr txBox="1"/>
          <p:nvPr/>
        </p:nvSpPr>
        <p:spPr>
          <a:xfrm>
            <a:off x="7019925" y="2762250"/>
            <a:ext cx="3476625" cy="666750"/>
          </a:xfrm>
          <a:prstGeom prst="rect">
            <a:avLst/>
          </a:prstGeom>
          <a:noFill/>
          <a:ln>
            <a:noFill/>
          </a:ln>
        </p:spPr>
        <p:txBody>
          <a:bodyPr wrap="square" anchor="t">
            <a:spAutoFit/>
          </a:bodyPr>
          <a:lstStyle/>
          <a:p>
            <a:pPr algn="l"/>
            <a:r>
              <a:rPr lang="en-US" sz="1800">
                <a:solidFill>
                  <a:srgbClr val="1F2933"/>
                </a:solidFill>
                <a:latin typeface="Aptos"/>
              </a:rPr>
              <a:t>Expected negative consequences reduce disclosure comfort.</a:t>
            </a:r>
          </a:p>
        </p:txBody>
      </p:sp>
      <p:sp>
        <p:nvSpPr>
          <p:cNvPr id="30" name="Rectangle"/>
          <p:cNvSpPr/>
          <p:nvPr/>
        </p:nvSpPr>
        <p:spPr>
          <a:xfrm>
            <a:off x="857250" y="4048125"/>
            <a:ext cx="4762500" cy="1095375"/>
          </a:xfrm>
          <a:prstGeom prst="roundRect">
            <a:avLst/>
          </a:prstGeom>
          <a:solidFill>
            <a:srgbClr val="FFFFFF"/>
          </a:solidFill>
          <a:ln w="10000">
            <a:solidFill>
              <a:srgbClr val="D8DEE6"/>
            </a:solidFill>
          </a:ln>
        </p:spPr>
        <p:txBody>
          <a:bodyPr/>
          <a:lstStyle/>
          <a:p/>
        </p:txBody>
      </p:sp>
      <p:sp>
        <p:nvSpPr>
          <p:cNvPr id="31" name="Text"/>
          <p:cNvSpPr txBox="1"/>
          <p:nvPr/>
        </p:nvSpPr>
        <p:spPr>
          <a:xfrm>
            <a:off x="1066800" y="4219575"/>
            <a:ext cx="552450" cy="400050"/>
          </a:xfrm>
          <a:prstGeom prst="rect">
            <a:avLst/>
          </a:prstGeom>
          <a:noFill/>
          <a:ln>
            <a:noFill/>
          </a:ln>
        </p:spPr>
        <p:txBody>
          <a:bodyPr wrap="square" anchor="t">
            <a:spAutoFit/>
          </a:bodyPr>
          <a:lstStyle/>
          <a:p>
            <a:pPr algn="l"/>
            <a:r>
              <a:rPr lang="en-US" sz="2200" b="1">
                <a:solidFill>
                  <a:srgbClr val="2F6F73"/>
                </a:solidFill>
                <a:latin typeface="Aptos"/>
              </a:rPr>
              <a:t>H3</a:t>
            </a:r>
          </a:p>
        </p:txBody>
      </p:sp>
      <p:sp>
        <p:nvSpPr>
          <p:cNvPr id="32" name="Text"/>
          <p:cNvSpPr txBox="1"/>
          <p:nvPr/>
        </p:nvSpPr>
        <p:spPr>
          <a:xfrm>
            <a:off x="1733550" y="4238625"/>
            <a:ext cx="3476625" cy="666750"/>
          </a:xfrm>
          <a:prstGeom prst="rect">
            <a:avLst/>
          </a:prstGeom>
          <a:noFill/>
          <a:ln>
            <a:noFill/>
          </a:ln>
        </p:spPr>
        <p:txBody>
          <a:bodyPr wrap="square" anchor="t">
            <a:spAutoFit/>
          </a:bodyPr>
          <a:lstStyle/>
          <a:p>
            <a:pPr algn="l"/>
            <a:r>
              <a:rPr lang="en-US" sz="1800">
                <a:solidFill>
                  <a:srgbClr val="1F2933"/>
                </a:solidFill>
                <a:latin typeface="Aptos"/>
              </a:rPr>
              <a:t>Work interference is associated with treatment-seeking.</a:t>
            </a:r>
          </a:p>
        </p:txBody>
      </p:sp>
      <p:sp>
        <p:nvSpPr>
          <p:cNvPr id="35" name="Rectangle"/>
          <p:cNvSpPr/>
          <p:nvPr/>
        </p:nvSpPr>
        <p:spPr>
          <a:xfrm>
            <a:off x="6143625" y="4048125"/>
            <a:ext cx="4762500" cy="1095375"/>
          </a:xfrm>
          <a:prstGeom prst="roundRect">
            <a:avLst/>
          </a:prstGeom>
          <a:solidFill>
            <a:srgbClr val="FFFFFF"/>
          </a:solidFill>
          <a:ln w="10000">
            <a:solidFill>
              <a:srgbClr val="D8DEE6"/>
            </a:solidFill>
          </a:ln>
        </p:spPr>
        <p:txBody>
          <a:bodyPr/>
          <a:lstStyle/>
          <a:p/>
        </p:txBody>
      </p:sp>
      <p:sp>
        <p:nvSpPr>
          <p:cNvPr id="36" name="Text"/>
          <p:cNvSpPr txBox="1"/>
          <p:nvPr/>
        </p:nvSpPr>
        <p:spPr>
          <a:xfrm>
            <a:off x="6353175" y="4219575"/>
            <a:ext cx="552450" cy="400050"/>
          </a:xfrm>
          <a:prstGeom prst="rect">
            <a:avLst/>
          </a:prstGeom>
          <a:noFill/>
          <a:ln>
            <a:noFill/>
          </a:ln>
        </p:spPr>
        <p:txBody>
          <a:bodyPr wrap="square" anchor="t">
            <a:spAutoFit/>
          </a:bodyPr>
          <a:lstStyle/>
          <a:p>
            <a:pPr algn="l"/>
            <a:r>
              <a:rPr lang="en-US" sz="2200" b="1">
                <a:solidFill>
                  <a:srgbClr val="2F6F73"/>
                </a:solidFill>
                <a:latin typeface="Aptos"/>
              </a:rPr>
              <a:t>H4</a:t>
            </a:r>
          </a:p>
        </p:txBody>
      </p:sp>
      <p:sp>
        <p:nvSpPr>
          <p:cNvPr id="37" name="Text"/>
          <p:cNvSpPr txBox="1"/>
          <p:nvPr/>
        </p:nvSpPr>
        <p:spPr>
          <a:xfrm>
            <a:off x="7019925" y="4238625"/>
            <a:ext cx="3476625" cy="666750"/>
          </a:xfrm>
          <a:prstGeom prst="rect">
            <a:avLst/>
          </a:prstGeom>
          <a:noFill/>
          <a:ln>
            <a:noFill/>
          </a:ln>
        </p:spPr>
        <p:txBody>
          <a:bodyPr wrap="square" anchor="t">
            <a:spAutoFit/>
          </a:bodyPr>
          <a:lstStyle/>
          <a:p>
            <a:pPr algn="l"/>
            <a:r>
              <a:rPr lang="en-US" sz="1800">
                <a:solidFill>
                  <a:srgbClr val="1F2933"/>
                </a:solidFill>
                <a:latin typeface="Aptos"/>
              </a:rPr>
              <a:t>Support indicators differ by company context.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5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DATASET</a:t>
            </a:r>
          </a:p>
        </p:txBody>
      </p:sp>
      <p:sp>
        <p:nvSpPr>
          <p:cNvPr id="5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Kaggle survey gives enough structure for a reproducible quantitative study.</a:t>
            </a:r>
          </a:p>
        </p:txBody>
      </p:sp>
      <p:sp>
        <p:nvSpPr>
          <p:cNvPr id="5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The raw file has 1,259 responses and 27 columns; the cleaned analysis file has 56 columns after variable creation.</a:t>
            </a:r>
          </a:p>
        </p:txBody>
      </p:sp>
      <p:cxnSp>
        <p:nvCxnSpPr>
          <p:cNvPr id="53" name="Line"/>
          <p:cNvCxnSpPr/>
          <p:nvPr/>
        </p:nvCxnSpPr>
        <p:spPr>
          <a:xfrm>
            <a:off x="666750" y="2381250"/>
            <a:ext cx="10858500" cy="1"/>
          </a:xfrm>
          <a:prstGeom prst="line">
            <a:avLst/>
          </a:prstGeom>
          <a:ln w="18000">
            <a:solidFill>
              <a:srgbClr val="D8DEE6"/>
            </a:solidFill>
          </a:ln>
        </p:spPr>
      </p:cxnSp>
      <p:sp>
        <p:nvSpPr>
          <p:cNvPr id="60" name="Rectangle"/>
          <p:cNvSpPr/>
          <p:nvPr/>
        </p:nvSpPr>
        <p:spPr>
          <a:xfrm>
            <a:off x="857250" y="2524125"/>
            <a:ext cx="2381250" cy="1000125"/>
          </a:xfrm>
          <a:prstGeom prst="roundRect">
            <a:avLst/>
          </a:prstGeom>
          <a:solidFill>
            <a:srgbClr val="FFFFFF"/>
          </a:solidFill>
          <a:ln w="10000">
            <a:solidFill>
              <a:srgbClr val="D8DEE6"/>
            </a:solidFill>
          </a:ln>
        </p:spPr>
        <p:txBody>
          <a:bodyPr/>
          <a:lstStyle/>
          <a:p/>
        </p:txBody>
      </p:sp>
      <p:sp>
        <p:nvSpPr>
          <p:cNvPr id="61" name="Rectangle"/>
          <p:cNvSpPr/>
          <p:nvPr/>
        </p:nvSpPr>
        <p:spPr>
          <a:xfrm>
            <a:off x="857250" y="2524125"/>
            <a:ext cx="76200" cy="1000125"/>
          </a:xfrm>
          <a:prstGeom prst="roundRect">
            <a:avLst/>
          </a:prstGeom>
          <a:solidFill>
            <a:srgbClr val="2F6F73"/>
          </a:solidFill>
          <a:ln>
            <a:noFill/>
          </a:ln>
        </p:spPr>
        <p:txBody>
          <a:bodyPr/>
          <a:lstStyle/>
          <a:p/>
        </p:txBody>
      </p:sp>
      <p:sp>
        <p:nvSpPr>
          <p:cNvPr id="62" name="Text"/>
          <p:cNvSpPr txBox="1"/>
          <p:nvPr/>
        </p:nvSpPr>
        <p:spPr>
          <a:xfrm>
            <a:off x="1085850" y="2695575"/>
            <a:ext cx="2000250" cy="266700"/>
          </a:xfrm>
          <a:prstGeom prst="rect">
            <a:avLst/>
          </a:prstGeom>
          <a:noFill/>
          <a:ln>
            <a:noFill/>
          </a:ln>
        </p:spPr>
        <p:txBody>
          <a:bodyPr wrap="square" anchor="t">
            <a:spAutoFit/>
          </a:bodyPr>
          <a:lstStyle/>
          <a:p>
            <a:pPr algn="l"/>
            <a:r>
              <a:rPr lang="en-US" sz="1300">
                <a:solidFill>
                  <a:srgbClr val="5F6B7A"/>
                </a:solidFill>
                <a:latin typeface="Aptos"/>
              </a:rPr>
              <a:t>Raw rows</a:t>
            </a:r>
          </a:p>
        </p:txBody>
      </p:sp>
      <p:sp>
        <p:nvSpPr>
          <p:cNvPr id="63" name="Text"/>
          <p:cNvSpPr txBox="1"/>
          <p:nvPr/>
        </p:nvSpPr>
        <p:spPr>
          <a:xfrm>
            <a:off x="1085850" y="3019425"/>
            <a:ext cx="2000250" cy="447675"/>
          </a:xfrm>
          <a:prstGeom prst="rect">
            <a:avLst/>
          </a:prstGeom>
          <a:noFill/>
          <a:ln>
            <a:noFill/>
          </a:ln>
        </p:spPr>
        <p:txBody>
          <a:bodyPr wrap="square" anchor="t">
            <a:spAutoFit/>
          </a:bodyPr>
          <a:lstStyle/>
          <a:p>
            <a:pPr algn="l"/>
            <a:r>
              <a:rPr lang="en-US" sz="2400" b="1">
                <a:solidFill>
                  <a:srgbClr val="1F2933"/>
                </a:solidFill>
                <a:latin typeface="Aptos"/>
              </a:rPr>
              <a:t>1,259</a:t>
            </a:r>
          </a:p>
        </p:txBody>
      </p:sp>
      <p:sp>
        <p:nvSpPr>
          <p:cNvPr id="70" name="Rectangle"/>
          <p:cNvSpPr/>
          <p:nvPr/>
        </p:nvSpPr>
        <p:spPr>
          <a:xfrm>
            <a:off x="3524250" y="2524125"/>
            <a:ext cx="2381250" cy="1000125"/>
          </a:xfrm>
          <a:prstGeom prst="roundRect">
            <a:avLst/>
          </a:prstGeom>
          <a:solidFill>
            <a:srgbClr val="FFFFFF"/>
          </a:solidFill>
          <a:ln w="10000">
            <a:solidFill>
              <a:srgbClr val="D8DEE6"/>
            </a:solidFill>
          </a:ln>
        </p:spPr>
        <p:txBody>
          <a:bodyPr/>
          <a:lstStyle/>
          <a:p/>
        </p:txBody>
      </p:sp>
      <p:sp>
        <p:nvSpPr>
          <p:cNvPr id="71" name="Rectangle"/>
          <p:cNvSpPr/>
          <p:nvPr/>
        </p:nvSpPr>
        <p:spPr>
          <a:xfrm>
            <a:off x="3524250" y="2524125"/>
            <a:ext cx="76200" cy="1000125"/>
          </a:xfrm>
          <a:prstGeom prst="roundRect">
            <a:avLst/>
          </a:prstGeom>
          <a:solidFill>
            <a:srgbClr val="D39B5F"/>
          </a:solidFill>
          <a:ln>
            <a:noFill/>
          </a:ln>
        </p:spPr>
        <p:txBody>
          <a:bodyPr/>
          <a:lstStyle/>
          <a:p/>
        </p:txBody>
      </p:sp>
      <p:sp>
        <p:nvSpPr>
          <p:cNvPr id="72" name="Text"/>
          <p:cNvSpPr txBox="1"/>
          <p:nvPr/>
        </p:nvSpPr>
        <p:spPr>
          <a:xfrm>
            <a:off x="3752850" y="2695575"/>
            <a:ext cx="2000250" cy="266700"/>
          </a:xfrm>
          <a:prstGeom prst="rect">
            <a:avLst/>
          </a:prstGeom>
          <a:noFill/>
          <a:ln>
            <a:noFill/>
          </a:ln>
        </p:spPr>
        <p:txBody>
          <a:bodyPr wrap="square" anchor="t">
            <a:spAutoFit/>
          </a:bodyPr>
          <a:lstStyle/>
          <a:p>
            <a:pPr algn="l"/>
            <a:r>
              <a:rPr lang="en-US" sz="1300">
                <a:solidFill>
                  <a:srgbClr val="5F6B7A"/>
                </a:solidFill>
                <a:latin typeface="Aptos"/>
              </a:rPr>
              <a:t>Raw columns</a:t>
            </a:r>
          </a:p>
        </p:txBody>
      </p:sp>
      <p:sp>
        <p:nvSpPr>
          <p:cNvPr id="73" name="Text"/>
          <p:cNvSpPr txBox="1"/>
          <p:nvPr/>
        </p:nvSpPr>
        <p:spPr>
          <a:xfrm>
            <a:off x="3752850" y="3019425"/>
            <a:ext cx="2000250" cy="447675"/>
          </a:xfrm>
          <a:prstGeom prst="rect">
            <a:avLst/>
          </a:prstGeom>
          <a:noFill/>
          <a:ln>
            <a:noFill/>
          </a:ln>
        </p:spPr>
        <p:txBody>
          <a:bodyPr wrap="square" anchor="t">
            <a:spAutoFit/>
          </a:bodyPr>
          <a:lstStyle/>
          <a:p>
            <a:pPr algn="l"/>
            <a:r>
              <a:rPr lang="en-US" sz="2400" b="1">
                <a:solidFill>
                  <a:srgbClr val="1F2933"/>
                </a:solidFill>
                <a:latin typeface="Aptos"/>
              </a:rPr>
              <a:t>27</a:t>
            </a:r>
          </a:p>
        </p:txBody>
      </p:sp>
      <p:sp>
        <p:nvSpPr>
          <p:cNvPr id="80" name="Rectangle"/>
          <p:cNvSpPr/>
          <p:nvPr/>
        </p:nvSpPr>
        <p:spPr>
          <a:xfrm>
            <a:off x="6191250" y="2524125"/>
            <a:ext cx="2381250" cy="1000125"/>
          </a:xfrm>
          <a:prstGeom prst="roundRect">
            <a:avLst/>
          </a:prstGeom>
          <a:solidFill>
            <a:srgbClr val="FFFFFF"/>
          </a:solidFill>
          <a:ln w="10000">
            <a:solidFill>
              <a:srgbClr val="D8DEE6"/>
            </a:solidFill>
          </a:ln>
        </p:spPr>
        <p:txBody>
          <a:bodyPr/>
          <a:lstStyle/>
          <a:p/>
        </p:txBody>
      </p:sp>
      <p:sp>
        <p:nvSpPr>
          <p:cNvPr id="81" name="Rectangle"/>
          <p:cNvSpPr/>
          <p:nvPr/>
        </p:nvSpPr>
        <p:spPr>
          <a:xfrm>
            <a:off x="6191250" y="2524125"/>
            <a:ext cx="76200" cy="1000125"/>
          </a:xfrm>
          <a:prstGeom prst="roundRect">
            <a:avLst/>
          </a:prstGeom>
          <a:solidFill>
            <a:srgbClr val="6D4C7D"/>
          </a:solidFill>
          <a:ln>
            <a:noFill/>
          </a:ln>
        </p:spPr>
        <p:txBody>
          <a:bodyPr/>
          <a:lstStyle/>
          <a:p/>
        </p:txBody>
      </p:sp>
      <p:sp>
        <p:nvSpPr>
          <p:cNvPr id="82" name="Text"/>
          <p:cNvSpPr txBox="1"/>
          <p:nvPr/>
        </p:nvSpPr>
        <p:spPr>
          <a:xfrm>
            <a:off x="6419850" y="2695575"/>
            <a:ext cx="2000250" cy="266700"/>
          </a:xfrm>
          <a:prstGeom prst="rect">
            <a:avLst/>
          </a:prstGeom>
          <a:noFill/>
          <a:ln>
            <a:noFill/>
          </a:ln>
        </p:spPr>
        <p:txBody>
          <a:bodyPr wrap="square" anchor="t">
            <a:spAutoFit/>
          </a:bodyPr>
          <a:lstStyle/>
          <a:p>
            <a:pPr algn="l"/>
            <a:r>
              <a:rPr lang="en-US" sz="1300">
                <a:solidFill>
                  <a:srgbClr val="5F6B7A"/>
                </a:solidFill>
                <a:latin typeface="Aptos"/>
              </a:rPr>
              <a:t>Cleaned columns</a:t>
            </a:r>
          </a:p>
        </p:txBody>
      </p:sp>
      <p:sp>
        <p:nvSpPr>
          <p:cNvPr id="83" name="Text"/>
          <p:cNvSpPr txBox="1"/>
          <p:nvPr/>
        </p:nvSpPr>
        <p:spPr>
          <a:xfrm>
            <a:off x="6419850" y="3019425"/>
            <a:ext cx="2000250" cy="447675"/>
          </a:xfrm>
          <a:prstGeom prst="rect">
            <a:avLst/>
          </a:prstGeom>
          <a:noFill/>
          <a:ln>
            <a:noFill/>
          </a:ln>
        </p:spPr>
        <p:txBody>
          <a:bodyPr wrap="square" anchor="t">
            <a:spAutoFit/>
          </a:bodyPr>
          <a:lstStyle/>
          <a:p>
            <a:pPr algn="l"/>
            <a:r>
              <a:rPr lang="en-US" sz="2400" b="1">
                <a:solidFill>
                  <a:srgbClr val="1F2933"/>
                </a:solidFill>
                <a:latin typeface="Aptos"/>
              </a:rPr>
              <a:t>56</a:t>
            </a:r>
          </a:p>
        </p:txBody>
      </p:sp>
      <p:sp>
        <p:nvSpPr>
          <p:cNvPr id="90" name="Rectangle"/>
          <p:cNvSpPr/>
          <p:nvPr/>
        </p:nvSpPr>
        <p:spPr>
          <a:xfrm>
            <a:off x="8858250" y="2524125"/>
            <a:ext cx="2381250" cy="1000125"/>
          </a:xfrm>
          <a:prstGeom prst="roundRect">
            <a:avLst/>
          </a:prstGeom>
          <a:solidFill>
            <a:srgbClr val="FFFFFF"/>
          </a:solidFill>
          <a:ln w="10000">
            <a:solidFill>
              <a:srgbClr val="D8DEE6"/>
            </a:solidFill>
          </a:ln>
        </p:spPr>
        <p:txBody>
          <a:bodyPr/>
          <a:lstStyle/>
          <a:p/>
        </p:txBody>
      </p:sp>
      <p:sp>
        <p:nvSpPr>
          <p:cNvPr id="91" name="Rectangle"/>
          <p:cNvSpPr/>
          <p:nvPr/>
        </p:nvSpPr>
        <p:spPr>
          <a:xfrm>
            <a:off x="8858250" y="2524125"/>
            <a:ext cx="76200" cy="1000125"/>
          </a:xfrm>
          <a:prstGeom prst="roundRect">
            <a:avLst/>
          </a:prstGeom>
          <a:solidFill>
            <a:srgbClr val="C25746"/>
          </a:solidFill>
          <a:ln>
            <a:noFill/>
          </a:ln>
        </p:spPr>
        <p:txBody>
          <a:bodyPr/>
          <a:lstStyle/>
          <a:p/>
        </p:txBody>
      </p:sp>
      <p:sp>
        <p:nvSpPr>
          <p:cNvPr id="92" name="Text"/>
          <p:cNvSpPr txBox="1"/>
          <p:nvPr/>
        </p:nvSpPr>
        <p:spPr>
          <a:xfrm>
            <a:off x="9086850" y="2695575"/>
            <a:ext cx="2000250" cy="266700"/>
          </a:xfrm>
          <a:prstGeom prst="rect">
            <a:avLst/>
          </a:prstGeom>
          <a:noFill/>
          <a:ln>
            <a:noFill/>
          </a:ln>
        </p:spPr>
        <p:txBody>
          <a:bodyPr wrap="square" anchor="t">
            <a:spAutoFit/>
          </a:bodyPr>
          <a:lstStyle/>
          <a:p>
            <a:pPr algn="l"/>
            <a:r>
              <a:rPr lang="en-US" sz="1300">
                <a:solidFill>
                  <a:srgbClr val="5F6B7A"/>
                </a:solidFill>
                <a:latin typeface="Aptos"/>
              </a:rPr>
              <a:t>Invalid ages fixed</a:t>
            </a:r>
          </a:p>
        </p:txBody>
      </p:sp>
      <p:sp>
        <p:nvSpPr>
          <p:cNvPr id="93" name="Text"/>
          <p:cNvSpPr txBox="1"/>
          <p:nvPr/>
        </p:nvSpPr>
        <p:spPr>
          <a:xfrm>
            <a:off x="9086850" y="3019425"/>
            <a:ext cx="2000250" cy="447675"/>
          </a:xfrm>
          <a:prstGeom prst="rect">
            <a:avLst/>
          </a:prstGeom>
          <a:noFill/>
          <a:ln>
            <a:noFill/>
          </a:ln>
        </p:spPr>
        <p:txBody>
          <a:bodyPr wrap="square" anchor="t">
            <a:spAutoFit/>
          </a:bodyPr>
          <a:lstStyle/>
          <a:p>
            <a:pPr algn="l"/>
            <a:r>
              <a:rPr lang="en-US" sz="2400" b="1">
                <a:solidFill>
                  <a:srgbClr val="1F2933"/>
                </a:solidFill>
                <a:latin typeface="Aptos"/>
              </a:rPr>
              <a:t>8</a:t>
            </a:r>
          </a:p>
        </p:txBody>
      </p:sp>
      <p:sp>
        <p:nvSpPr>
          <p:cNvPr id="100" name="Text"/>
          <p:cNvSpPr txBox="1"/>
          <p:nvPr/>
        </p:nvSpPr>
        <p:spPr>
          <a:xfrm>
            <a:off x="857250" y="4286250"/>
            <a:ext cx="2667000" cy="323850"/>
          </a:xfrm>
          <a:prstGeom prst="rect">
            <a:avLst/>
          </a:prstGeom>
          <a:noFill/>
          <a:ln>
            <a:noFill/>
          </a:ln>
        </p:spPr>
        <p:txBody>
          <a:bodyPr wrap="square" anchor="t">
            <a:spAutoFit/>
          </a:bodyPr>
          <a:lstStyle/>
          <a:p>
            <a:pPr algn="l"/>
            <a:r>
              <a:rPr lang="en-US" sz="2000" b="1">
                <a:solidFill>
                  <a:srgbClr val="1F2933"/>
                </a:solidFill>
                <a:latin typeface="Aptos"/>
              </a:rPr>
              <a:t>Cleaning choices</a:t>
            </a:r>
          </a:p>
        </p:txBody>
      </p:sp>
      <p:sp>
        <p:nvSpPr>
          <p:cNvPr id="101" name="Text"/>
          <p:cNvSpPr txBox="1"/>
          <p:nvPr/>
        </p:nvSpPr>
        <p:spPr>
          <a:xfrm>
            <a:off x="857250" y="4686300"/>
            <a:ext cx="9906000" cy="1000125"/>
          </a:xfrm>
          <a:prstGeom prst="rect">
            <a:avLst/>
          </a:prstGeom>
          <a:noFill/>
          <a:ln>
            <a:noFill/>
          </a:ln>
        </p:spPr>
        <p:txBody>
          <a:bodyPr wrap="square" anchor="t">
            <a:spAutoFit/>
          </a:bodyPr>
          <a:lstStyle/>
          <a:p>
            <a:pPr algn="l"/>
            <a:r>
              <a:rPr lang="en-US" sz="1700">
                <a:solidFill>
                  <a:srgbClr val="5F6B7A"/>
                </a:solidFill>
                <a:latin typeface="Aptos"/>
              </a:rPr>
              <a:t>Ages outside 18-75 were treated as missing. Gender values were grouped from 49 raw responses into four broader analysis categories. Binary and ordered variables were created for treatment, benefits, work interference, leave difficulty, and disclosure comfort.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11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KEY PATTERN</a:t>
            </a:r>
          </a:p>
        </p:txBody>
      </p:sp>
      <p:sp>
        <p:nvSpPr>
          <p:cNvPr id="11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Treatment-seeking is common, but workplace disclosure comfort is much lower.</a:t>
            </a:r>
          </a:p>
        </p:txBody>
      </p:sp>
      <p:sp>
        <p:nvSpPr>
          <p:cNvPr id="11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50.6% sought treatment, while 41.0% would discuss mental health with a supervisor and only 17.9% with coworkers.</a:t>
            </a:r>
          </a:p>
        </p:txBody>
      </p:sp>
      <p:cxnSp>
        <p:nvCxnSpPr>
          <p:cNvPr id="113" name="Line"/>
          <p:cNvCxnSpPr/>
          <p:nvPr/>
        </p:nvCxnSpPr>
        <p:spPr>
          <a:xfrm>
            <a:off x="666750" y="2381250"/>
            <a:ext cx="10858500" cy="1"/>
          </a:xfrm>
          <a:prstGeom prst="line">
            <a:avLst/>
          </a:prstGeom>
          <a:ln w="18000">
            <a:solidFill>
              <a:srgbClr val="D8DEE6"/>
            </a:solidFill>
          </a:ln>
        </p:spPr>
      </p:cxnSp>
      <p:sp>
        <p:nvSpPr>
          <p:cNvPr id="120" name="Text"/>
          <p:cNvSpPr txBox="1"/>
          <p:nvPr/>
        </p:nvSpPr>
        <p:spPr>
          <a:xfrm>
            <a:off x="1000125" y="2857500"/>
            <a:ext cx="1809750" cy="717550"/>
          </a:xfrm>
          <a:prstGeom prst="rect">
            <a:avLst/>
          </a:prstGeom>
          <a:noFill/>
          <a:ln>
            <a:noFill/>
          </a:ln>
        </p:spPr>
        <p:txBody>
          <a:bodyPr wrap="square" anchor="t">
            <a:spAutoFit/>
          </a:bodyPr>
          <a:lstStyle/>
          <a:p>
            <a:pPr algn="l"/>
            <a:r>
              <a:rPr lang="en-US" sz="1500">
                <a:solidFill>
                  <a:srgbClr val="5F6B7A"/>
                </a:solidFill>
                <a:latin typeface="Aptos"/>
              </a:rPr>
              <a:t>Sought treatment</a:t>
            </a:r>
          </a:p>
        </p:txBody>
      </p:sp>
      <p:sp>
        <p:nvSpPr>
          <p:cNvPr id="121" name="Rectangle"/>
          <p:cNvSpPr/>
          <p:nvPr/>
        </p:nvSpPr>
        <p:spPr>
          <a:xfrm>
            <a:off x="2952750" y="2857500"/>
            <a:ext cx="4953000" cy="717550"/>
          </a:xfrm>
          <a:prstGeom prst="roundRect">
            <a:avLst/>
          </a:prstGeom>
          <a:solidFill>
            <a:srgbClr val="2F6F73"/>
          </a:solidFill>
          <a:ln>
            <a:noFill/>
          </a:ln>
        </p:spPr>
        <p:txBody>
          <a:bodyPr/>
          <a:lstStyle/>
          <a:p/>
        </p:txBody>
      </p:sp>
      <p:sp>
        <p:nvSpPr>
          <p:cNvPr id="122" name="Text"/>
          <p:cNvSpPr txBox="1"/>
          <p:nvPr/>
        </p:nvSpPr>
        <p:spPr>
          <a:xfrm>
            <a:off x="8001000" y="2857500"/>
            <a:ext cx="952500" cy="717550"/>
          </a:xfrm>
          <a:prstGeom prst="rect">
            <a:avLst/>
          </a:prstGeom>
          <a:noFill/>
          <a:ln>
            <a:noFill/>
          </a:ln>
        </p:spPr>
        <p:txBody>
          <a:bodyPr wrap="square" anchor="t">
            <a:spAutoFit/>
          </a:bodyPr>
          <a:lstStyle/>
          <a:p>
            <a:pPr algn="l"/>
            <a:r>
              <a:rPr lang="en-US" sz="1600" b="1">
                <a:solidFill>
                  <a:srgbClr val="1F2933"/>
                </a:solidFill>
                <a:latin typeface="Aptos"/>
              </a:rPr>
              <a:t>50.6%</a:t>
            </a:r>
          </a:p>
        </p:txBody>
      </p:sp>
      <p:sp>
        <p:nvSpPr>
          <p:cNvPr id="123" name="Text"/>
          <p:cNvSpPr txBox="1"/>
          <p:nvPr/>
        </p:nvSpPr>
        <p:spPr>
          <a:xfrm>
            <a:off x="1000125" y="3746500"/>
            <a:ext cx="1809750" cy="717550"/>
          </a:xfrm>
          <a:prstGeom prst="rect">
            <a:avLst/>
          </a:prstGeom>
          <a:noFill/>
          <a:ln>
            <a:noFill/>
          </a:ln>
        </p:spPr>
        <p:txBody>
          <a:bodyPr wrap="square" anchor="t">
            <a:spAutoFit/>
          </a:bodyPr>
          <a:lstStyle/>
          <a:p>
            <a:pPr algn="l"/>
            <a:r>
              <a:rPr lang="en-US" sz="1500">
                <a:solidFill>
                  <a:srgbClr val="5F6B7A"/>
                </a:solidFill>
                <a:latin typeface="Aptos"/>
              </a:rPr>
              <a:t>Supervisor comfort</a:t>
            </a:r>
          </a:p>
        </p:txBody>
      </p:sp>
      <p:sp>
        <p:nvSpPr>
          <p:cNvPr id="124" name="Rectangle"/>
          <p:cNvSpPr/>
          <p:nvPr/>
        </p:nvSpPr>
        <p:spPr>
          <a:xfrm>
            <a:off x="2952750" y="3746500"/>
            <a:ext cx="4013300" cy="717550"/>
          </a:xfrm>
          <a:prstGeom prst="roundRect">
            <a:avLst/>
          </a:prstGeom>
          <a:solidFill>
            <a:srgbClr val="2F6F73"/>
          </a:solidFill>
          <a:ln>
            <a:noFill/>
          </a:ln>
        </p:spPr>
        <p:txBody>
          <a:bodyPr/>
          <a:lstStyle/>
          <a:p/>
        </p:txBody>
      </p:sp>
      <p:sp>
        <p:nvSpPr>
          <p:cNvPr id="125" name="Text"/>
          <p:cNvSpPr txBox="1"/>
          <p:nvPr/>
        </p:nvSpPr>
        <p:spPr>
          <a:xfrm>
            <a:off x="7061300" y="3746500"/>
            <a:ext cx="952500" cy="717550"/>
          </a:xfrm>
          <a:prstGeom prst="rect">
            <a:avLst/>
          </a:prstGeom>
          <a:noFill/>
          <a:ln>
            <a:noFill/>
          </a:ln>
        </p:spPr>
        <p:txBody>
          <a:bodyPr wrap="square" anchor="t">
            <a:spAutoFit/>
          </a:bodyPr>
          <a:lstStyle/>
          <a:p>
            <a:pPr algn="l"/>
            <a:r>
              <a:rPr lang="en-US" sz="1600" b="1">
                <a:solidFill>
                  <a:srgbClr val="1F2933"/>
                </a:solidFill>
                <a:latin typeface="Aptos"/>
              </a:rPr>
              <a:t>41.0%</a:t>
            </a:r>
          </a:p>
        </p:txBody>
      </p:sp>
      <p:sp>
        <p:nvSpPr>
          <p:cNvPr id="126" name="Text"/>
          <p:cNvSpPr txBox="1"/>
          <p:nvPr/>
        </p:nvSpPr>
        <p:spPr>
          <a:xfrm>
            <a:off x="1000125" y="4635500"/>
            <a:ext cx="1809750" cy="717550"/>
          </a:xfrm>
          <a:prstGeom prst="rect">
            <a:avLst/>
          </a:prstGeom>
          <a:noFill/>
          <a:ln>
            <a:noFill/>
          </a:ln>
        </p:spPr>
        <p:txBody>
          <a:bodyPr wrap="square" anchor="t">
            <a:spAutoFit/>
          </a:bodyPr>
          <a:lstStyle/>
          <a:p>
            <a:pPr algn="l"/>
            <a:r>
              <a:rPr lang="en-US" sz="1500">
                <a:solidFill>
                  <a:srgbClr val="5F6B7A"/>
                </a:solidFill>
                <a:latin typeface="Aptos"/>
              </a:rPr>
              <a:t>Coworker comfort</a:t>
            </a:r>
          </a:p>
        </p:txBody>
      </p:sp>
      <p:sp>
        <p:nvSpPr>
          <p:cNvPr id="127" name="Rectangle"/>
          <p:cNvSpPr/>
          <p:nvPr/>
        </p:nvSpPr>
        <p:spPr>
          <a:xfrm>
            <a:off x="2952750" y="4635500"/>
            <a:ext cx="1752148" cy="717550"/>
          </a:xfrm>
          <a:prstGeom prst="roundRect">
            <a:avLst/>
          </a:prstGeom>
          <a:solidFill>
            <a:srgbClr val="2F6F73"/>
          </a:solidFill>
          <a:ln>
            <a:noFill/>
          </a:ln>
        </p:spPr>
        <p:txBody>
          <a:bodyPr/>
          <a:lstStyle/>
          <a:p/>
        </p:txBody>
      </p:sp>
      <p:sp>
        <p:nvSpPr>
          <p:cNvPr id="128" name="Text"/>
          <p:cNvSpPr txBox="1"/>
          <p:nvPr/>
        </p:nvSpPr>
        <p:spPr>
          <a:xfrm>
            <a:off x="4800148" y="4635500"/>
            <a:ext cx="952500" cy="717550"/>
          </a:xfrm>
          <a:prstGeom prst="rect">
            <a:avLst/>
          </a:prstGeom>
          <a:noFill/>
          <a:ln>
            <a:noFill/>
          </a:ln>
        </p:spPr>
        <p:txBody>
          <a:bodyPr wrap="square" anchor="t">
            <a:spAutoFit/>
          </a:bodyPr>
          <a:lstStyle/>
          <a:p>
            <a:pPr algn="l"/>
            <a:r>
              <a:rPr lang="en-US" sz="1600" b="1">
                <a:solidFill>
                  <a:srgbClr val="1F2933"/>
                </a:solidFill>
                <a:latin typeface="Aptos"/>
              </a:rPr>
              <a:t>17.9%</a:t>
            </a:r>
          </a:p>
        </p:txBody>
      </p:sp>
      <p:sp>
        <p:nvSpPr>
          <p:cNvPr id="140" name="Rectangle"/>
          <p:cNvSpPr/>
          <p:nvPr/>
        </p:nvSpPr>
        <p:spPr>
          <a:xfrm>
            <a:off x="8572500" y="2781300"/>
            <a:ext cx="2524125" cy="2619375"/>
          </a:xfrm>
          <a:prstGeom prst="roundRect">
            <a:avLst/>
          </a:prstGeom>
          <a:solidFill>
            <a:srgbClr val="FFFFFF"/>
          </a:solidFill>
          <a:ln w="10000">
            <a:solidFill>
              <a:srgbClr val="D8DEE6"/>
            </a:solidFill>
          </a:ln>
        </p:spPr>
        <p:txBody>
          <a:bodyPr/>
          <a:lstStyle/>
          <a:p/>
        </p:txBody>
      </p:sp>
      <p:sp>
        <p:nvSpPr>
          <p:cNvPr id="141" name="Text"/>
          <p:cNvSpPr txBox="1"/>
          <p:nvPr/>
        </p:nvSpPr>
        <p:spPr>
          <a:xfrm>
            <a:off x="8810625" y="3048000"/>
            <a:ext cx="2000250" cy="323850"/>
          </a:xfrm>
          <a:prstGeom prst="rect">
            <a:avLst/>
          </a:prstGeom>
          <a:noFill/>
          <a:ln>
            <a:noFill/>
          </a:ln>
        </p:spPr>
        <p:txBody>
          <a:bodyPr wrap="square" anchor="t">
            <a:spAutoFit/>
          </a:bodyPr>
          <a:lstStyle/>
          <a:p>
            <a:pPr algn="l"/>
            <a:r>
              <a:rPr lang="en-US" sz="2000" b="1">
                <a:solidFill>
                  <a:srgbClr val="1F2933"/>
                </a:solidFill>
                <a:latin typeface="Aptos"/>
              </a:rPr>
              <a:t>Main insight</a:t>
            </a:r>
          </a:p>
        </p:txBody>
      </p:sp>
      <p:sp>
        <p:nvSpPr>
          <p:cNvPr id="142" name="Text"/>
          <p:cNvSpPr txBox="1"/>
          <p:nvPr/>
        </p:nvSpPr>
        <p:spPr>
          <a:xfrm>
            <a:off x="8810625" y="3543300"/>
            <a:ext cx="1952625" cy="1524000"/>
          </a:xfrm>
          <a:prstGeom prst="rect">
            <a:avLst/>
          </a:prstGeom>
          <a:noFill/>
          <a:ln>
            <a:noFill/>
          </a:ln>
        </p:spPr>
        <p:txBody>
          <a:bodyPr wrap="square" anchor="t">
            <a:spAutoFit/>
          </a:bodyPr>
          <a:lstStyle/>
          <a:p>
            <a:pPr algn="l"/>
            <a:r>
              <a:rPr lang="en-US" sz="1400">
                <a:solidFill>
                  <a:srgbClr val="5F6B7A"/>
                </a:solidFill>
                <a:latin typeface="Aptos"/>
              </a:rPr>
              <a:t>Many respondents act privately by seeking treatment, while fewer feel safe discussing mental health needs at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15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WORKPLACE SUPPORT</a:t>
            </a:r>
          </a:p>
        </p:txBody>
      </p:sp>
      <p:sp>
        <p:nvSpPr>
          <p:cNvPr id="15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Benefit and care-option awareness are linked with higher treatment-seeking.</a:t>
            </a:r>
          </a:p>
        </p:txBody>
      </p:sp>
      <p:sp>
        <p:nvSpPr>
          <p:cNvPr id="15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Treatment rate is 63.9% when benefits are known, compared with 37.0% when respondents do not know whether benefits exist.</a:t>
            </a:r>
          </a:p>
        </p:txBody>
      </p:sp>
      <p:cxnSp>
        <p:nvCxnSpPr>
          <p:cNvPr id="153" name="Line"/>
          <p:cNvCxnSpPr/>
          <p:nvPr/>
        </p:nvCxnSpPr>
        <p:spPr>
          <a:xfrm>
            <a:off x="666750" y="2381250"/>
            <a:ext cx="10858500" cy="1"/>
          </a:xfrm>
          <a:prstGeom prst="line">
            <a:avLst/>
          </a:prstGeom>
          <a:ln w="18000">
            <a:solidFill>
              <a:srgbClr val="D8DEE6"/>
            </a:solidFill>
          </a:ln>
        </p:spPr>
      </p:cxnSp>
      <p:sp>
        <p:nvSpPr>
          <p:cNvPr id="160" name="Rectangle"/>
          <p:cNvSpPr/>
          <p:nvPr/>
        </p:nvSpPr>
        <p:spPr>
          <a:xfrm>
            <a:off x="904875" y="2857500"/>
            <a:ext cx="4762500" cy="2667000"/>
          </a:xfrm>
          <a:prstGeom prst="roundRect">
            <a:avLst/>
          </a:prstGeom>
          <a:solidFill>
            <a:srgbClr val="FFFFFF"/>
          </a:solidFill>
          <a:ln w="10000">
            <a:solidFill>
              <a:srgbClr val="D8DEE6"/>
            </a:solidFill>
          </a:ln>
        </p:spPr>
        <p:txBody>
          <a:bodyPr/>
          <a:lstStyle/>
          <a:p/>
        </p:txBody>
      </p:sp>
      <p:sp>
        <p:nvSpPr>
          <p:cNvPr id="161" name="Text"/>
          <p:cNvSpPr txBox="1"/>
          <p:nvPr/>
        </p:nvSpPr>
        <p:spPr>
          <a:xfrm>
            <a:off x="1190625" y="3124200"/>
            <a:ext cx="3619500" cy="323850"/>
          </a:xfrm>
          <a:prstGeom prst="rect">
            <a:avLst/>
          </a:prstGeom>
          <a:noFill/>
          <a:ln>
            <a:noFill/>
          </a:ln>
        </p:spPr>
        <p:txBody>
          <a:bodyPr wrap="square" anchor="t">
            <a:spAutoFit/>
          </a:bodyPr>
          <a:lstStyle/>
          <a:p>
            <a:pPr algn="l"/>
            <a:r>
              <a:rPr lang="en-US" sz="2100" b="1">
                <a:solidFill>
                  <a:srgbClr val="1F2933"/>
                </a:solidFill>
                <a:latin typeface="Aptos"/>
              </a:rPr>
              <a:t>Employer benefits</a:t>
            </a:r>
          </a:p>
        </p:txBody>
      </p:sp>
      <p:sp>
        <p:nvSpPr>
          <p:cNvPr id="162" name="Text"/>
          <p:cNvSpPr txBox="1"/>
          <p:nvPr/>
        </p:nvSpPr>
        <p:spPr>
          <a:xfrm>
            <a:off x="1238250" y="3714750"/>
            <a:ext cx="2190750" cy="304800"/>
          </a:xfrm>
          <a:prstGeom prst="rect">
            <a:avLst/>
          </a:prstGeom>
          <a:noFill/>
          <a:ln>
            <a:noFill/>
          </a:ln>
        </p:spPr>
        <p:txBody>
          <a:bodyPr wrap="square" anchor="t">
            <a:spAutoFit/>
          </a:bodyPr>
          <a:lstStyle/>
          <a:p>
            <a:pPr algn="l"/>
            <a:r>
              <a:rPr lang="en-US" sz="1800">
                <a:solidFill>
                  <a:srgbClr val="5F6B7A"/>
                </a:solidFill>
                <a:latin typeface="Aptos"/>
              </a:rPr>
              <a:t>Known benefits</a:t>
            </a:r>
          </a:p>
        </p:txBody>
      </p:sp>
      <p:sp>
        <p:nvSpPr>
          <p:cNvPr id="163" name="Text"/>
          <p:cNvSpPr txBox="1"/>
          <p:nvPr/>
        </p:nvSpPr>
        <p:spPr>
          <a:xfrm>
            <a:off x="3810000" y="3657600"/>
            <a:ext cx="1714500" cy="361950"/>
          </a:xfrm>
          <a:prstGeom prst="rect">
            <a:avLst/>
          </a:prstGeom>
          <a:noFill/>
          <a:ln>
            <a:noFill/>
          </a:ln>
        </p:spPr>
        <p:txBody>
          <a:bodyPr wrap="square" anchor="t">
            <a:spAutoFit/>
          </a:bodyPr>
          <a:lstStyle/>
          <a:p>
            <a:pPr algn="l"/>
            <a:r>
              <a:rPr lang="en-US" sz="2400" b="1">
                <a:solidFill>
                  <a:srgbClr val="2F6F73"/>
                </a:solidFill>
                <a:latin typeface="Aptos"/>
              </a:rPr>
              <a:t>63.9%</a:t>
            </a:r>
          </a:p>
        </p:txBody>
      </p:sp>
      <p:sp>
        <p:nvSpPr>
          <p:cNvPr id="164" name="Text"/>
          <p:cNvSpPr txBox="1"/>
          <p:nvPr/>
        </p:nvSpPr>
        <p:spPr>
          <a:xfrm>
            <a:off x="1238250" y="4333875"/>
            <a:ext cx="2190750" cy="304800"/>
          </a:xfrm>
          <a:prstGeom prst="rect">
            <a:avLst/>
          </a:prstGeom>
          <a:noFill/>
          <a:ln>
            <a:noFill/>
          </a:ln>
        </p:spPr>
        <p:txBody>
          <a:bodyPr wrap="square" anchor="t">
            <a:spAutoFit/>
          </a:bodyPr>
          <a:lstStyle/>
          <a:p>
            <a:pPr algn="l"/>
            <a:r>
              <a:rPr lang="en-US" sz="1800">
                <a:solidFill>
                  <a:srgbClr val="5F6B7A"/>
                </a:solidFill>
                <a:latin typeface="Aptos"/>
              </a:rPr>
              <a:t>No benefits</a:t>
            </a:r>
          </a:p>
        </p:txBody>
      </p:sp>
      <p:sp>
        <p:nvSpPr>
          <p:cNvPr id="165" name="Text"/>
          <p:cNvSpPr txBox="1"/>
          <p:nvPr/>
        </p:nvSpPr>
        <p:spPr>
          <a:xfrm>
            <a:off x="3810000" y="4276725"/>
            <a:ext cx="1714500" cy="361950"/>
          </a:xfrm>
          <a:prstGeom prst="rect">
            <a:avLst/>
          </a:prstGeom>
          <a:noFill/>
          <a:ln>
            <a:noFill/>
          </a:ln>
        </p:spPr>
        <p:txBody>
          <a:bodyPr wrap="square" anchor="t">
            <a:spAutoFit/>
          </a:bodyPr>
          <a:lstStyle/>
          <a:p>
            <a:pPr algn="l"/>
            <a:r>
              <a:rPr lang="en-US" sz="2400" b="1">
                <a:solidFill>
                  <a:srgbClr val="2F6F73"/>
                </a:solidFill>
                <a:latin typeface="Aptos"/>
              </a:rPr>
              <a:t>48.4%</a:t>
            </a:r>
          </a:p>
        </p:txBody>
      </p:sp>
      <p:sp>
        <p:nvSpPr>
          <p:cNvPr id="166" name="Text"/>
          <p:cNvSpPr txBox="1"/>
          <p:nvPr/>
        </p:nvSpPr>
        <p:spPr>
          <a:xfrm>
            <a:off x="1238250" y="4953000"/>
            <a:ext cx="2190750" cy="304800"/>
          </a:xfrm>
          <a:prstGeom prst="rect">
            <a:avLst/>
          </a:prstGeom>
          <a:noFill/>
          <a:ln>
            <a:noFill/>
          </a:ln>
        </p:spPr>
        <p:txBody>
          <a:bodyPr wrap="square" anchor="t">
            <a:spAutoFit/>
          </a:bodyPr>
          <a:lstStyle/>
          <a:p>
            <a:pPr algn="l"/>
            <a:r>
              <a:rPr lang="en-US" sz="1800">
                <a:solidFill>
                  <a:srgbClr val="5F6B7A"/>
                </a:solidFill>
                <a:latin typeface="Aptos"/>
              </a:rPr>
              <a:t>Don't know</a:t>
            </a:r>
          </a:p>
        </p:txBody>
      </p:sp>
      <p:sp>
        <p:nvSpPr>
          <p:cNvPr id="167" name="Text"/>
          <p:cNvSpPr txBox="1"/>
          <p:nvPr/>
        </p:nvSpPr>
        <p:spPr>
          <a:xfrm>
            <a:off x="3810000" y="4895850"/>
            <a:ext cx="1714500" cy="361950"/>
          </a:xfrm>
          <a:prstGeom prst="rect">
            <a:avLst/>
          </a:prstGeom>
          <a:noFill/>
          <a:ln>
            <a:noFill/>
          </a:ln>
        </p:spPr>
        <p:txBody>
          <a:bodyPr wrap="square" anchor="t">
            <a:spAutoFit/>
          </a:bodyPr>
          <a:lstStyle/>
          <a:p>
            <a:pPr algn="l"/>
            <a:r>
              <a:rPr lang="en-US" sz="2400" b="1">
                <a:solidFill>
                  <a:srgbClr val="2F6F73"/>
                </a:solidFill>
                <a:latin typeface="Aptos"/>
              </a:rPr>
              <a:t>37.0%</a:t>
            </a:r>
          </a:p>
        </p:txBody>
      </p:sp>
      <p:sp>
        <p:nvSpPr>
          <p:cNvPr id="180" name="Rectangle"/>
          <p:cNvSpPr/>
          <p:nvPr/>
        </p:nvSpPr>
        <p:spPr>
          <a:xfrm>
            <a:off x="6572250" y="2857500"/>
            <a:ext cx="4762500" cy="2667000"/>
          </a:xfrm>
          <a:prstGeom prst="roundRect">
            <a:avLst/>
          </a:prstGeom>
          <a:solidFill>
            <a:srgbClr val="FFFFFF"/>
          </a:solidFill>
          <a:ln w="10000">
            <a:solidFill>
              <a:srgbClr val="D8DEE6"/>
            </a:solidFill>
          </a:ln>
        </p:spPr>
        <p:txBody>
          <a:bodyPr/>
          <a:lstStyle/>
          <a:p/>
        </p:txBody>
      </p:sp>
      <p:sp>
        <p:nvSpPr>
          <p:cNvPr id="181" name="Text"/>
          <p:cNvSpPr txBox="1"/>
          <p:nvPr/>
        </p:nvSpPr>
        <p:spPr>
          <a:xfrm>
            <a:off x="6858000" y="3124200"/>
            <a:ext cx="3619500" cy="323850"/>
          </a:xfrm>
          <a:prstGeom prst="rect">
            <a:avLst/>
          </a:prstGeom>
          <a:noFill/>
          <a:ln>
            <a:noFill/>
          </a:ln>
        </p:spPr>
        <p:txBody>
          <a:bodyPr wrap="square" anchor="t">
            <a:spAutoFit/>
          </a:bodyPr>
          <a:lstStyle/>
          <a:p>
            <a:pPr algn="l"/>
            <a:r>
              <a:rPr lang="en-US" sz="2100" b="1">
                <a:solidFill>
                  <a:srgbClr val="1F2933"/>
                </a:solidFill>
                <a:latin typeface="Aptos"/>
              </a:rPr>
              <a:t>Care options</a:t>
            </a:r>
          </a:p>
        </p:txBody>
      </p:sp>
      <p:sp>
        <p:nvSpPr>
          <p:cNvPr id="182" name="Text"/>
          <p:cNvSpPr txBox="1"/>
          <p:nvPr/>
        </p:nvSpPr>
        <p:spPr>
          <a:xfrm>
            <a:off x="6905625" y="3714750"/>
            <a:ext cx="2190750" cy="304800"/>
          </a:xfrm>
          <a:prstGeom prst="rect">
            <a:avLst/>
          </a:prstGeom>
          <a:noFill/>
          <a:ln>
            <a:noFill/>
          </a:ln>
        </p:spPr>
        <p:txBody>
          <a:bodyPr wrap="square" anchor="t">
            <a:spAutoFit/>
          </a:bodyPr>
          <a:lstStyle/>
          <a:p>
            <a:pPr algn="l"/>
            <a:r>
              <a:rPr lang="en-US" sz="1800">
                <a:solidFill>
                  <a:srgbClr val="5F6B7A"/>
                </a:solidFill>
                <a:latin typeface="Aptos"/>
              </a:rPr>
              <a:t>Known options</a:t>
            </a:r>
          </a:p>
        </p:txBody>
      </p:sp>
      <p:sp>
        <p:nvSpPr>
          <p:cNvPr id="183" name="Text"/>
          <p:cNvSpPr txBox="1"/>
          <p:nvPr/>
        </p:nvSpPr>
        <p:spPr>
          <a:xfrm>
            <a:off x="9429750" y="3657600"/>
            <a:ext cx="1714500" cy="361950"/>
          </a:xfrm>
          <a:prstGeom prst="rect">
            <a:avLst/>
          </a:prstGeom>
          <a:noFill/>
          <a:ln>
            <a:noFill/>
          </a:ln>
        </p:spPr>
        <p:txBody>
          <a:bodyPr wrap="square" anchor="t">
            <a:spAutoFit/>
          </a:bodyPr>
          <a:lstStyle/>
          <a:p>
            <a:pPr algn="l"/>
            <a:r>
              <a:rPr lang="en-US" sz="2400" b="1">
                <a:solidFill>
                  <a:srgbClr val="D39B5F"/>
                </a:solidFill>
                <a:latin typeface="Aptos"/>
              </a:rPr>
              <a:t>69.1%</a:t>
            </a:r>
          </a:p>
        </p:txBody>
      </p:sp>
      <p:sp>
        <p:nvSpPr>
          <p:cNvPr id="184" name="Text"/>
          <p:cNvSpPr txBox="1"/>
          <p:nvPr/>
        </p:nvSpPr>
        <p:spPr>
          <a:xfrm>
            <a:off x="6905625" y="4333875"/>
            <a:ext cx="2190750" cy="304800"/>
          </a:xfrm>
          <a:prstGeom prst="rect">
            <a:avLst/>
          </a:prstGeom>
          <a:noFill/>
          <a:ln>
            <a:noFill/>
          </a:ln>
        </p:spPr>
        <p:txBody>
          <a:bodyPr wrap="square" anchor="t">
            <a:spAutoFit/>
          </a:bodyPr>
          <a:lstStyle/>
          <a:p>
            <a:pPr algn="l"/>
            <a:r>
              <a:rPr lang="en-US" sz="1800">
                <a:solidFill>
                  <a:srgbClr val="5F6B7A"/>
                </a:solidFill>
                <a:latin typeface="Aptos"/>
              </a:rPr>
              <a:t>No options</a:t>
            </a:r>
          </a:p>
        </p:txBody>
      </p:sp>
      <p:sp>
        <p:nvSpPr>
          <p:cNvPr id="185" name="Text"/>
          <p:cNvSpPr txBox="1"/>
          <p:nvPr/>
        </p:nvSpPr>
        <p:spPr>
          <a:xfrm>
            <a:off x="9429750" y="4276725"/>
            <a:ext cx="1714500" cy="361950"/>
          </a:xfrm>
          <a:prstGeom prst="rect">
            <a:avLst/>
          </a:prstGeom>
          <a:noFill/>
          <a:ln>
            <a:noFill/>
          </a:ln>
        </p:spPr>
        <p:txBody>
          <a:bodyPr wrap="square" anchor="t">
            <a:spAutoFit/>
          </a:bodyPr>
          <a:lstStyle/>
          <a:p>
            <a:pPr algn="l"/>
            <a:r>
              <a:rPr lang="en-US" sz="2400" b="1">
                <a:solidFill>
                  <a:srgbClr val="D39B5F"/>
                </a:solidFill>
                <a:latin typeface="Aptos"/>
              </a:rPr>
              <a:t>41.3%</a:t>
            </a:r>
          </a:p>
        </p:txBody>
      </p:sp>
      <p:sp>
        <p:nvSpPr>
          <p:cNvPr id="186" name="Text"/>
          <p:cNvSpPr txBox="1"/>
          <p:nvPr/>
        </p:nvSpPr>
        <p:spPr>
          <a:xfrm>
            <a:off x="6905625" y="4953000"/>
            <a:ext cx="2190750" cy="304800"/>
          </a:xfrm>
          <a:prstGeom prst="rect">
            <a:avLst/>
          </a:prstGeom>
          <a:noFill/>
          <a:ln>
            <a:noFill/>
          </a:ln>
        </p:spPr>
        <p:txBody>
          <a:bodyPr wrap="square" anchor="t">
            <a:spAutoFit/>
          </a:bodyPr>
          <a:lstStyle/>
          <a:p>
            <a:pPr algn="l"/>
            <a:r>
              <a:rPr lang="en-US" sz="1800">
                <a:solidFill>
                  <a:srgbClr val="5F6B7A"/>
                </a:solidFill>
                <a:latin typeface="Aptos"/>
              </a:rPr>
              <a:t>Not sure</a:t>
            </a:r>
          </a:p>
        </p:txBody>
      </p:sp>
      <p:sp>
        <p:nvSpPr>
          <p:cNvPr id="187" name="Text"/>
          <p:cNvSpPr txBox="1"/>
          <p:nvPr/>
        </p:nvSpPr>
        <p:spPr>
          <a:xfrm>
            <a:off x="9429750" y="4895850"/>
            <a:ext cx="1714500" cy="361950"/>
          </a:xfrm>
          <a:prstGeom prst="rect">
            <a:avLst/>
          </a:prstGeom>
          <a:noFill/>
          <a:ln>
            <a:noFill/>
          </a:ln>
        </p:spPr>
        <p:txBody>
          <a:bodyPr wrap="square" anchor="t">
            <a:spAutoFit/>
          </a:bodyPr>
          <a:lstStyle/>
          <a:p>
            <a:pPr algn="l"/>
            <a:r>
              <a:rPr lang="en-US" sz="2400" b="1">
                <a:solidFill>
                  <a:srgbClr val="D39B5F"/>
                </a:solidFill>
                <a:latin typeface="Aptos"/>
              </a:rPr>
              <a:t>39.2%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20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WORK INTERFERENCE</a:t>
            </a:r>
          </a:p>
        </p:txBody>
      </p:sp>
      <p:sp>
        <p:nvSpPr>
          <p:cNvPr id="20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Treatment-seeking rises sharply when mental health interferes with work.</a:t>
            </a:r>
          </a:p>
        </p:txBody>
      </p:sp>
      <p:sp>
        <p:nvSpPr>
          <p:cNvPr id="20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85.4% of respondents reporting frequent work interference had sought treatment; only 14.1% of those reporting no interference had done so.</a:t>
            </a:r>
          </a:p>
        </p:txBody>
      </p:sp>
      <p:cxnSp>
        <p:nvCxnSpPr>
          <p:cNvPr id="203" name="Line"/>
          <p:cNvCxnSpPr/>
          <p:nvPr/>
        </p:nvCxnSpPr>
        <p:spPr>
          <a:xfrm>
            <a:off x="666750" y="2381250"/>
            <a:ext cx="10858500" cy="1"/>
          </a:xfrm>
          <a:prstGeom prst="line">
            <a:avLst/>
          </a:prstGeom>
          <a:ln w="18000">
            <a:solidFill>
              <a:srgbClr val="D8DEE6"/>
            </a:solidFill>
          </a:ln>
        </p:spPr>
      </p:cxnSp>
      <p:sp>
        <p:nvSpPr>
          <p:cNvPr id="210" name="Text"/>
          <p:cNvSpPr txBox="1"/>
          <p:nvPr/>
        </p:nvSpPr>
        <p:spPr>
          <a:xfrm>
            <a:off x="1143000" y="2667000"/>
            <a:ext cx="1809750" cy="552450"/>
          </a:xfrm>
          <a:prstGeom prst="rect">
            <a:avLst/>
          </a:prstGeom>
          <a:noFill/>
          <a:ln>
            <a:noFill/>
          </a:ln>
        </p:spPr>
        <p:txBody>
          <a:bodyPr wrap="square" anchor="t">
            <a:spAutoFit/>
          </a:bodyPr>
          <a:lstStyle/>
          <a:p>
            <a:pPr algn="l"/>
            <a:r>
              <a:rPr lang="en-US" sz="1500">
                <a:solidFill>
                  <a:srgbClr val="5F6B7A"/>
                </a:solidFill>
                <a:latin typeface="Aptos"/>
              </a:rPr>
              <a:t>Often</a:t>
            </a:r>
          </a:p>
        </p:txBody>
      </p:sp>
      <p:sp>
        <p:nvSpPr>
          <p:cNvPr id="211" name="Rectangle"/>
          <p:cNvSpPr/>
          <p:nvPr/>
        </p:nvSpPr>
        <p:spPr>
          <a:xfrm>
            <a:off x="3095625" y="2667000"/>
            <a:ext cx="7810499" cy="552450"/>
          </a:xfrm>
          <a:prstGeom prst="roundRect">
            <a:avLst/>
          </a:prstGeom>
          <a:solidFill>
            <a:srgbClr val="6D4C7D"/>
          </a:solidFill>
          <a:ln>
            <a:noFill/>
          </a:ln>
        </p:spPr>
        <p:txBody>
          <a:bodyPr/>
          <a:lstStyle/>
          <a:p/>
        </p:txBody>
      </p:sp>
      <p:sp>
        <p:nvSpPr>
          <p:cNvPr id="212" name="Text"/>
          <p:cNvSpPr txBox="1"/>
          <p:nvPr/>
        </p:nvSpPr>
        <p:spPr>
          <a:xfrm>
            <a:off x="11001374" y="2667000"/>
            <a:ext cx="952500" cy="552450"/>
          </a:xfrm>
          <a:prstGeom prst="rect">
            <a:avLst/>
          </a:prstGeom>
          <a:noFill/>
          <a:ln>
            <a:noFill/>
          </a:ln>
        </p:spPr>
        <p:txBody>
          <a:bodyPr wrap="square" anchor="t">
            <a:spAutoFit/>
          </a:bodyPr>
          <a:lstStyle/>
          <a:p>
            <a:pPr algn="l"/>
            <a:r>
              <a:rPr lang="en-US" sz="1600" b="1">
                <a:solidFill>
                  <a:srgbClr val="1F2933"/>
                </a:solidFill>
                <a:latin typeface="Aptos"/>
              </a:rPr>
              <a:t>85.4%</a:t>
            </a:r>
          </a:p>
        </p:txBody>
      </p:sp>
      <p:sp>
        <p:nvSpPr>
          <p:cNvPr id="213" name="Text"/>
          <p:cNvSpPr txBox="1"/>
          <p:nvPr/>
        </p:nvSpPr>
        <p:spPr>
          <a:xfrm>
            <a:off x="1143000" y="3390900"/>
            <a:ext cx="1809750" cy="552450"/>
          </a:xfrm>
          <a:prstGeom prst="rect">
            <a:avLst/>
          </a:prstGeom>
          <a:noFill/>
          <a:ln>
            <a:noFill/>
          </a:ln>
        </p:spPr>
        <p:txBody>
          <a:bodyPr wrap="square" anchor="t">
            <a:spAutoFit/>
          </a:bodyPr>
          <a:lstStyle/>
          <a:p>
            <a:pPr algn="l"/>
            <a:r>
              <a:rPr lang="en-US" sz="1500">
                <a:solidFill>
                  <a:srgbClr val="5F6B7A"/>
                </a:solidFill>
                <a:latin typeface="Aptos"/>
              </a:rPr>
              <a:t>Sometimes</a:t>
            </a:r>
          </a:p>
        </p:txBody>
      </p:sp>
      <p:sp>
        <p:nvSpPr>
          <p:cNvPr id="214" name="Rectangle"/>
          <p:cNvSpPr/>
          <p:nvPr/>
        </p:nvSpPr>
        <p:spPr>
          <a:xfrm>
            <a:off x="3095625" y="3390900"/>
            <a:ext cx="7042254" cy="552450"/>
          </a:xfrm>
          <a:prstGeom prst="roundRect">
            <a:avLst/>
          </a:prstGeom>
          <a:solidFill>
            <a:srgbClr val="6D4C7D"/>
          </a:solidFill>
          <a:ln>
            <a:noFill/>
          </a:ln>
        </p:spPr>
        <p:txBody>
          <a:bodyPr/>
          <a:lstStyle/>
          <a:p/>
        </p:txBody>
      </p:sp>
      <p:sp>
        <p:nvSpPr>
          <p:cNvPr id="215" name="Text"/>
          <p:cNvSpPr txBox="1"/>
          <p:nvPr/>
        </p:nvSpPr>
        <p:spPr>
          <a:xfrm>
            <a:off x="10233129" y="3390900"/>
            <a:ext cx="952500" cy="552450"/>
          </a:xfrm>
          <a:prstGeom prst="rect">
            <a:avLst/>
          </a:prstGeom>
          <a:noFill/>
          <a:ln>
            <a:noFill/>
          </a:ln>
        </p:spPr>
        <p:txBody>
          <a:bodyPr wrap="square" anchor="t">
            <a:spAutoFit/>
          </a:bodyPr>
          <a:lstStyle/>
          <a:p>
            <a:pPr algn="l"/>
            <a:r>
              <a:rPr lang="en-US" sz="1600" b="1">
                <a:solidFill>
                  <a:srgbClr val="1F2933"/>
                </a:solidFill>
                <a:latin typeface="Aptos"/>
              </a:rPr>
              <a:t>77.0%</a:t>
            </a:r>
          </a:p>
        </p:txBody>
      </p:sp>
      <p:sp>
        <p:nvSpPr>
          <p:cNvPr id="216" name="Text"/>
          <p:cNvSpPr txBox="1"/>
          <p:nvPr/>
        </p:nvSpPr>
        <p:spPr>
          <a:xfrm>
            <a:off x="1143000" y="4114800"/>
            <a:ext cx="1809750" cy="552450"/>
          </a:xfrm>
          <a:prstGeom prst="rect">
            <a:avLst/>
          </a:prstGeom>
          <a:noFill/>
          <a:ln>
            <a:noFill/>
          </a:ln>
        </p:spPr>
        <p:txBody>
          <a:bodyPr wrap="square" anchor="t">
            <a:spAutoFit/>
          </a:bodyPr>
          <a:lstStyle/>
          <a:p>
            <a:pPr algn="l"/>
            <a:r>
              <a:rPr lang="en-US" sz="1500">
                <a:solidFill>
                  <a:srgbClr val="5F6B7A"/>
                </a:solidFill>
                <a:latin typeface="Aptos"/>
              </a:rPr>
              <a:t>Rarely</a:t>
            </a:r>
          </a:p>
        </p:txBody>
      </p:sp>
      <p:sp>
        <p:nvSpPr>
          <p:cNvPr id="217" name="Rectangle"/>
          <p:cNvSpPr/>
          <p:nvPr/>
        </p:nvSpPr>
        <p:spPr>
          <a:xfrm>
            <a:off x="3095625" y="4114800"/>
            <a:ext cx="6447778" cy="552450"/>
          </a:xfrm>
          <a:prstGeom prst="roundRect">
            <a:avLst/>
          </a:prstGeom>
          <a:solidFill>
            <a:srgbClr val="6D4C7D"/>
          </a:solidFill>
          <a:ln>
            <a:noFill/>
          </a:ln>
        </p:spPr>
        <p:txBody>
          <a:bodyPr/>
          <a:lstStyle/>
          <a:p/>
        </p:txBody>
      </p:sp>
      <p:sp>
        <p:nvSpPr>
          <p:cNvPr id="218" name="Text"/>
          <p:cNvSpPr txBox="1"/>
          <p:nvPr/>
        </p:nvSpPr>
        <p:spPr>
          <a:xfrm>
            <a:off x="9638653" y="4114800"/>
            <a:ext cx="952500" cy="552450"/>
          </a:xfrm>
          <a:prstGeom prst="rect">
            <a:avLst/>
          </a:prstGeom>
          <a:noFill/>
          <a:ln>
            <a:noFill/>
          </a:ln>
        </p:spPr>
        <p:txBody>
          <a:bodyPr wrap="square" anchor="t">
            <a:spAutoFit/>
          </a:bodyPr>
          <a:lstStyle/>
          <a:p>
            <a:pPr algn="l"/>
            <a:r>
              <a:rPr lang="en-US" sz="1600" b="1">
                <a:solidFill>
                  <a:srgbClr val="1F2933"/>
                </a:solidFill>
                <a:latin typeface="Aptos"/>
              </a:rPr>
              <a:t>70.5%</a:t>
            </a:r>
          </a:p>
        </p:txBody>
      </p:sp>
      <p:sp>
        <p:nvSpPr>
          <p:cNvPr id="219" name="Text"/>
          <p:cNvSpPr txBox="1"/>
          <p:nvPr/>
        </p:nvSpPr>
        <p:spPr>
          <a:xfrm>
            <a:off x="1143000" y="4838700"/>
            <a:ext cx="1809750" cy="552450"/>
          </a:xfrm>
          <a:prstGeom prst="rect">
            <a:avLst/>
          </a:prstGeom>
          <a:noFill/>
          <a:ln>
            <a:noFill/>
          </a:ln>
        </p:spPr>
        <p:txBody>
          <a:bodyPr wrap="square" anchor="t">
            <a:spAutoFit/>
          </a:bodyPr>
          <a:lstStyle/>
          <a:p>
            <a:pPr algn="l"/>
            <a:r>
              <a:rPr lang="en-US" sz="1500">
                <a:solidFill>
                  <a:srgbClr val="5F6B7A"/>
                </a:solidFill>
                <a:latin typeface="Aptos"/>
              </a:rPr>
              <a:t>Never</a:t>
            </a:r>
          </a:p>
        </p:txBody>
      </p:sp>
      <p:sp>
        <p:nvSpPr>
          <p:cNvPr id="220" name="Rectangle"/>
          <p:cNvSpPr/>
          <p:nvPr/>
        </p:nvSpPr>
        <p:spPr>
          <a:xfrm>
            <a:off x="3095625" y="4838700"/>
            <a:ext cx="1289555" cy="552450"/>
          </a:xfrm>
          <a:prstGeom prst="roundRect">
            <a:avLst/>
          </a:prstGeom>
          <a:solidFill>
            <a:srgbClr val="6D4C7D"/>
          </a:solidFill>
          <a:ln>
            <a:noFill/>
          </a:ln>
        </p:spPr>
        <p:txBody>
          <a:bodyPr/>
          <a:lstStyle/>
          <a:p/>
        </p:txBody>
      </p:sp>
      <p:sp>
        <p:nvSpPr>
          <p:cNvPr id="221" name="Text"/>
          <p:cNvSpPr txBox="1"/>
          <p:nvPr/>
        </p:nvSpPr>
        <p:spPr>
          <a:xfrm>
            <a:off x="4480430" y="4838700"/>
            <a:ext cx="952500" cy="552450"/>
          </a:xfrm>
          <a:prstGeom prst="rect">
            <a:avLst/>
          </a:prstGeom>
          <a:noFill/>
          <a:ln>
            <a:noFill/>
          </a:ln>
        </p:spPr>
        <p:txBody>
          <a:bodyPr wrap="square" anchor="t">
            <a:spAutoFit/>
          </a:bodyPr>
          <a:lstStyle/>
          <a:p>
            <a:pPr algn="l"/>
            <a:r>
              <a:rPr lang="en-US" sz="1600" b="1">
                <a:solidFill>
                  <a:srgbClr val="1F2933"/>
                </a:solidFill>
                <a:latin typeface="Aptos"/>
              </a:rPr>
              <a:t>14.1%</a:t>
            </a:r>
          </a:p>
        </p:txBody>
      </p:sp>
      <p:sp>
        <p:nvSpPr>
          <p:cNvPr id="222" name="Text"/>
          <p:cNvSpPr txBox="1"/>
          <p:nvPr/>
        </p:nvSpPr>
        <p:spPr>
          <a:xfrm>
            <a:off x="1143000" y="5562600"/>
            <a:ext cx="1809750" cy="552450"/>
          </a:xfrm>
          <a:prstGeom prst="rect">
            <a:avLst/>
          </a:prstGeom>
          <a:noFill/>
          <a:ln>
            <a:noFill/>
          </a:ln>
        </p:spPr>
        <p:txBody>
          <a:bodyPr wrap="square" anchor="t">
            <a:spAutoFit/>
          </a:bodyPr>
          <a:lstStyle/>
          <a:p>
            <a:pPr algn="l"/>
            <a:r>
              <a:rPr lang="en-US" sz="1500">
                <a:solidFill>
                  <a:srgbClr val="5F6B7A"/>
                </a:solidFill>
                <a:latin typeface="Aptos"/>
              </a:rPr>
              <a:t>Missing</a:t>
            </a:r>
          </a:p>
        </p:txBody>
      </p:sp>
      <p:sp>
        <p:nvSpPr>
          <p:cNvPr id="223" name="Rectangle"/>
          <p:cNvSpPr/>
          <p:nvPr/>
        </p:nvSpPr>
        <p:spPr>
          <a:xfrm>
            <a:off x="3095625" y="5562600"/>
            <a:ext cx="137186" cy="552450"/>
          </a:xfrm>
          <a:prstGeom prst="roundRect">
            <a:avLst/>
          </a:prstGeom>
          <a:solidFill>
            <a:srgbClr val="6D4C7D"/>
          </a:solidFill>
          <a:ln>
            <a:noFill/>
          </a:ln>
        </p:spPr>
        <p:txBody>
          <a:bodyPr/>
          <a:lstStyle/>
          <a:p/>
        </p:txBody>
      </p:sp>
      <p:sp>
        <p:nvSpPr>
          <p:cNvPr id="224" name="Text"/>
          <p:cNvSpPr txBox="1"/>
          <p:nvPr/>
        </p:nvSpPr>
        <p:spPr>
          <a:xfrm>
            <a:off x="3328061" y="5562600"/>
            <a:ext cx="952500" cy="552450"/>
          </a:xfrm>
          <a:prstGeom prst="rect">
            <a:avLst/>
          </a:prstGeom>
          <a:noFill/>
          <a:ln>
            <a:noFill/>
          </a:ln>
        </p:spPr>
        <p:txBody>
          <a:bodyPr wrap="square" anchor="t">
            <a:spAutoFit/>
          </a:bodyPr>
          <a:lstStyle/>
          <a:p>
            <a:pPr algn="l"/>
            <a:r>
              <a:rPr lang="en-US" sz="1600" b="1">
                <a:solidFill>
                  <a:srgbClr val="1F2933"/>
                </a:solidFill>
                <a:latin typeface="Aptos"/>
              </a:rPr>
              <a:t>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25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DISCLOSURE RISK</a:t>
            </a:r>
          </a:p>
        </p:txBody>
      </p:sp>
      <p:sp>
        <p:nvSpPr>
          <p:cNvPr id="25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Expected consequences are strongly connected to lower discussion comfort.</a:t>
            </a:r>
          </a:p>
        </p:txBody>
      </p:sp>
      <p:sp>
        <p:nvSpPr>
          <p:cNvPr id="25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Perceived negative consequences are statistically associated with both supervisor and coworker discussion comfort.</a:t>
            </a:r>
          </a:p>
        </p:txBody>
      </p:sp>
      <p:cxnSp>
        <p:nvCxnSpPr>
          <p:cNvPr id="253" name="Line"/>
          <p:cNvCxnSpPr/>
          <p:nvPr/>
        </p:nvCxnSpPr>
        <p:spPr>
          <a:xfrm>
            <a:off x="666750" y="2381250"/>
            <a:ext cx="10858500" cy="1"/>
          </a:xfrm>
          <a:prstGeom prst="line">
            <a:avLst/>
          </a:prstGeom>
          <a:ln w="18000">
            <a:solidFill>
              <a:srgbClr val="D8DEE6"/>
            </a:solidFill>
          </a:ln>
        </p:spPr>
      </p:cxnSp>
      <p:sp>
        <p:nvSpPr>
          <p:cNvPr id="260" name="Rectangle"/>
          <p:cNvSpPr/>
          <p:nvPr/>
        </p:nvSpPr>
        <p:spPr>
          <a:xfrm>
            <a:off x="952500" y="2762250"/>
            <a:ext cx="2905125" cy="1047750"/>
          </a:xfrm>
          <a:prstGeom prst="roundRect">
            <a:avLst/>
          </a:prstGeom>
          <a:solidFill>
            <a:srgbClr val="FFFFFF"/>
          </a:solidFill>
          <a:ln w="10000">
            <a:solidFill>
              <a:srgbClr val="D8DEE6"/>
            </a:solidFill>
          </a:ln>
        </p:spPr>
        <p:txBody>
          <a:bodyPr/>
          <a:lstStyle/>
          <a:p/>
        </p:txBody>
      </p:sp>
      <p:sp>
        <p:nvSpPr>
          <p:cNvPr id="261" name="Rectangle"/>
          <p:cNvSpPr/>
          <p:nvPr/>
        </p:nvSpPr>
        <p:spPr>
          <a:xfrm>
            <a:off x="952500" y="2762250"/>
            <a:ext cx="76200" cy="1047750"/>
          </a:xfrm>
          <a:prstGeom prst="roundRect">
            <a:avLst/>
          </a:prstGeom>
          <a:solidFill>
            <a:srgbClr val="C25746"/>
          </a:solidFill>
          <a:ln>
            <a:noFill/>
          </a:ln>
        </p:spPr>
        <p:txBody>
          <a:bodyPr/>
          <a:lstStyle/>
          <a:p/>
        </p:txBody>
      </p:sp>
      <p:sp>
        <p:nvSpPr>
          <p:cNvPr id="262" name="Text"/>
          <p:cNvSpPr txBox="1"/>
          <p:nvPr/>
        </p:nvSpPr>
        <p:spPr>
          <a:xfrm>
            <a:off x="1181100" y="2933700"/>
            <a:ext cx="2524125" cy="266700"/>
          </a:xfrm>
          <a:prstGeom prst="rect">
            <a:avLst/>
          </a:prstGeom>
          <a:noFill/>
          <a:ln>
            <a:noFill/>
          </a:ln>
        </p:spPr>
        <p:txBody>
          <a:bodyPr wrap="square" anchor="t">
            <a:spAutoFit/>
          </a:bodyPr>
          <a:lstStyle/>
          <a:p>
            <a:pPr algn="l"/>
            <a:r>
              <a:rPr lang="en-US" sz="1300">
                <a:solidFill>
                  <a:srgbClr val="5F6B7A"/>
                </a:solidFill>
                <a:latin typeface="Aptos"/>
              </a:rPr>
              <a:t>Supervisor consequence test</a:t>
            </a:r>
          </a:p>
        </p:txBody>
      </p:sp>
      <p:sp>
        <p:nvSpPr>
          <p:cNvPr id="263" name="Text"/>
          <p:cNvSpPr txBox="1"/>
          <p:nvPr/>
        </p:nvSpPr>
        <p:spPr>
          <a:xfrm>
            <a:off x="1181100" y="3257550"/>
            <a:ext cx="2524125" cy="495300"/>
          </a:xfrm>
          <a:prstGeom prst="rect">
            <a:avLst/>
          </a:prstGeom>
          <a:noFill/>
          <a:ln>
            <a:noFill/>
          </a:ln>
        </p:spPr>
        <p:txBody>
          <a:bodyPr wrap="square" anchor="t">
            <a:spAutoFit/>
          </a:bodyPr>
          <a:lstStyle/>
          <a:p>
            <a:pPr algn="l"/>
            <a:r>
              <a:rPr lang="en-US" sz="2400" b="1">
                <a:solidFill>
                  <a:srgbClr val="1F2933"/>
                </a:solidFill>
                <a:latin typeface="Aptos"/>
              </a:rPr>
              <a:t>χ² 461.66</a:t>
            </a:r>
          </a:p>
        </p:txBody>
      </p:sp>
      <p:sp>
        <p:nvSpPr>
          <p:cNvPr id="270" name="Rectangle"/>
          <p:cNvSpPr/>
          <p:nvPr/>
        </p:nvSpPr>
        <p:spPr>
          <a:xfrm>
            <a:off x="4238625" y="2762250"/>
            <a:ext cx="2905125" cy="1047750"/>
          </a:xfrm>
          <a:prstGeom prst="roundRect">
            <a:avLst/>
          </a:prstGeom>
          <a:solidFill>
            <a:srgbClr val="FFFFFF"/>
          </a:solidFill>
          <a:ln w="10000">
            <a:solidFill>
              <a:srgbClr val="D8DEE6"/>
            </a:solidFill>
          </a:ln>
        </p:spPr>
        <p:txBody>
          <a:bodyPr/>
          <a:lstStyle/>
          <a:p/>
        </p:txBody>
      </p:sp>
      <p:sp>
        <p:nvSpPr>
          <p:cNvPr id="271" name="Rectangle"/>
          <p:cNvSpPr/>
          <p:nvPr/>
        </p:nvSpPr>
        <p:spPr>
          <a:xfrm>
            <a:off x="4238625" y="2762250"/>
            <a:ext cx="76200" cy="1047750"/>
          </a:xfrm>
          <a:prstGeom prst="roundRect">
            <a:avLst/>
          </a:prstGeom>
          <a:solidFill>
            <a:srgbClr val="C25746"/>
          </a:solidFill>
          <a:ln>
            <a:noFill/>
          </a:ln>
        </p:spPr>
        <p:txBody>
          <a:bodyPr/>
          <a:lstStyle/>
          <a:p/>
        </p:txBody>
      </p:sp>
      <p:sp>
        <p:nvSpPr>
          <p:cNvPr id="272" name="Text"/>
          <p:cNvSpPr txBox="1"/>
          <p:nvPr/>
        </p:nvSpPr>
        <p:spPr>
          <a:xfrm>
            <a:off x="4467225" y="2933700"/>
            <a:ext cx="2524125" cy="266700"/>
          </a:xfrm>
          <a:prstGeom prst="rect">
            <a:avLst/>
          </a:prstGeom>
          <a:noFill/>
          <a:ln>
            <a:noFill/>
          </a:ln>
        </p:spPr>
        <p:txBody>
          <a:bodyPr wrap="square" anchor="t">
            <a:spAutoFit/>
          </a:bodyPr>
          <a:lstStyle/>
          <a:p>
            <a:pPr algn="l"/>
            <a:r>
              <a:rPr lang="en-US" sz="1300">
                <a:solidFill>
                  <a:srgbClr val="5F6B7A"/>
                </a:solidFill>
                <a:latin typeface="Aptos"/>
              </a:rPr>
              <a:t>Coworker consequence test</a:t>
            </a:r>
          </a:p>
        </p:txBody>
      </p:sp>
      <p:sp>
        <p:nvSpPr>
          <p:cNvPr id="273" name="Text"/>
          <p:cNvSpPr txBox="1"/>
          <p:nvPr/>
        </p:nvSpPr>
        <p:spPr>
          <a:xfrm>
            <a:off x="4467225" y="3257550"/>
            <a:ext cx="2524125" cy="495300"/>
          </a:xfrm>
          <a:prstGeom prst="rect">
            <a:avLst/>
          </a:prstGeom>
          <a:noFill/>
          <a:ln>
            <a:noFill/>
          </a:ln>
        </p:spPr>
        <p:txBody>
          <a:bodyPr wrap="square" anchor="t">
            <a:spAutoFit/>
          </a:bodyPr>
          <a:lstStyle/>
          <a:p>
            <a:pPr algn="l"/>
            <a:r>
              <a:rPr lang="en-US" sz="2400" b="1">
                <a:solidFill>
                  <a:srgbClr val="1F2933"/>
                </a:solidFill>
                <a:latin typeface="Aptos"/>
              </a:rPr>
              <a:t>χ² 285.53</a:t>
            </a:r>
          </a:p>
        </p:txBody>
      </p:sp>
      <p:sp>
        <p:nvSpPr>
          <p:cNvPr id="280" name="Rectangle"/>
          <p:cNvSpPr/>
          <p:nvPr/>
        </p:nvSpPr>
        <p:spPr>
          <a:xfrm>
            <a:off x="7524750" y="2762250"/>
            <a:ext cx="2905125" cy="1047750"/>
          </a:xfrm>
          <a:prstGeom prst="roundRect">
            <a:avLst/>
          </a:prstGeom>
          <a:solidFill>
            <a:srgbClr val="FFFFFF"/>
          </a:solidFill>
          <a:ln w="10000">
            <a:solidFill>
              <a:srgbClr val="D8DEE6"/>
            </a:solidFill>
          </a:ln>
        </p:spPr>
        <p:txBody>
          <a:bodyPr/>
          <a:lstStyle/>
          <a:p/>
        </p:txBody>
      </p:sp>
      <p:sp>
        <p:nvSpPr>
          <p:cNvPr id="281" name="Rectangle"/>
          <p:cNvSpPr/>
          <p:nvPr/>
        </p:nvSpPr>
        <p:spPr>
          <a:xfrm>
            <a:off x="7524750" y="2762250"/>
            <a:ext cx="76200" cy="1047750"/>
          </a:xfrm>
          <a:prstGeom prst="roundRect">
            <a:avLst/>
          </a:prstGeom>
          <a:solidFill>
            <a:srgbClr val="2F6F73"/>
          </a:solidFill>
          <a:ln>
            <a:noFill/>
          </a:ln>
        </p:spPr>
        <p:txBody>
          <a:bodyPr/>
          <a:lstStyle/>
          <a:p/>
        </p:txBody>
      </p:sp>
      <p:sp>
        <p:nvSpPr>
          <p:cNvPr id="282" name="Text"/>
          <p:cNvSpPr txBox="1"/>
          <p:nvPr/>
        </p:nvSpPr>
        <p:spPr>
          <a:xfrm>
            <a:off x="7753350" y="2933700"/>
            <a:ext cx="2524125" cy="266700"/>
          </a:xfrm>
          <a:prstGeom prst="rect">
            <a:avLst/>
          </a:prstGeom>
          <a:noFill/>
          <a:ln>
            <a:noFill/>
          </a:ln>
        </p:spPr>
        <p:txBody>
          <a:bodyPr wrap="square" anchor="t">
            <a:spAutoFit/>
          </a:bodyPr>
          <a:lstStyle/>
          <a:p>
            <a:pPr algn="l"/>
            <a:r>
              <a:rPr lang="en-US" sz="1300">
                <a:solidFill>
                  <a:srgbClr val="5F6B7A"/>
                </a:solidFill>
                <a:latin typeface="Aptos"/>
              </a:rPr>
              <a:t>Both p-values</a:t>
            </a:r>
          </a:p>
        </p:txBody>
      </p:sp>
      <p:sp>
        <p:nvSpPr>
          <p:cNvPr id="283" name="Text"/>
          <p:cNvSpPr txBox="1"/>
          <p:nvPr/>
        </p:nvSpPr>
        <p:spPr>
          <a:xfrm>
            <a:off x="7753350" y="3257550"/>
            <a:ext cx="2524125" cy="495300"/>
          </a:xfrm>
          <a:prstGeom prst="rect">
            <a:avLst/>
          </a:prstGeom>
          <a:noFill/>
          <a:ln>
            <a:noFill/>
          </a:ln>
        </p:spPr>
        <p:txBody>
          <a:bodyPr wrap="square" anchor="t">
            <a:spAutoFit/>
          </a:bodyPr>
          <a:lstStyle/>
          <a:p>
            <a:pPr algn="l"/>
            <a:r>
              <a:rPr lang="en-US" sz="2400" b="1">
                <a:solidFill>
                  <a:srgbClr val="1F2933"/>
                </a:solidFill>
                <a:latin typeface="Aptos"/>
              </a:rPr>
              <a:t>&lt; 0.001</a:t>
            </a:r>
          </a:p>
        </p:txBody>
      </p:sp>
      <p:sp>
        <p:nvSpPr>
          <p:cNvPr id="290" name="Text"/>
          <p:cNvSpPr txBox="1"/>
          <p:nvPr/>
        </p:nvSpPr>
        <p:spPr>
          <a:xfrm>
            <a:off x="1143000" y="4476750"/>
            <a:ext cx="9429750" cy="781050"/>
          </a:xfrm>
          <a:prstGeom prst="rect">
            <a:avLst/>
          </a:prstGeom>
          <a:noFill/>
          <a:ln>
            <a:noFill/>
          </a:ln>
        </p:spPr>
        <p:txBody>
          <a:bodyPr wrap="square" anchor="t">
            <a:spAutoFit/>
          </a:bodyPr>
          <a:lstStyle/>
          <a:p>
            <a:pPr algn="l"/>
            <a:r>
              <a:rPr lang="en-US" sz="2200" b="1">
                <a:solidFill>
                  <a:srgbClr val="1F2933"/>
                </a:solidFill>
                <a:latin typeface="Aptos"/>
              </a:rPr>
              <a:t>Interpretation</a:t>
            </a:r>
          </a:p>
        </p:txBody>
      </p:sp>
      <p:sp>
        <p:nvSpPr>
          <p:cNvPr id="291" name="Text"/>
          <p:cNvSpPr txBox="1"/>
          <p:nvPr/>
        </p:nvSpPr>
        <p:spPr>
          <a:xfrm>
            <a:off x="1143000" y="4953000"/>
            <a:ext cx="9429750" cy="714375"/>
          </a:xfrm>
          <a:prstGeom prst="rect">
            <a:avLst/>
          </a:prstGeom>
          <a:noFill/>
          <a:ln>
            <a:noFill/>
          </a:ln>
        </p:spPr>
        <p:txBody>
          <a:bodyPr wrap="square" anchor="t">
            <a:spAutoFit/>
          </a:bodyPr>
          <a:lstStyle/>
          <a:p>
            <a:pPr algn="l"/>
            <a:r>
              <a:rPr lang="en-US" sz="1700">
                <a:solidFill>
                  <a:srgbClr val="5F6B7A"/>
                </a:solidFill>
                <a:latin typeface="Aptos"/>
              </a:rPr>
              <a:t>When respondents expect negative consequences, workplace mental health conversations become less comfortable. This supports the stigma/disclosure-risk part of the capstone story.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30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MODEL</a:t>
            </a:r>
          </a:p>
        </p:txBody>
      </p:sp>
      <p:sp>
        <p:nvSpPr>
          <p:cNvPr id="30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treatment-seeking model separates groups well, but it remains associative.</a:t>
            </a:r>
          </a:p>
        </p:txBody>
      </p:sp>
      <p:sp>
        <p:nvSpPr>
          <p:cNvPr id="30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Logistic regression predicted treatment-seeking with ROC AUC 0.891 on the test set.</a:t>
            </a:r>
          </a:p>
        </p:txBody>
      </p:sp>
      <p:cxnSp>
        <p:nvCxnSpPr>
          <p:cNvPr id="303" name="Line"/>
          <p:cNvCxnSpPr/>
          <p:nvPr/>
        </p:nvCxnSpPr>
        <p:spPr>
          <a:xfrm>
            <a:off x="666750" y="2381250"/>
            <a:ext cx="10858500" cy="1"/>
          </a:xfrm>
          <a:prstGeom prst="line">
            <a:avLst/>
          </a:prstGeom>
          <a:ln w="18000">
            <a:solidFill>
              <a:srgbClr val="D8DEE6"/>
            </a:solidFill>
          </a:ln>
        </p:spPr>
      </p:cxnSp>
      <p:sp>
        <p:nvSpPr>
          <p:cNvPr id="310" name="Rectangle"/>
          <p:cNvSpPr/>
          <p:nvPr/>
        </p:nvSpPr>
        <p:spPr>
          <a:xfrm>
            <a:off x="904875" y="2714625"/>
            <a:ext cx="2476500" cy="1000125"/>
          </a:xfrm>
          <a:prstGeom prst="roundRect">
            <a:avLst/>
          </a:prstGeom>
          <a:solidFill>
            <a:srgbClr val="FFFFFF"/>
          </a:solidFill>
          <a:ln w="10000">
            <a:solidFill>
              <a:srgbClr val="D8DEE6"/>
            </a:solidFill>
          </a:ln>
        </p:spPr>
        <p:txBody>
          <a:bodyPr/>
          <a:lstStyle/>
          <a:p/>
        </p:txBody>
      </p:sp>
      <p:sp>
        <p:nvSpPr>
          <p:cNvPr id="311" name="Rectangle"/>
          <p:cNvSpPr/>
          <p:nvPr/>
        </p:nvSpPr>
        <p:spPr>
          <a:xfrm>
            <a:off x="904875" y="2714625"/>
            <a:ext cx="76200" cy="1000125"/>
          </a:xfrm>
          <a:prstGeom prst="roundRect">
            <a:avLst/>
          </a:prstGeom>
          <a:solidFill>
            <a:srgbClr val="2F6F73"/>
          </a:solidFill>
          <a:ln>
            <a:noFill/>
          </a:ln>
        </p:spPr>
        <p:txBody>
          <a:bodyPr/>
          <a:lstStyle/>
          <a:p/>
        </p:txBody>
      </p:sp>
      <p:sp>
        <p:nvSpPr>
          <p:cNvPr id="312" name="Text"/>
          <p:cNvSpPr txBox="1"/>
          <p:nvPr/>
        </p:nvSpPr>
        <p:spPr>
          <a:xfrm>
            <a:off x="1133475" y="2886075"/>
            <a:ext cx="2095500" cy="266700"/>
          </a:xfrm>
          <a:prstGeom prst="rect">
            <a:avLst/>
          </a:prstGeom>
          <a:noFill/>
          <a:ln>
            <a:noFill/>
          </a:ln>
        </p:spPr>
        <p:txBody>
          <a:bodyPr wrap="square" anchor="t">
            <a:spAutoFit/>
          </a:bodyPr>
          <a:lstStyle/>
          <a:p>
            <a:pPr algn="l"/>
            <a:r>
              <a:rPr lang="en-US" sz="1300">
                <a:solidFill>
                  <a:srgbClr val="5F6B7A"/>
                </a:solidFill>
                <a:latin typeface="Aptos"/>
              </a:rPr>
              <a:t>ROC AUC</a:t>
            </a:r>
          </a:p>
        </p:txBody>
      </p:sp>
      <p:sp>
        <p:nvSpPr>
          <p:cNvPr id="313" name="Text"/>
          <p:cNvSpPr txBox="1"/>
          <p:nvPr/>
        </p:nvSpPr>
        <p:spPr>
          <a:xfrm>
            <a:off x="1133475" y="3209925"/>
            <a:ext cx="2095500" cy="447675"/>
          </a:xfrm>
          <a:prstGeom prst="rect">
            <a:avLst/>
          </a:prstGeom>
          <a:noFill/>
          <a:ln>
            <a:noFill/>
          </a:ln>
        </p:spPr>
        <p:txBody>
          <a:bodyPr wrap="square" anchor="t">
            <a:spAutoFit/>
          </a:bodyPr>
          <a:lstStyle/>
          <a:p>
            <a:pPr algn="l"/>
            <a:r>
              <a:rPr lang="en-US" sz="2400" b="1">
                <a:solidFill>
                  <a:srgbClr val="1F2933"/>
                </a:solidFill>
                <a:latin typeface="Aptos"/>
              </a:rPr>
              <a:t>0.891</a:t>
            </a:r>
          </a:p>
        </p:txBody>
      </p:sp>
      <p:sp>
        <p:nvSpPr>
          <p:cNvPr id="320" name="Rectangle"/>
          <p:cNvSpPr/>
          <p:nvPr/>
        </p:nvSpPr>
        <p:spPr>
          <a:xfrm>
            <a:off x="3667125" y="2714625"/>
            <a:ext cx="2476500" cy="1000125"/>
          </a:xfrm>
          <a:prstGeom prst="roundRect">
            <a:avLst/>
          </a:prstGeom>
          <a:solidFill>
            <a:srgbClr val="FFFFFF"/>
          </a:solidFill>
          <a:ln w="10000">
            <a:solidFill>
              <a:srgbClr val="D8DEE6"/>
            </a:solidFill>
          </a:ln>
        </p:spPr>
        <p:txBody>
          <a:bodyPr/>
          <a:lstStyle/>
          <a:p/>
        </p:txBody>
      </p:sp>
      <p:sp>
        <p:nvSpPr>
          <p:cNvPr id="321" name="Rectangle"/>
          <p:cNvSpPr/>
          <p:nvPr/>
        </p:nvSpPr>
        <p:spPr>
          <a:xfrm>
            <a:off x="3667125" y="2714625"/>
            <a:ext cx="76200" cy="1000125"/>
          </a:xfrm>
          <a:prstGeom prst="roundRect">
            <a:avLst/>
          </a:prstGeom>
          <a:solidFill>
            <a:srgbClr val="D39B5F"/>
          </a:solidFill>
          <a:ln>
            <a:noFill/>
          </a:ln>
        </p:spPr>
        <p:txBody>
          <a:bodyPr/>
          <a:lstStyle/>
          <a:p/>
        </p:txBody>
      </p:sp>
      <p:sp>
        <p:nvSpPr>
          <p:cNvPr id="322" name="Text"/>
          <p:cNvSpPr txBox="1"/>
          <p:nvPr/>
        </p:nvSpPr>
        <p:spPr>
          <a:xfrm>
            <a:off x="3895725" y="2886075"/>
            <a:ext cx="2095500" cy="266700"/>
          </a:xfrm>
          <a:prstGeom prst="rect">
            <a:avLst/>
          </a:prstGeom>
          <a:noFill/>
          <a:ln>
            <a:noFill/>
          </a:ln>
        </p:spPr>
        <p:txBody>
          <a:bodyPr wrap="square" anchor="t">
            <a:spAutoFit/>
          </a:bodyPr>
          <a:lstStyle/>
          <a:p>
            <a:pPr algn="l"/>
            <a:r>
              <a:rPr lang="en-US" sz="1300">
                <a:solidFill>
                  <a:srgbClr val="5F6B7A"/>
                </a:solidFill>
                <a:latin typeface="Aptos"/>
              </a:rPr>
              <a:t>Accuracy</a:t>
            </a:r>
          </a:p>
        </p:txBody>
      </p:sp>
      <p:sp>
        <p:nvSpPr>
          <p:cNvPr id="323" name="Text"/>
          <p:cNvSpPr txBox="1"/>
          <p:nvPr/>
        </p:nvSpPr>
        <p:spPr>
          <a:xfrm>
            <a:off x="3895725" y="3209925"/>
            <a:ext cx="2095500" cy="447675"/>
          </a:xfrm>
          <a:prstGeom prst="rect">
            <a:avLst/>
          </a:prstGeom>
          <a:noFill/>
          <a:ln>
            <a:noFill/>
          </a:ln>
        </p:spPr>
        <p:txBody>
          <a:bodyPr wrap="square" anchor="t">
            <a:spAutoFit/>
          </a:bodyPr>
          <a:lstStyle/>
          <a:p>
            <a:pPr algn="l"/>
            <a:r>
              <a:rPr lang="en-US" sz="2400" b="1">
                <a:solidFill>
                  <a:srgbClr val="1F2933"/>
                </a:solidFill>
                <a:latin typeface="Aptos"/>
              </a:rPr>
              <a:t>0.819</a:t>
            </a:r>
          </a:p>
        </p:txBody>
      </p:sp>
      <p:sp>
        <p:nvSpPr>
          <p:cNvPr id="330" name="Rectangle"/>
          <p:cNvSpPr/>
          <p:nvPr/>
        </p:nvSpPr>
        <p:spPr>
          <a:xfrm>
            <a:off x="6429375" y="2714625"/>
            <a:ext cx="2476500" cy="1000125"/>
          </a:xfrm>
          <a:prstGeom prst="roundRect">
            <a:avLst/>
          </a:prstGeom>
          <a:solidFill>
            <a:srgbClr val="FFFFFF"/>
          </a:solidFill>
          <a:ln w="10000">
            <a:solidFill>
              <a:srgbClr val="D8DEE6"/>
            </a:solidFill>
          </a:ln>
        </p:spPr>
        <p:txBody>
          <a:bodyPr/>
          <a:lstStyle/>
          <a:p/>
        </p:txBody>
      </p:sp>
      <p:sp>
        <p:nvSpPr>
          <p:cNvPr id="331" name="Rectangle"/>
          <p:cNvSpPr/>
          <p:nvPr/>
        </p:nvSpPr>
        <p:spPr>
          <a:xfrm>
            <a:off x="6429375" y="2714625"/>
            <a:ext cx="76200" cy="1000125"/>
          </a:xfrm>
          <a:prstGeom prst="roundRect">
            <a:avLst/>
          </a:prstGeom>
          <a:solidFill>
            <a:srgbClr val="6D4C7D"/>
          </a:solidFill>
          <a:ln>
            <a:noFill/>
          </a:ln>
        </p:spPr>
        <p:txBody>
          <a:bodyPr/>
          <a:lstStyle/>
          <a:p/>
        </p:txBody>
      </p:sp>
      <p:sp>
        <p:nvSpPr>
          <p:cNvPr id="332" name="Text"/>
          <p:cNvSpPr txBox="1"/>
          <p:nvPr/>
        </p:nvSpPr>
        <p:spPr>
          <a:xfrm>
            <a:off x="6657975" y="2886075"/>
            <a:ext cx="2095500" cy="266700"/>
          </a:xfrm>
          <a:prstGeom prst="rect">
            <a:avLst/>
          </a:prstGeom>
          <a:noFill/>
          <a:ln>
            <a:noFill/>
          </a:ln>
        </p:spPr>
        <p:txBody>
          <a:bodyPr wrap="square" anchor="t">
            <a:spAutoFit/>
          </a:bodyPr>
          <a:lstStyle/>
          <a:p>
            <a:pPr algn="l"/>
            <a:r>
              <a:rPr lang="en-US" sz="1300">
                <a:solidFill>
                  <a:srgbClr val="5F6B7A"/>
                </a:solidFill>
                <a:latin typeface="Aptos"/>
              </a:rPr>
              <a:t>Recall</a:t>
            </a:r>
          </a:p>
        </p:txBody>
      </p:sp>
      <p:sp>
        <p:nvSpPr>
          <p:cNvPr id="333" name="Text"/>
          <p:cNvSpPr txBox="1"/>
          <p:nvPr/>
        </p:nvSpPr>
        <p:spPr>
          <a:xfrm>
            <a:off x="6657975" y="3209925"/>
            <a:ext cx="2095500" cy="447675"/>
          </a:xfrm>
          <a:prstGeom prst="rect">
            <a:avLst/>
          </a:prstGeom>
          <a:noFill/>
          <a:ln>
            <a:noFill/>
          </a:ln>
        </p:spPr>
        <p:txBody>
          <a:bodyPr wrap="square" anchor="t">
            <a:spAutoFit/>
          </a:bodyPr>
          <a:lstStyle/>
          <a:p>
            <a:pPr algn="l"/>
            <a:r>
              <a:rPr lang="en-US" sz="2400" b="1">
                <a:solidFill>
                  <a:srgbClr val="1F2933"/>
                </a:solidFill>
                <a:latin typeface="Aptos"/>
              </a:rPr>
              <a:t>0.862</a:t>
            </a:r>
          </a:p>
        </p:txBody>
      </p:sp>
      <p:sp>
        <p:nvSpPr>
          <p:cNvPr id="340" name="Text"/>
          <p:cNvSpPr txBox="1"/>
          <p:nvPr/>
        </p:nvSpPr>
        <p:spPr>
          <a:xfrm>
            <a:off x="952500" y="4333875"/>
            <a:ext cx="3810000" cy="342900"/>
          </a:xfrm>
          <a:prstGeom prst="rect">
            <a:avLst/>
          </a:prstGeom>
          <a:noFill/>
          <a:ln>
            <a:noFill/>
          </a:ln>
        </p:spPr>
        <p:txBody>
          <a:bodyPr wrap="square" anchor="t">
            <a:spAutoFit/>
          </a:bodyPr>
          <a:lstStyle/>
          <a:p>
            <a:pPr algn="l"/>
            <a:r>
              <a:rPr lang="en-US" sz="2000" b="1">
                <a:solidFill>
                  <a:srgbClr val="1F2933"/>
                </a:solidFill>
                <a:latin typeface="Aptos"/>
              </a:rPr>
              <a:t>Positive model signals</a:t>
            </a:r>
          </a:p>
        </p:txBody>
      </p:sp>
      <p:sp>
        <p:nvSpPr>
          <p:cNvPr id="341" name="Text"/>
          <p:cNvSpPr txBox="1"/>
          <p:nvPr/>
        </p:nvSpPr>
        <p:spPr>
          <a:xfrm>
            <a:off x="952500" y="4905375"/>
            <a:ext cx="9525000" cy="523875"/>
          </a:xfrm>
          <a:prstGeom prst="rect">
            <a:avLst/>
          </a:prstGeom>
          <a:noFill/>
          <a:ln>
            <a:noFill/>
          </a:ln>
        </p:spPr>
        <p:txBody>
          <a:bodyPr wrap="square" anchor="t">
            <a:spAutoFit/>
          </a:bodyPr>
          <a:lstStyle/>
          <a:p>
            <a:pPr algn="l"/>
            <a:r>
              <a:rPr lang="en-US" sz="1900">
                <a:solidFill>
                  <a:srgbClr val="5F6B7A"/>
                </a:solidFill>
                <a:latin typeface="Aptos"/>
              </a:rPr>
              <a:t>Work interference, family history, coworker discussion comfort, care options, and benefits.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35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RECOMMENDATIONS</a:t>
            </a:r>
          </a:p>
        </p:txBody>
      </p:sp>
      <p:sp>
        <p:nvSpPr>
          <p:cNvPr id="35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practical response is to make support visible, confidential, and culturally safe.</a:t>
            </a:r>
          </a:p>
        </p:txBody>
      </p:sp>
      <p:sp>
        <p:nvSpPr>
          <p:cNvPr id="35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Recommendations connect directly to the evidence: benefits, care options, disclosure comfort, and work interference.</a:t>
            </a:r>
          </a:p>
        </p:txBody>
      </p:sp>
      <p:cxnSp>
        <p:nvCxnSpPr>
          <p:cNvPr id="353" name="Line"/>
          <p:cNvCxnSpPr/>
          <p:nvPr/>
        </p:nvCxnSpPr>
        <p:spPr>
          <a:xfrm>
            <a:off x="666750" y="2381250"/>
            <a:ext cx="10858500" cy="1"/>
          </a:xfrm>
          <a:prstGeom prst="line">
            <a:avLst/>
          </a:prstGeom>
          <a:ln w="18000">
            <a:solidFill>
              <a:srgbClr val="D8DEE6"/>
            </a:solidFill>
          </a:ln>
        </p:spPr>
      </p:cxnSp>
      <p:sp>
        <p:nvSpPr>
          <p:cNvPr id="360" name="Text"/>
          <p:cNvSpPr txBox="1"/>
          <p:nvPr/>
        </p:nvSpPr>
        <p:spPr>
          <a:xfrm>
            <a:off x="1000125" y="2476500"/>
            <a:ext cx="419100" cy="400050"/>
          </a:xfrm>
          <a:prstGeom prst="rect">
            <a:avLst/>
          </a:prstGeom>
          <a:noFill/>
          <a:ln>
            <a:noFill/>
          </a:ln>
        </p:spPr>
        <p:txBody>
          <a:bodyPr wrap="square" anchor="t">
            <a:spAutoFit/>
          </a:bodyPr>
          <a:lstStyle/>
          <a:p>
            <a:pPr algn="c"/>
            <a:r>
              <a:rPr lang="en-US" sz="2000" b="1">
                <a:solidFill>
                  <a:srgbClr val="2F6F73"/>
                </a:solidFill>
                <a:latin typeface="Aptos"/>
              </a:rPr>
              <a:t>1</a:t>
            </a:r>
          </a:p>
        </p:txBody>
      </p:sp>
      <p:sp>
        <p:nvSpPr>
          <p:cNvPr id="361" name="Text"/>
          <p:cNvSpPr txBox="1"/>
          <p:nvPr/>
        </p:nvSpPr>
        <p:spPr>
          <a:xfrm>
            <a:off x="1666875" y="2476500"/>
            <a:ext cx="2476500" cy="342900"/>
          </a:xfrm>
          <a:prstGeom prst="rect">
            <a:avLst/>
          </a:prstGeom>
          <a:noFill/>
          <a:ln>
            <a:noFill/>
          </a:ln>
        </p:spPr>
        <p:txBody>
          <a:bodyPr wrap="square" anchor="t">
            <a:spAutoFit/>
          </a:bodyPr>
          <a:lstStyle/>
          <a:p>
            <a:pPr algn="l"/>
            <a:r>
              <a:rPr lang="en-US" sz="1900" b="1">
                <a:solidFill>
                  <a:srgbClr val="1F2933"/>
                </a:solidFill>
                <a:latin typeface="Aptos"/>
              </a:rPr>
              <a:t>Clarify benefits</a:t>
            </a:r>
          </a:p>
        </p:txBody>
      </p:sp>
      <p:sp>
        <p:nvSpPr>
          <p:cNvPr id="362" name="Text"/>
          <p:cNvSpPr txBox="1"/>
          <p:nvPr/>
        </p:nvSpPr>
        <p:spPr>
          <a:xfrm>
            <a:off x="4333875" y="2476500"/>
            <a:ext cx="6191250" cy="342900"/>
          </a:xfrm>
          <a:prstGeom prst="rect">
            <a:avLst/>
          </a:prstGeom>
          <a:noFill/>
          <a:ln>
            <a:noFill/>
          </a:ln>
        </p:spPr>
        <p:txBody>
          <a:bodyPr wrap="square" anchor="t">
            <a:spAutoFit/>
          </a:bodyPr>
          <a:lstStyle/>
          <a:p>
            <a:pPr algn="l"/>
            <a:r>
              <a:rPr lang="en-US" sz="1600">
                <a:solidFill>
                  <a:srgbClr val="5F6B7A"/>
                </a:solidFill>
                <a:latin typeface="Aptos"/>
              </a:rPr>
              <a:t>Make mental health benefits easy to find and understand.</a:t>
            </a:r>
          </a:p>
        </p:txBody>
      </p:sp>
      <p:sp>
        <p:nvSpPr>
          <p:cNvPr id="363" name="Text"/>
          <p:cNvSpPr txBox="1"/>
          <p:nvPr/>
        </p:nvSpPr>
        <p:spPr>
          <a:xfrm>
            <a:off x="1000125" y="3162300"/>
            <a:ext cx="419100" cy="400050"/>
          </a:xfrm>
          <a:prstGeom prst="rect">
            <a:avLst/>
          </a:prstGeom>
          <a:noFill/>
          <a:ln>
            <a:noFill/>
          </a:ln>
        </p:spPr>
        <p:txBody>
          <a:bodyPr wrap="square" anchor="t">
            <a:spAutoFit/>
          </a:bodyPr>
          <a:lstStyle/>
          <a:p>
            <a:pPr algn="c"/>
            <a:r>
              <a:rPr lang="en-US" sz="2000" b="1">
                <a:solidFill>
                  <a:srgbClr val="2F6F73"/>
                </a:solidFill>
                <a:latin typeface="Aptos"/>
              </a:rPr>
              <a:t>2</a:t>
            </a:r>
          </a:p>
        </p:txBody>
      </p:sp>
      <p:sp>
        <p:nvSpPr>
          <p:cNvPr id="364" name="Text"/>
          <p:cNvSpPr txBox="1"/>
          <p:nvPr/>
        </p:nvSpPr>
        <p:spPr>
          <a:xfrm>
            <a:off x="1666875" y="3162300"/>
            <a:ext cx="2476500" cy="342900"/>
          </a:xfrm>
          <a:prstGeom prst="rect">
            <a:avLst/>
          </a:prstGeom>
          <a:noFill/>
          <a:ln>
            <a:noFill/>
          </a:ln>
        </p:spPr>
        <p:txBody>
          <a:bodyPr wrap="square" anchor="t">
            <a:spAutoFit/>
          </a:bodyPr>
          <a:lstStyle/>
          <a:p>
            <a:pPr algn="l"/>
            <a:r>
              <a:rPr lang="en-US" sz="1900" b="1">
                <a:solidFill>
                  <a:srgbClr val="1F2933"/>
                </a:solidFill>
                <a:latin typeface="Aptos"/>
              </a:rPr>
              <a:t>Protect confidentiality</a:t>
            </a:r>
          </a:p>
        </p:txBody>
      </p:sp>
      <p:sp>
        <p:nvSpPr>
          <p:cNvPr id="365" name="Text"/>
          <p:cNvSpPr txBox="1"/>
          <p:nvPr/>
        </p:nvSpPr>
        <p:spPr>
          <a:xfrm>
            <a:off x="4333875" y="3162300"/>
            <a:ext cx="6191250" cy="342900"/>
          </a:xfrm>
          <a:prstGeom prst="rect">
            <a:avLst/>
          </a:prstGeom>
          <a:noFill/>
          <a:ln>
            <a:noFill/>
          </a:ln>
        </p:spPr>
        <p:txBody>
          <a:bodyPr wrap="square" anchor="t">
            <a:spAutoFit/>
          </a:bodyPr>
          <a:lstStyle/>
          <a:p>
            <a:pPr algn="l"/>
            <a:r>
              <a:rPr lang="en-US" sz="1600">
                <a:solidFill>
                  <a:srgbClr val="5F6B7A"/>
                </a:solidFill>
                <a:latin typeface="Aptos"/>
              </a:rPr>
              <a:t>Communicate anonymity and privacy protections clearly.</a:t>
            </a:r>
          </a:p>
        </p:txBody>
      </p:sp>
      <p:sp>
        <p:nvSpPr>
          <p:cNvPr id="366" name="Text"/>
          <p:cNvSpPr txBox="1"/>
          <p:nvPr/>
        </p:nvSpPr>
        <p:spPr>
          <a:xfrm>
            <a:off x="1000125" y="3848100"/>
            <a:ext cx="419100" cy="400050"/>
          </a:xfrm>
          <a:prstGeom prst="rect">
            <a:avLst/>
          </a:prstGeom>
          <a:noFill/>
          <a:ln>
            <a:noFill/>
          </a:ln>
        </p:spPr>
        <p:txBody>
          <a:bodyPr wrap="square" anchor="t">
            <a:spAutoFit/>
          </a:bodyPr>
          <a:lstStyle/>
          <a:p>
            <a:pPr algn="c"/>
            <a:r>
              <a:rPr lang="en-US" sz="2000" b="1">
                <a:solidFill>
                  <a:srgbClr val="2F6F73"/>
                </a:solidFill>
                <a:latin typeface="Aptos"/>
              </a:rPr>
              <a:t>3</a:t>
            </a:r>
          </a:p>
        </p:txBody>
      </p:sp>
      <p:sp>
        <p:nvSpPr>
          <p:cNvPr id="367" name="Text"/>
          <p:cNvSpPr txBox="1"/>
          <p:nvPr/>
        </p:nvSpPr>
        <p:spPr>
          <a:xfrm>
            <a:off x="1666875" y="3848100"/>
            <a:ext cx="2476500" cy="342900"/>
          </a:xfrm>
          <a:prstGeom prst="rect">
            <a:avLst/>
          </a:prstGeom>
          <a:noFill/>
          <a:ln>
            <a:noFill/>
          </a:ln>
        </p:spPr>
        <p:txBody>
          <a:bodyPr wrap="square" anchor="t">
            <a:spAutoFit/>
          </a:bodyPr>
          <a:lstStyle/>
          <a:p>
            <a:pPr algn="l"/>
            <a:r>
              <a:rPr lang="en-US" sz="1900" b="1">
                <a:solidFill>
                  <a:srgbClr val="1F2933"/>
                </a:solidFill>
                <a:latin typeface="Aptos"/>
              </a:rPr>
              <a:t>Train managers</a:t>
            </a:r>
          </a:p>
        </p:txBody>
      </p:sp>
      <p:sp>
        <p:nvSpPr>
          <p:cNvPr id="368" name="Text"/>
          <p:cNvSpPr txBox="1"/>
          <p:nvPr/>
        </p:nvSpPr>
        <p:spPr>
          <a:xfrm>
            <a:off x="4333875" y="3848100"/>
            <a:ext cx="6191250" cy="342900"/>
          </a:xfrm>
          <a:prstGeom prst="rect">
            <a:avLst/>
          </a:prstGeom>
          <a:noFill/>
          <a:ln>
            <a:noFill/>
          </a:ln>
        </p:spPr>
        <p:txBody>
          <a:bodyPr wrap="square" anchor="t">
            <a:spAutoFit/>
          </a:bodyPr>
          <a:lstStyle/>
          <a:p>
            <a:pPr algn="l"/>
            <a:r>
              <a:rPr lang="en-US" sz="1600">
                <a:solidFill>
                  <a:srgbClr val="5F6B7A"/>
                </a:solidFill>
                <a:latin typeface="Aptos"/>
              </a:rPr>
              <a:t>Only 41.0% were comfortable discussing mental health with supervisors.</a:t>
            </a:r>
          </a:p>
        </p:txBody>
      </p:sp>
      <p:sp>
        <p:nvSpPr>
          <p:cNvPr id="369" name="Text"/>
          <p:cNvSpPr txBox="1"/>
          <p:nvPr/>
        </p:nvSpPr>
        <p:spPr>
          <a:xfrm>
            <a:off x="1000125" y="4533900"/>
            <a:ext cx="419100" cy="400050"/>
          </a:xfrm>
          <a:prstGeom prst="rect">
            <a:avLst/>
          </a:prstGeom>
          <a:noFill/>
          <a:ln>
            <a:noFill/>
          </a:ln>
        </p:spPr>
        <p:txBody>
          <a:bodyPr wrap="square" anchor="t">
            <a:spAutoFit/>
          </a:bodyPr>
          <a:lstStyle/>
          <a:p>
            <a:pPr algn="c"/>
            <a:r>
              <a:rPr lang="en-US" sz="2000" b="1">
                <a:solidFill>
                  <a:srgbClr val="2F6F73"/>
                </a:solidFill>
                <a:latin typeface="Aptos"/>
              </a:rPr>
              <a:t>4</a:t>
            </a:r>
          </a:p>
        </p:txBody>
      </p:sp>
      <p:sp>
        <p:nvSpPr>
          <p:cNvPr id="370" name="Text"/>
          <p:cNvSpPr txBox="1"/>
          <p:nvPr/>
        </p:nvSpPr>
        <p:spPr>
          <a:xfrm>
            <a:off x="1666875" y="4533900"/>
            <a:ext cx="2476500" cy="342900"/>
          </a:xfrm>
          <a:prstGeom prst="rect">
            <a:avLst/>
          </a:prstGeom>
          <a:noFill/>
          <a:ln>
            <a:noFill/>
          </a:ln>
        </p:spPr>
        <p:txBody>
          <a:bodyPr wrap="square" anchor="t">
            <a:spAutoFit/>
          </a:bodyPr>
          <a:lstStyle/>
          <a:p>
            <a:pPr algn="l"/>
            <a:r>
              <a:rPr lang="en-US" sz="1900" b="1">
                <a:solidFill>
                  <a:srgbClr val="1F2933"/>
                </a:solidFill>
                <a:latin typeface="Aptos"/>
              </a:rPr>
              <a:t>Reduce stigma</a:t>
            </a:r>
          </a:p>
        </p:txBody>
      </p:sp>
      <p:sp>
        <p:nvSpPr>
          <p:cNvPr id="371" name="Text"/>
          <p:cNvSpPr txBox="1"/>
          <p:nvPr/>
        </p:nvSpPr>
        <p:spPr>
          <a:xfrm>
            <a:off x="4333875" y="4533900"/>
            <a:ext cx="6191250" cy="342900"/>
          </a:xfrm>
          <a:prstGeom prst="rect">
            <a:avLst/>
          </a:prstGeom>
          <a:noFill/>
          <a:ln>
            <a:noFill/>
          </a:ln>
        </p:spPr>
        <p:txBody>
          <a:bodyPr wrap="square" anchor="t">
            <a:spAutoFit/>
          </a:bodyPr>
          <a:lstStyle/>
          <a:p>
            <a:pPr algn="l"/>
            <a:r>
              <a:rPr lang="en-US" sz="1600">
                <a:solidFill>
                  <a:srgbClr val="5F6B7A"/>
                </a:solidFill>
                <a:latin typeface="Aptos"/>
              </a:rPr>
              <a:t>Only 17.9% were comfortable discussing mental health with coworkers.</a:t>
            </a:r>
          </a:p>
        </p:txBody>
      </p:sp>
      <p:sp>
        <p:nvSpPr>
          <p:cNvPr id="372" name="Text"/>
          <p:cNvSpPr txBox="1"/>
          <p:nvPr/>
        </p:nvSpPr>
        <p:spPr>
          <a:xfrm>
            <a:off x="1000125" y="5219700"/>
            <a:ext cx="419100" cy="400050"/>
          </a:xfrm>
          <a:prstGeom prst="rect">
            <a:avLst/>
          </a:prstGeom>
          <a:noFill/>
          <a:ln>
            <a:noFill/>
          </a:ln>
        </p:spPr>
        <p:txBody>
          <a:bodyPr wrap="square" anchor="t">
            <a:spAutoFit/>
          </a:bodyPr>
          <a:lstStyle/>
          <a:p>
            <a:pPr algn="c"/>
            <a:r>
              <a:rPr lang="en-US" sz="2000" b="1">
                <a:solidFill>
                  <a:srgbClr val="2F6F73"/>
                </a:solidFill>
                <a:latin typeface="Aptos"/>
              </a:rPr>
              <a:t>5</a:t>
            </a:r>
          </a:p>
        </p:txBody>
      </p:sp>
      <p:sp>
        <p:nvSpPr>
          <p:cNvPr id="373" name="Text"/>
          <p:cNvSpPr txBox="1"/>
          <p:nvPr/>
        </p:nvSpPr>
        <p:spPr>
          <a:xfrm>
            <a:off x="1666875" y="5219700"/>
            <a:ext cx="2476500" cy="342900"/>
          </a:xfrm>
          <a:prstGeom prst="rect">
            <a:avLst/>
          </a:prstGeom>
          <a:noFill/>
          <a:ln>
            <a:noFill/>
          </a:ln>
        </p:spPr>
        <p:txBody>
          <a:bodyPr wrap="square" anchor="t">
            <a:spAutoFit/>
          </a:bodyPr>
          <a:lstStyle/>
          <a:p>
            <a:pPr algn="l"/>
            <a:r>
              <a:rPr lang="en-US" sz="1900" b="1">
                <a:solidFill>
                  <a:srgbClr val="1F2933"/>
                </a:solidFill>
                <a:latin typeface="Aptos"/>
              </a:rPr>
              <a:t>Monitor interference</a:t>
            </a:r>
          </a:p>
        </p:txBody>
      </p:sp>
      <p:sp>
        <p:nvSpPr>
          <p:cNvPr id="374" name="Text"/>
          <p:cNvSpPr txBox="1"/>
          <p:nvPr/>
        </p:nvSpPr>
        <p:spPr>
          <a:xfrm>
            <a:off x="4333875" y="5219700"/>
            <a:ext cx="6191250" cy="342900"/>
          </a:xfrm>
          <a:prstGeom prst="rect">
            <a:avLst/>
          </a:prstGeom>
          <a:noFill/>
          <a:ln>
            <a:noFill/>
          </a:ln>
        </p:spPr>
        <p:txBody>
          <a:bodyPr wrap="square" anchor="t">
            <a:spAutoFit/>
          </a:bodyPr>
          <a:lstStyle/>
          <a:p>
            <a:pPr algn="l"/>
            <a:r>
              <a:rPr lang="en-US" sz="1600">
                <a:solidFill>
                  <a:srgbClr val="5F6B7A"/>
                </a:solidFill>
                <a:latin typeface="Aptos"/>
              </a:rPr>
              <a:t>Use work interference as an early signal for support needs.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39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LIMITATIONS</a:t>
            </a:r>
          </a:p>
        </p:txBody>
      </p:sp>
      <p:sp>
        <p:nvSpPr>
          <p:cNvPr id="39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The study is useful for evidence, but it should not be overclaimed.</a:t>
            </a:r>
          </a:p>
        </p:txBody>
      </p:sp>
      <p:sp>
        <p:nvSpPr>
          <p:cNvPr id="39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The correct interpretation is association in a self-reported, non-random public survey sample.</a:t>
            </a:r>
          </a:p>
        </p:txBody>
      </p:sp>
      <p:cxnSp>
        <p:nvCxnSpPr>
          <p:cNvPr id="393" name="Line"/>
          <p:cNvCxnSpPr/>
          <p:nvPr/>
        </p:nvCxnSpPr>
        <p:spPr>
          <a:xfrm>
            <a:off x="666750" y="2381250"/>
            <a:ext cx="10858500" cy="1"/>
          </a:xfrm>
          <a:prstGeom prst="line">
            <a:avLst/>
          </a:prstGeom>
          <a:ln w="18000">
            <a:solidFill>
              <a:srgbClr val="D8DEE6"/>
            </a:solidFill>
          </a:ln>
        </p:spPr>
      </p:cxnSp>
      <p:sp>
        <p:nvSpPr>
          <p:cNvPr id="400" name="Rectangle"/>
          <p:cNvSpPr/>
          <p:nvPr/>
        </p:nvSpPr>
        <p:spPr>
          <a:xfrm>
            <a:off x="952500" y="2524125"/>
            <a:ext cx="266700" cy="266700"/>
          </a:xfrm>
          <a:prstGeom prst="roundRect">
            <a:avLst/>
          </a:prstGeom>
          <a:solidFill>
            <a:srgbClr val="D39B5F"/>
          </a:solidFill>
          <a:ln>
            <a:noFill/>
          </a:ln>
        </p:spPr>
        <p:txBody>
          <a:bodyPr/>
          <a:lstStyle/>
          <a:p/>
        </p:txBody>
      </p:sp>
      <p:sp>
        <p:nvSpPr>
          <p:cNvPr id="401" name="Text"/>
          <p:cNvSpPr txBox="1"/>
          <p:nvPr/>
        </p:nvSpPr>
        <p:spPr>
          <a:xfrm>
            <a:off x="1428750" y="2428875"/>
            <a:ext cx="8858250" cy="419100"/>
          </a:xfrm>
          <a:prstGeom prst="rect">
            <a:avLst/>
          </a:prstGeom>
          <a:noFill/>
          <a:ln>
            <a:noFill/>
          </a:ln>
        </p:spPr>
        <p:txBody>
          <a:bodyPr wrap="square" anchor="t">
            <a:spAutoFit/>
          </a:bodyPr>
          <a:lstStyle/>
          <a:p>
            <a:pPr algn="l"/>
            <a:r>
              <a:rPr lang="en-US" sz="1900">
                <a:solidFill>
                  <a:srgbClr val="1F2933"/>
                </a:solidFill>
                <a:latin typeface="Aptos"/>
              </a:rPr>
              <a:t>Observational data cannot prove cause and effect.</a:t>
            </a:r>
          </a:p>
        </p:txBody>
      </p:sp>
      <p:sp>
        <p:nvSpPr>
          <p:cNvPr id="402" name="Rectangle"/>
          <p:cNvSpPr/>
          <p:nvPr/>
        </p:nvSpPr>
        <p:spPr>
          <a:xfrm>
            <a:off x="952500" y="3190875"/>
            <a:ext cx="266700" cy="266700"/>
          </a:xfrm>
          <a:prstGeom prst="roundRect">
            <a:avLst/>
          </a:prstGeom>
          <a:solidFill>
            <a:srgbClr val="D39B5F"/>
          </a:solidFill>
          <a:ln>
            <a:noFill/>
          </a:ln>
        </p:spPr>
        <p:txBody>
          <a:bodyPr/>
          <a:lstStyle/>
          <a:p/>
        </p:txBody>
      </p:sp>
      <p:sp>
        <p:nvSpPr>
          <p:cNvPr id="403" name="Text"/>
          <p:cNvSpPr txBox="1"/>
          <p:nvPr/>
        </p:nvSpPr>
        <p:spPr>
          <a:xfrm>
            <a:off x="1428750" y="3095625"/>
            <a:ext cx="8858250" cy="419100"/>
          </a:xfrm>
          <a:prstGeom prst="rect">
            <a:avLst/>
          </a:prstGeom>
          <a:noFill/>
          <a:ln>
            <a:noFill/>
          </a:ln>
        </p:spPr>
        <p:txBody>
          <a:bodyPr wrap="square" anchor="t">
            <a:spAutoFit/>
          </a:bodyPr>
          <a:lstStyle/>
          <a:p>
            <a:pPr algn="l"/>
            <a:r>
              <a:rPr lang="en-US" sz="1900">
                <a:solidFill>
                  <a:srgbClr val="1F2933"/>
                </a:solidFill>
                <a:latin typeface="Aptos"/>
              </a:rPr>
              <a:t>Survey respondents are not a random sample of all technology workers.</a:t>
            </a:r>
          </a:p>
        </p:txBody>
      </p:sp>
      <p:sp>
        <p:nvSpPr>
          <p:cNvPr id="404" name="Rectangle"/>
          <p:cNvSpPr/>
          <p:nvPr/>
        </p:nvSpPr>
        <p:spPr>
          <a:xfrm>
            <a:off x="952500" y="3857625"/>
            <a:ext cx="266700" cy="266700"/>
          </a:xfrm>
          <a:prstGeom prst="roundRect">
            <a:avLst/>
          </a:prstGeom>
          <a:solidFill>
            <a:srgbClr val="D39B5F"/>
          </a:solidFill>
          <a:ln>
            <a:noFill/>
          </a:ln>
        </p:spPr>
        <p:txBody>
          <a:bodyPr/>
          <a:lstStyle/>
          <a:p/>
        </p:txBody>
      </p:sp>
      <p:sp>
        <p:nvSpPr>
          <p:cNvPr id="405" name="Text"/>
          <p:cNvSpPr txBox="1"/>
          <p:nvPr/>
        </p:nvSpPr>
        <p:spPr>
          <a:xfrm>
            <a:off x="1428750" y="3762375"/>
            <a:ext cx="8858250" cy="419100"/>
          </a:xfrm>
          <a:prstGeom prst="rect">
            <a:avLst/>
          </a:prstGeom>
          <a:noFill/>
          <a:ln>
            <a:noFill/>
          </a:ln>
        </p:spPr>
        <p:txBody>
          <a:bodyPr wrap="square" anchor="t">
            <a:spAutoFit/>
          </a:bodyPr>
          <a:lstStyle/>
          <a:p>
            <a:pPr algn="l"/>
            <a:r>
              <a:rPr lang="en-US" sz="1900">
                <a:solidFill>
                  <a:srgbClr val="1F2933"/>
                </a:solidFill>
                <a:latin typeface="Aptos"/>
              </a:rPr>
              <a:t>Self-reported answers may include recall or social desirability bias.</a:t>
            </a:r>
          </a:p>
        </p:txBody>
      </p:sp>
      <p:sp>
        <p:nvSpPr>
          <p:cNvPr id="406" name="Rectangle"/>
          <p:cNvSpPr/>
          <p:nvPr/>
        </p:nvSpPr>
        <p:spPr>
          <a:xfrm>
            <a:off x="952500" y="4524375"/>
            <a:ext cx="266700" cy="266700"/>
          </a:xfrm>
          <a:prstGeom prst="roundRect">
            <a:avLst/>
          </a:prstGeom>
          <a:solidFill>
            <a:srgbClr val="D39B5F"/>
          </a:solidFill>
          <a:ln>
            <a:noFill/>
          </a:ln>
        </p:spPr>
        <p:txBody>
          <a:bodyPr/>
          <a:lstStyle/>
          <a:p/>
        </p:txBody>
      </p:sp>
      <p:sp>
        <p:nvSpPr>
          <p:cNvPr id="407" name="Text"/>
          <p:cNvSpPr txBox="1"/>
          <p:nvPr/>
        </p:nvSpPr>
        <p:spPr>
          <a:xfrm>
            <a:off x="1428750" y="4429125"/>
            <a:ext cx="8858250" cy="419100"/>
          </a:xfrm>
          <a:prstGeom prst="rect">
            <a:avLst/>
          </a:prstGeom>
          <a:noFill/>
          <a:ln>
            <a:noFill/>
          </a:ln>
        </p:spPr>
        <p:txBody>
          <a:bodyPr wrap="square" anchor="t">
            <a:spAutoFit/>
          </a:bodyPr>
          <a:lstStyle/>
          <a:p>
            <a:pPr algn="l"/>
            <a:r>
              <a:rPr lang="en-US" sz="1900">
                <a:solidFill>
                  <a:srgbClr val="1F2933"/>
                </a:solidFill>
                <a:latin typeface="Aptos"/>
              </a:rPr>
              <a:t>Some variables have missing values, especially work_interfere.</a:t>
            </a:r>
          </a:p>
        </p:txBody>
      </p:sp>
      <p:sp>
        <p:nvSpPr>
          <p:cNvPr id="408" name="Rectangle"/>
          <p:cNvSpPr/>
          <p:nvPr/>
        </p:nvSpPr>
        <p:spPr>
          <a:xfrm>
            <a:off x="952500" y="5191125"/>
            <a:ext cx="266700" cy="266700"/>
          </a:xfrm>
          <a:prstGeom prst="roundRect">
            <a:avLst/>
          </a:prstGeom>
          <a:solidFill>
            <a:srgbClr val="D39B5F"/>
          </a:solidFill>
          <a:ln>
            <a:noFill/>
          </a:ln>
        </p:spPr>
        <p:txBody>
          <a:bodyPr/>
          <a:lstStyle/>
          <a:p/>
        </p:txBody>
      </p:sp>
      <p:sp>
        <p:nvSpPr>
          <p:cNvPr id="409" name="Text"/>
          <p:cNvSpPr txBox="1"/>
          <p:nvPr/>
        </p:nvSpPr>
        <p:spPr>
          <a:xfrm>
            <a:off x="1428750" y="5095875"/>
            <a:ext cx="8858250" cy="419100"/>
          </a:xfrm>
          <a:prstGeom prst="rect">
            <a:avLst/>
          </a:prstGeom>
          <a:noFill/>
          <a:ln>
            <a:noFill/>
          </a:ln>
        </p:spPr>
        <p:txBody>
          <a:bodyPr wrap="square" anchor="t">
            <a:spAutoFit/>
          </a:bodyPr>
          <a:lstStyle/>
          <a:p>
            <a:pPr algn="l"/>
            <a:r>
              <a:rPr lang="en-US" sz="1900">
                <a:solidFill>
                  <a:srgbClr val="1F2933"/>
                </a:solidFill>
                <a:latin typeface="Aptos"/>
              </a:rPr>
              <a:t>Gender grouping simplifies diverse self-described identities.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7F3"/>
        </a:solidFill>
      </p:bgPr>
    </p:bg>
    <p:spTree>
      <p:nvGrpSpPr>
        <p:cNvPr id="1" name=""/>
        <p:cNvGrpSpPr/>
        <p:nvPr/>
      </p:nvGrpSpPr>
      <p:grpSpPr>
        <a:xfrm>
          <a:off x="0" y="0"/>
          <a:ext cx="0" cy="0"/>
          <a:chOff x="0" y="0"/>
          <a:chExt cx="0" cy="0"/>
        </a:xfrm>
      </p:grpSpPr>
      <p:sp>
        <p:nvSpPr>
          <p:cNvPr id="430" name="Text"/>
          <p:cNvSpPr txBox="1"/>
          <p:nvPr/>
        </p:nvSpPr>
        <p:spPr>
          <a:xfrm>
            <a:off x="666750" y="419100"/>
            <a:ext cx="4381500" cy="266700"/>
          </a:xfrm>
          <a:prstGeom prst="rect">
            <a:avLst/>
          </a:prstGeom>
          <a:noFill/>
          <a:ln>
            <a:noFill/>
          </a:ln>
        </p:spPr>
        <p:txBody>
          <a:bodyPr wrap="square" anchor="t">
            <a:spAutoFit/>
          </a:bodyPr>
          <a:lstStyle/>
          <a:p>
            <a:pPr algn="l"/>
            <a:r>
              <a:rPr lang="en-US" sz="1200" b="1">
                <a:solidFill>
                  <a:srgbClr val="2F6F73"/>
                </a:solidFill>
                <a:latin typeface="Aptos"/>
              </a:rPr>
              <a:t>CLOSE</a:t>
            </a:r>
          </a:p>
        </p:txBody>
      </p:sp>
      <p:sp>
        <p:nvSpPr>
          <p:cNvPr id="431" name="Text"/>
          <p:cNvSpPr txBox="1"/>
          <p:nvPr/>
        </p:nvSpPr>
        <p:spPr>
          <a:xfrm>
            <a:off x="666750" y="742950"/>
            <a:ext cx="9525000" cy="990600"/>
          </a:xfrm>
          <a:prstGeom prst="rect">
            <a:avLst/>
          </a:prstGeom>
          <a:noFill/>
          <a:ln>
            <a:noFill/>
          </a:ln>
        </p:spPr>
        <p:txBody>
          <a:bodyPr wrap="square" anchor="t">
            <a:spAutoFit/>
          </a:bodyPr>
          <a:lstStyle/>
          <a:p>
            <a:pPr algn="l"/>
            <a:r>
              <a:rPr lang="en-US" sz="2800" b="1">
                <a:solidFill>
                  <a:srgbClr val="1F2933"/>
                </a:solidFill>
                <a:latin typeface="Aptos"/>
              </a:rPr>
              <a:t>Private treatment is common, but workplace openness remains constrained.</a:t>
            </a:r>
          </a:p>
        </p:txBody>
      </p:sp>
      <p:sp>
        <p:nvSpPr>
          <p:cNvPr id="432" name="Text"/>
          <p:cNvSpPr txBox="1"/>
          <p:nvPr/>
        </p:nvSpPr>
        <p:spPr>
          <a:xfrm>
            <a:off x="666750" y="1809750"/>
            <a:ext cx="9715500" cy="457200"/>
          </a:xfrm>
          <a:prstGeom prst="rect">
            <a:avLst/>
          </a:prstGeom>
          <a:noFill/>
          <a:ln>
            <a:noFill/>
          </a:ln>
        </p:spPr>
        <p:txBody>
          <a:bodyPr wrap="square" anchor="t">
            <a:spAutoFit/>
          </a:bodyPr>
          <a:lstStyle/>
          <a:p>
            <a:pPr algn="l"/>
            <a:r>
              <a:rPr lang="en-US" sz="1400">
                <a:solidFill>
                  <a:srgbClr val="5F6B7A"/>
                </a:solidFill>
                <a:latin typeface="Aptos"/>
              </a:rPr>
              <a:t>50.6% sought treatment, but only 41.0% were comfortable with supervisors and 17.9% with coworkers.</a:t>
            </a:r>
          </a:p>
        </p:txBody>
      </p:sp>
      <p:cxnSp>
        <p:nvCxnSpPr>
          <p:cNvPr id="433" name="Line"/>
          <p:cNvCxnSpPr/>
          <p:nvPr/>
        </p:nvCxnSpPr>
        <p:spPr>
          <a:xfrm>
            <a:off x="666750" y="2381250"/>
            <a:ext cx="10858500" cy="1"/>
          </a:xfrm>
          <a:prstGeom prst="line">
            <a:avLst/>
          </a:prstGeom>
          <a:ln w="18000">
            <a:solidFill>
              <a:srgbClr val="D8DEE6"/>
            </a:solidFill>
          </a:ln>
        </p:spPr>
      </p:cxnSp>
      <p:sp>
        <p:nvSpPr>
          <p:cNvPr id="440" name="Text"/>
          <p:cNvSpPr txBox="1"/>
          <p:nvPr/>
        </p:nvSpPr>
        <p:spPr>
          <a:xfrm>
            <a:off x="1143000" y="2714625"/>
            <a:ext cx="9334500" cy="514350"/>
          </a:xfrm>
          <a:prstGeom prst="rect">
            <a:avLst/>
          </a:prstGeom>
          <a:noFill/>
          <a:ln>
            <a:noFill/>
          </a:ln>
        </p:spPr>
        <p:txBody>
          <a:bodyPr wrap="square" anchor="t">
            <a:spAutoFit/>
          </a:bodyPr>
          <a:lstStyle/>
          <a:p>
            <a:pPr algn="l"/>
            <a:r>
              <a:rPr lang="en-US" sz="3000" b="1">
                <a:solidFill>
                  <a:srgbClr val="2F6F73"/>
                </a:solidFill>
                <a:latin typeface="Aptos"/>
              </a:rPr>
              <a:t>Final takeaway</a:t>
            </a:r>
          </a:p>
        </p:txBody>
      </p:sp>
      <p:sp>
        <p:nvSpPr>
          <p:cNvPr id="441" name="Text"/>
          <p:cNvSpPr txBox="1"/>
          <p:nvPr/>
        </p:nvSpPr>
        <p:spPr>
          <a:xfrm>
            <a:off x="1143000" y="3381375"/>
            <a:ext cx="9334500" cy="1143000"/>
          </a:xfrm>
          <a:prstGeom prst="rect">
            <a:avLst/>
          </a:prstGeom>
          <a:noFill/>
          <a:ln>
            <a:noFill/>
          </a:ln>
        </p:spPr>
        <p:txBody>
          <a:bodyPr wrap="square" anchor="t">
            <a:spAutoFit/>
          </a:bodyPr>
          <a:lstStyle/>
          <a:p>
            <a:pPr algn="l"/>
            <a:r>
              <a:rPr lang="en-US" sz="2400">
                <a:solidFill>
                  <a:srgbClr val="1F2933"/>
                </a:solidFill>
                <a:latin typeface="Aptos"/>
              </a:rPr>
              <a:t>Offering mental health resources is not enough. Technology employers need visible benefits, trusted care options, confidentiality, and team cultures where mental health can be discussed safely.</a:t>
            </a:r>
          </a:p>
        </p:txBody>
      </p:sp>
      <p:sp>
        <p:nvSpPr>
          <p:cNvPr id="442" name="Text"/>
          <p:cNvSpPr txBox="1"/>
          <p:nvPr/>
        </p:nvSpPr>
        <p:spPr>
          <a:xfrm>
            <a:off x="1143000" y="5905500"/>
            <a:ext cx="9525000" cy="323850"/>
          </a:xfrm>
          <a:prstGeom prst="rect">
            <a:avLst/>
          </a:prstGeom>
          <a:noFill/>
          <a:ln>
            <a:noFill/>
          </a:ln>
        </p:spPr>
        <p:txBody>
          <a:bodyPr wrap="square" anchor="t">
            <a:spAutoFit/>
          </a:bodyPr>
          <a:lstStyle/>
          <a:p>
            <a:pPr algn="l"/>
            <a:r>
              <a:rPr lang="en-US" sz="1300">
                <a:solidFill>
                  <a:srgbClr val="5F6B7A"/>
                </a:solidFill>
                <a:latin typeface="Aptos"/>
              </a:rPr>
              <a:t>Source: OSMI Mental Health in Tech Survey via Kaggle. Analysis files, notebook, dashboard, and report are saved in the project repository.</a:t>
            </a:r>
          </a:p>
        </p:txBody>
      </p:sp>
    </p:spTree>
  </p:cSld>
  <p:clrMapOvr>
    <a:masterClrMapping/>
  </p:clrMapOvr>
</p:sld>
</file>

<file path=ppt/theme/theme1.xml><?xml version="1.0" encoding="utf-8"?>
<a:theme xmlns:a="http://schemas.openxmlformats.org/drawingml/2006/main" name="Capstone Theme">
  <a:themeElements>
    <a:clrScheme name="Capstone">
      <a:dk1>
        <a:srgbClr val="1F2933"/>
      </a:dk1>
      <a:lt1>
        <a:srgbClr val="FFFFFF"/>
      </a:lt1>
      <a:dk2>
        <a:srgbClr val="5F6B7A"/>
      </a:dk2>
      <a:lt2>
        <a:srgbClr val="F7F7F3"/>
      </a:lt2>
      <a:accent1>
        <a:srgbClr val="2F6F73"/>
      </a:accent1>
      <a:accent2>
        <a:srgbClr val="C25746"/>
      </a:accent2>
      <a:accent3>
        <a:srgbClr val="D39B5F"/>
      </a:accent3>
      <a:accent4>
        <a:srgbClr val="6D4C7D"/>
      </a:accent4>
      <a:accent5>
        <a:srgbClr val="52796F"/>
      </a:accent5>
      <a:accent6>
        <a:srgbClr val="9CA3AF"/>
      </a:accent6>
      <a:hlink>
        <a:srgbClr val="2F6F73"/>
      </a:hlink>
      <a:folHlink>
        <a:srgbClr val="6D4C7D"/>
      </a:folHlink>
    </a:clrScheme>
    <a:fontScheme name="Aptos">
      <a:majorFont>
        <a:latin typeface="Aptos Display"/>
      </a:majorFont>
      <a:minorFont>
        <a:latin typeface="Aptos"/>
      </a:minorFont>
    </a:fontScheme>
    <a:fmtScheme name="Defaul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theme>
</file>