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19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AdventureWorks Workforce Insights </a:t>
            </a:r>
            <a:endParaRPr lang="en-US" sz="4450" dirty="0">
              <a:latin typeface="Helvetica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Post-Merger HR Analysis</a:t>
            </a:r>
            <a:endParaRPr lang="en-US" sz="1750" dirty="0">
              <a:latin typeface="Helvetica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Presented by: Lubana Akter</a:t>
            </a:r>
            <a:endParaRPr lang="en-US" sz="175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844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The Merger Created An Urgent Need For Clear Workforce Visibility</a:t>
            </a:r>
            <a:endParaRPr lang="en-US" sz="4450" dirty="0">
              <a:latin typeface="Helvetica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05B014-C9AC-11F3-12D2-3E5F1A40D4B0}"/>
              </a:ext>
            </a:extLst>
          </p:cNvPr>
          <p:cNvGrpSpPr/>
          <p:nvPr/>
        </p:nvGrpSpPr>
        <p:grpSpPr>
          <a:xfrm>
            <a:off x="793790" y="3626168"/>
            <a:ext cx="4196358" cy="2734984"/>
            <a:chOff x="793790" y="3626168"/>
            <a:chExt cx="4196358" cy="2734984"/>
          </a:xfrm>
        </p:grpSpPr>
        <p:sp>
          <p:nvSpPr>
            <p:cNvPr id="3" name="Shape 1"/>
            <p:cNvSpPr/>
            <p:nvPr/>
          </p:nvSpPr>
          <p:spPr>
            <a:xfrm>
              <a:off x="793790" y="3966329"/>
              <a:ext cx="4196358" cy="2394823"/>
            </a:xfrm>
            <a:prstGeom prst="roundRect">
              <a:avLst>
                <a:gd name="adj" fmla="val 610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>
                <a:latin typeface="Helvetica" pitchFamily="2" charset="0"/>
              </a:endParaRPr>
            </a:p>
          </p:txBody>
        </p:sp>
        <p:sp>
          <p:nvSpPr>
            <p:cNvPr id="4" name="Shape 2"/>
            <p:cNvSpPr/>
            <p:nvPr/>
          </p:nvSpPr>
          <p:spPr>
            <a:xfrm>
              <a:off x="793790" y="3935849"/>
              <a:ext cx="4196358" cy="121920"/>
            </a:xfrm>
            <a:prstGeom prst="roundRect">
              <a:avLst>
                <a:gd name="adj" fmla="val 78139"/>
              </a:avLst>
            </a:prstGeom>
            <a:solidFill>
              <a:srgbClr val="26A688"/>
            </a:solidFill>
            <a:ln/>
          </p:spPr>
          <p:txBody>
            <a:bodyPr/>
            <a:lstStyle/>
            <a:p>
              <a:endParaRPr lang="en-US">
                <a:latin typeface="Helvetica" pitchFamily="2" charset="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2551688" y="3626168"/>
              <a:ext cx="680442" cy="680442"/>
            </a:xfrm>
            <a:prstGeom prst="roundRect">
              <a:avLst>
                <a:gd name="adj" fmla="val 134383"/>
              </a:avLst>
            </a:prstGeom>
            <a:solidFill>
              <a:srgbClr val="26A688"/>
            </a:solidFill>
            <a:ln/>
          </p:spPr>
          <p:txBody>
            <a:bodyPr/>
            <a:lstStyle/>
            <a:p>
              <a:endParaRPr lang="en-US">
                <a:latin typeface="Helvetica" pitchFamily="2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2812033" y="3782240"/>
              <a:ext cx="272177" cy="3401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400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Helvetica" pitchFamily="2" charset="0"/>
                  <a:ea typeface="Unbounded Bold" pitchFamily="34" charset="-122"/>
                  <a:cs typeface="Unbounded Bold" pitchFamily="34" charset="-120"/>
                </a:rPr>
                <a:t>1</a:t>
              </a:r>
              <a:endParaRPr lang="en-US" sz="2100" dirty="0">
                <a:latin typeface="Helvetica" pitchFamily="2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1051084" y="4533305"/>
              <a:ext cx="3681770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33F70"/>
                  </a:solidFill>
                  <a:latin typeface="Helvetica" pitchFamily="2" charset="0"/>
                  <a:ea typeface="Unbounded Bold" pitchFamily="34" charset="-122"/>
                  <a:cs typeface="Unbounded Bold" pitchFamily="34" charset="-120"/>
                </a:rPr>
                <a:t>Combined Workforce</a:t>
              </a:r>
              <a:endParaRPr lang="en-US" sz="2200" dirty="0">
                <a:latin typeface="Helvetica" pitchFamily="2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051084" y="5163740"/>
              <a:ext cx="368177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33F70"/>
                  </a:solidFill>
                  <a:latin typeface="Helvetica" pitchFamily="2" charset="0"/>
                  <a:ea typeface="Open Sans" pitchFamily="34" charset="-122"/>
                  <a:cs typeface="Open Sans" pitchFamily="34" charset="-120"/>
                </a:rPr>
                <a:t>290 active employees across departments.</a:t>
              </a:r>
              <a:endParaRPr lang="en-US" sz="1750" dirty="0">
                <a:latin typeface="Helvetica" pitchFamily="2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F04A1BB-B0C8-7887-C55D-BCBA2D66915B}"/>
              </a:ext>
            </a:extLst>
          </p:cNvPr>
          <p:cNvGrpSpPr/>
          <p:nvPr/>
        </p:nvGrpSpPr>
        <p:grpSpPr>
          <a:xfrm>
            <a:off x="5216962" y="3626168"/>
            <a:ext cx="4196358" cy="2734984"/>
            <a:chOff x="5216962" y="3626168"/>
            <a:chExt cx="4196358" cy="2734984"/>
          </a:xfrm>
        </p:grpSpPr>
        <p:sp>
          <p:nvSpPr>
            <p:cNvPr id="9" name="Shape 7"/>
            <p:cNvSpPr/>
            <p:nvPr/>
          </p:nvSpPr>
          <p:spPr>
            <a:xfrm>
              <a:off x="5216962" y="3966329"/>
              <a:ext cx="4196358" cy="2394823"/>
            </a:xfrm>
            <a:prstGeom prst="roundRect">
              <a:avLst>
                <a:gd name="adj" fmla="val 610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>
                <a:latin typeface="Helvetica" pitchFamily="2" charset="0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5216962" y="3935849"/>
              <a:ext cx="4196358" cy="121920"/>
            </a:xfrm>
            <a:prstGeom prst="roundRect">
              <a:avLst>
                <a:gd name="adj" fmla="val 78139"/>
              </a:avLst>
            </a:prstGeom>
            <a:solidFill>
              <a:srgbClr val="26A688"/>
            </a:solidFill>
            <a:ln/>
          </p:spPr>
          <p:txBody>
            <a:bodyPr/>
            <a:lstStyle/>
            <a:p>
              <a:endParaRPr lang="en-US">
                <a:latin typeface="Helvetica" pitchFamily="2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974860" y="3626168"/>
              <a:ext cx="680442" cy="680442"/>
            </a:xfrm>
            <a:prstGeom prst="roundRect">
              <a:avLst>
                <a:gd name="adj" fmla="val 134383"/>
              </a:avLst>
            </a:prstGeom>
            <a:solidFill>
              <a:srgbClr val="26A688"/>
            </a:solidFill>
            <a:ln/>
          </p:spPr>
          <p:txBody>
            <a:bodyPr/>
            <a:lstStyle/>
            <a:p>
              <a:endParaRPr lang="en-US">
                <a:latin typeface="Helvetica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7235205" y="3782240"/>
              <a:ext cx="272177" cy="3401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400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Helvetica" pitchFamily="2" charset="0"/>
                  <a:ea typeface="Unbounded Bold" pitchFamily="34" charset="-122"/>
                  <a:cs typeface="Unbounded Bold" pitchFamily="34" charset="-120"/>
                </a:rPr>
                <a:t>2</a:t>
              </a:r>
              <a:endParaRPr lang="en-US" sz="2100" dirty="0">
                <a:latin typeface="Helvetica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5474256" y="4533305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33F70"/>
                  </a:solidFill>
                  <a:latin typeface="Helvetica" pitchFamily="2" charset="0"/>
                  <a:ea typeface="Unbounded Bold" pitchFamily="34" charset="-122"/>
                  <a:cs typeface="Unbounded Bold" pitchFamily="34" charset="-120"/>
                </a:rPr>
                <a:t>Historical Data</a:t>
              </a:r>
              <a:endParaRPr lang="en-US" sz="2200" dirty="0">
                <a:latin typeface="Helvetica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474256" y="5023723"/>
              <a:ext cx="368177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33F70"/>
                  </a:solidFill>
                  <a:latin typeface="Helvetica" pitchFamily="2" charset="0"/>
                  <a:ea typeface="Open Sans" pitchFamily="34" charset="-122"/>
                  <a:cs typeface="Open Sans" pitchFamily="34" charset="-120"/>
                </a:rPr>
                <a:t>Hiring &amp; departmental history (2006–2013).</a:t>
              </a:r>
              <a:endParaRPr lang="en-US" sz="1750" dirty="0">
                <a:latin typeface="Helvetica" pitchFamily="2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BCF758-2674-8072-E6B8-2A04E2EF155B}"/>
              </a:ext>
            </a:extLst>
          </p:cNvPr>
          <p:cNvGrpSpPr/>
          <p:nvPr/>
        </p:nvGrpSpPr>
        <p:grpSpPr>
          <a:xfrm>
            <a:off x="9640133" y="3626168"/>
            <a:ext cx="4196358" cy="2734984"/>
            <a:chOff x="9640133" y="3626168"/>
            <a:chExt cx="4196358" cy="2734984"/>
          </a:xfrm>
        </p:grpSpPr>
        <p:sp>
          <p:nvSpPr>
            <p:cNvPr id="15" name="Shape 13"/>
            <p:cNvSpPr/>
            <p:nvPr/>
          </p:nvSpPr>
          <p:spPr>
            <a:xfrm>
              <a:off x="9640133" y="3966329"/>
              <a:ext cx="4196358" cy="2394823"/>
            </a:xfrm>
            <a:prstGeom prst="roundRect">
              <a:avLst>
                <a:gd name="adj" fmla="val 6109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>
                <a:latin typeface="Helvetica" pitchFamily="2" charset="0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9640133" y="3935849"/>
              <a:ext cx="4196358" cy="121920"/>
            </a:xfrm>
            <a:prstGeom prst="roundRect">
              <a:avLst>
                <a:gd name="adj" fmla="val 78139"/>
              </a:avLst>
            </a:prstGeom>
            <a:solidFill>
              <a:srgbClr val="26A688"/>
            </a:solidFill>
            <a:ln/>
          </p:spPr>
          <p:txBody>
            <a:bodyPr/>
            <a:lstStyle/>
            <a:p>
              <a:endParaRPr lang="en-US">
                <a:latin typeface="Helvetica" pitchFamily="2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1398032" y="3626168"/>
              <a:ext cx="680442" cy="680442"/>
            </a:xfrm>
            <a:prstGeom prst="roundRect">
              <a:avLst>
                <a:gd name="adj" fmla="val 134383"/>
              </a:avLst>
            </a:prstGeom>
            <a:solidFill>
              <a:srgbClr val="26A688"/>
            </a:solidFill>
            <a:ln/>
          </p:spPr>
          <p:txBody>
            <a:bodyPr/>
            <a:lstStyle/>
            <a:p>
              <a:endParaRPr lang="en-US">
                <a:latin typeface="Helvetica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1658377" y="3782240"/>
              <a:ext cx="272177" cy="3401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400"/>
                </a:lnSpc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Helvetica" pitchFamily="2" charset="0"/>
                  <a:ea typeface="Unbounded Bold" pitchFamily="34" charset="-122"/>
                  <a:cs typeface="Unbounded Bold" pitchFamily="34" charset="-120"/>
                </a:rPr>
                <a:t>3</a:t>
              </a:r>
              <a:endParaRPr lang="en-US" sz="2100" dirty="0">
                <a:latin typeface="Helvetica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9897427" y="4533305"/>
              <a:ext cx="3341846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33F70"/>
                  </a:solidFill>
                  <a:latin typeface="Helvetica" pitchFamily="2" charset="0"/>
                  <a:ea typeface="Unbounded Bold" pitchFamily="34" charset="-122"/>
                  <a:cs typeface="Unbounded Bold" pitchFamily="34" charset="-120"/>
                </a:rPr>
                <a:t>Executive Visibility</a:t>
              </a:r>
              <a:endParaRPr lang="en-US" sz="2200" dirty="0">
                <a:latin typeface="Helvetica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9897427" y="5023723"/>
              <a:ext cx="368177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33F70"/>
                  </a:solidFill>
                  <a:latin typeface="Helvetica" pitchFamily="2" charset="0"/>
                  <a:ea typeface="Open Sans" pitchFamily="34" charset="-122"/>
                  <a:cs typeface="Open Sans" pitchFamily="34" charset="-120"/>
                </a:rPr>
                <a:t>Leadership needs clear workforce insights.</a:t>
              </a:r>
              <a:endParaRPr lang="en-US" sz="1750" dirty="0">
                <a:latin typeface="Helvetica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012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Data Limitations &amp; Insights</a:t>
            </a:r>
            <a:endParaRPr lang="en-US" sz="4450" dirty="0">
              <a:latin typeface="Helvetica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97197D-AEFA-7041-3A24-48F88DF635ED}"/>
              </a:ext>
            </a:extLst>
          </p:cNvPr>
          <p:cNvGrpSpPr/>
          <p:nvPr/>
        </p:nvGrpSpPr>
        <p:grpSpPr>
          <a:xfrm>
            <a:off x="6280190" y="3085743"/>
            <a:ext cx="2933819" cy="2905720"/>
            <a:chOff x="6280190" y="3085743"/>
            <a:chExt cx="2933819" cy="2905720"/>
          </a:xfrm>
        </p:grpSpPr>
        <p:sp>
          <p:nvSpPr>
            <p:cNvPr id="4" name="Text 1"/>
            <p:cNvSpPr/>
            <p:nvPr/>
          </p:nvSpPr>
          <p:spPr>
            <a:xfrm>
              <a:off x="6280190" y="3085743"/>
              <a:ext cx="2933819" cy="7086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33F70"/>
                  </a:solidFill>
                  <a:latin typeface="Helvetica" pitchFamily="2" charset="0"/>
                  <a:ea typeface="Unbounded Bold" pitchFamily="34" charset="-122"/>
                  <a:cs typeface="Unbounded Bold" pitchFamily="34" charset="-120"/>
                </a:rPr>
                <a:t>All employees marked active</a:t>
              </a:r>
              <a:endParaRPr lang="en-US" sz="2200" dirty="0">
                <a:latin typeface="Helvetica" pitchFamily="2" charset="0"/>
              </a:endParaRPr>
            </a:p>
          </p:txBody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60666" y="4577000"/>
              <a:ext cx="1972866" cy="1414463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240F913-1835-F6CC-8850-150C93CE8C3B}"/>
              </a:ext>
            </a:extLst>
          </p:cNvPr>
          <p:cNvGrpSpPr/>
          <p:nvPr/>
        </p:nvGrpSpPr>
        <p:grpSpPr>
          <a:xfrm>
            <a:off x="9775031" y="3085743"/>
            <a:ext cx="4069080" cy="3433167"/>
            <a:chOff x="9775031" y="3085743"/>
            <a:chExt cx="4069080" cy="3433167"/>
          </a:xfrm>
        </p:grpSpPr>
        <p:sp>
          <p:nvSpPr>
            <p:cNvPr id="6" name="Text 2"/>
            <p:cNvSpPr/>
            <p:nvPr/>
          </p:nvSpPr>
          <p:spPr>
            <a:xfrm>
              <a:off x="9775031" y="3085743"/>
              <a:ext cx="4069080" cy="7399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33F70"/>
                  </a:solidFill>
                  <a:latin typeface="Helvetica" pitchFamily="2" charset="0"/>
                  <a:ea typeface="Unbounded Bold" pitchFamily="34" charset="-122"/>
                  <a:cs typeface="Unbounded Bold" pitchFamily="34" charset="-120"/>
                </a:rPr>
                <a:t>Attrition appears 0% due to missing exit data </a:t>
              </a:r>
              <a:endParaRPr lang="en-US" sz="2200" dirty="0">
                <a:latin typeface="Helvetica" pitchFamily="2" charset="0"/>
              </a:endParaRPr>
            </a:p>
          </p:txBody>
        </p:sp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75031" y="4049554"/>
              <a:ext cx="4069080" cy="24693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711" y="933945"/>
            <a:ext cx="14316978" cy="151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The Dashboard Reveals Trends In Hiring, Structure, Tenure, And Mobility</a:t>
            </a:r>
            <a:endParaRPr lang="en-US" sz="4150" dirty="0">
              <a:latin typeface="Helvetica" pitchFamily="2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254" y="2451838"/>
            <a:ext cx="7722019" cy="5353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105019"/>
            <a:ext cx="13042821" cy="45453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990511"/>
            <a:ext cx="130428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Over 60% Of Employees Sit In Production, 10+ Departments &lt;10 Employees</a:t>
            </a:r>
            <a:endParaRPr lang="en-US" sz="355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1721048"/>
            <a:ext cx="4919305" cy="478750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64901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Volatile Hiring &amp; Limited Mobility</a:t>
            </a:r>
            <a:endParaRPr lang="en-US" sz="4450" dirty="0">
              <a:latin typeface="Helvetica" pitchFamily="2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6280190" y="3406735"/>
            <a:ext cx="2367558" cy="3173849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6249710" y="3406735"/>
            <a:ext cx="121920" cy="3173849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628924" y="3664029"/>
            <a:ext cx="17615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Unstable Growth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628924" y="4508778"/>
            <a:ext cx="17615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Major hiring volatility (2009 spike: 148 hires, then decline).</a:t>
            </a:r>
            <a:endParaRPr lang="en-US" sz="1750" dirty="0">
              <a:latin typeface="Helvetica" pitchFamily="2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874562" y="3406735"/>
            <a:ext cx="2367558" cy="3173849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844082" y="3406735"/>
            <a:ext cx="121920" cy="3173849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223296" y="3664029"/>
            <a:ext cx="17615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Phased Evolution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223296" y="4508778"/>
            <a:ext cx="17615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Departmental hiring windows show lack of integrated planning.</a:t>
            </a:r>
            <a:endParaRPr lang="en-US" sz="1750" dirty="0">
              <a:latin typeface="Helvetica" pitchFamily="2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1468933" y="3406735"/>
            <a:ext cx="2367558" cy="3173849"/>
          </a:xfrm>
          <a:prstGeom prst="roundRect">
            <a:avLst>
              <a:gd name="adj" fmla="val 6180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1438453" y="3406735"/>
            <a:ext cx="121920" cy="3173849"/>
          </a:xfrm>
          <a:prstGeom prst="roundRect">
            <a:avLst>
              <a:gd name="adj" fmla="val 78139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817668" y="3664029"/>
            <a:ext cx="17615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Stagnant Move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1817668" y="4508778"/>
            <a:ext cx="17615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Extremely limited internal mobility (near zero transfer rate).</a:t>
            </a:r>
            <a:endParaRPr lang="en-US" sz="175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7280"/>
            <a:ext cx="13042821" cy="1519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Hiring Waves Evolved By Function Across Different Years</a:t>
            </a:r>
            <a:endParaRPr lang="en-US" sz="4450" dirty="0">
              <a:latin typeface="Helvetica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55764"/>
            <a:ext cx="13042821" cy="3293983"/>
          </a:xfrm>
          <a:prstGeom prst="roundRect">
            <a:avLst>
              <a:gd name="adj" fmla="val 289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01410" y="2763384"/>
            <a:ext cx="13027581" cy="22655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0" name="Shape 3"/>
          <p:cNvSpPr/>
          <p:nvPr/>
        </p:nvSpPr>
        <p:spPr>
          <a:xfrm>
            <a:off x="801410" y="5366530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B86D334-A021-6ADF-3C12-AEE32C781B6C}"/>
              </a:ext>
            </a:extLst>
          </p:cNvPr>
          <p:cNvGrpSpPr/>
          <p:nvPr/>
        </p:nvGrpSpPr>
        <p:grpSpPr>
          <a:xfrm>
            <a:off x="810083" y="2907092"/>
            <a:ext cx="2334733" cy="3328951"/>
            <a:chOff x="810083" y="2907092"/>
            <a:chExt cx="2334733" cy="3328951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083" y="2907092"/>
              <a:ext cx="2334733" cy="2101176"/>
            </a:xfrm>
            <a:prstGeom prst="rect">
              <a:avLst/>
            </a:prstGeom>
          </p:spPr>
        </p:pic>
        <p:sp>
          <p:nvSpPr>
            <p:cNvPr id="11" name="Text 4"/>
            <p:cNvSpPr/>
            <p:nvPr/>
          </p:nvSpPr>
          <p:spPr>
            <a:xfrm>
              <a:off x="1028581" y="5510238"/>
              <a:ext cx="1986439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33F70"/>
                  </a:solidFill>
                  <a:latin typeface="Helvetica" pitchFamily="2" charset="0"/>
                  <a:ea typeface="Open Sans" pitchFamily="34" charset="-122"/>
                  <a:cs typeface="Open Sans" pitchFamily="34" charset="-120"/>
                </a:rPr>
                <a:t>Production hires: 2006–2010</a:t>
              </a:r>
              <a:endParaRPr lang="en-US" sz="1750" dirty="0">
                <a:latin typeface="Helvetica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1F01485-033B-BF94-FAFA-0981A22E0756}"/>
              </a:ext>
            </a:extLst>
          </p:cNvPr>
          <p:cNvGrpSpPr/>
          <p:nvPr/>
        </p:nvGrpSpPr>
        <p:grpSpPr>
          <a:xfrm>
            <a:off x="3472330" y="2907092"/>
            <a:ext cx="2334733" cy="3328951"/>
            <a:chOff x="3472330" y="2907092"/>
            <a:chExt cx="2334733" cy="3328951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72330" y="2907092"/>
              <a:ext cx="2334733" cy="2094548"/>
            </a:xfrm>
            <a:prstGeom prst="rect">
              <a:avLst/>
            </a:prstGeom>
          </p:spPr>
        </p:pic>
        <p:sp>
          <p:nvSpPr>
            <p:cNvPr id="12" name="Text 5"/>
            <p:cNvSpPr/>
            <p:nvPr/>
          </p:nvSpPr>
          <p:spPr>
            <a:xfrm>
              <a:off x="3476268" y="5510238"/>
              <a:ext cx="207514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33F70"/>
                  </a:solidFill>
                  <a:latin typeface="Helvetica" pitchFamily="2" charset="0"/>
                  <a:ea typeface="Open Sans" pitchFamily="34" charset="-122"/>
                  <a:cs typeface="Open Sans" pitchFamily="34" charset="-120"/>
                </a:rPr>
                <a:t>Sales hires: 2011–2013</a:t>
              </a:r>
              <a:endParaRPr lang="en-US" sz="1750" dirty="0">
                <a:latin typeface="Helvetica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E2BE9DC-6A6E-D049-E498-25DB1F014864}"/>
              </a:ext>
            </a:extLst>
          </p:cNvPr>
          <p:cNvGrpSpPr/>
          <p:nvPr/>
        </p:nvGrpSpPr>
        <p:grpSpPr>
          <a:xfrm>
            <a:off x="6012656" y="2942162"/>
            <a:ext cx="2301835" cy="3293881"/>
            <a:chOff x="6012656" y="2942162"/>
            <a:chExt cx="2301835" cy="3293881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2453" y="2942162"/>
              <a:ext cx="2172038" cy="1978104"/>
            </a:xfrm>
            <a:prstGeom prst="rect">
              <a:avLst/>
            </a:prstGeom>
          </p:spPr>
        </p:pic>
        <p:sp>
          <p:nvSpPr>
            <p:cNvPr id="13" name="Text 6"/>
            <p:cNvSpPr/>
            <p:nvPr/>
          </p:nvSpPr>
          <p:spPr>
            <a:xfrm>
              <a:off x="6012656" y="5510238"/>
              <a:ext cx="2028230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33F70"/>
                  </a:solidFill>
                  <a:latin typeface="Helvetica" pitchFamily="2" charset="0"/>
                  <a:ea typeface="Open Sans" pitchFamily="34" charset="-122"/>
                  <a:cs typeface="Open Sans" pitchFamily="34" charset="-120"/>
                </a:rPr>
                <a:t>Purchasing 2007-2011</a:t>
              </a:r>
              <a:endParaRPr lang="en-US" sz="1750" dirty="0">
                <a:latin typeface="Helvetica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A8DAF2-34D6-0E95-B4E6-644102DF3B0C}"/>
              </a:ext>
            </a:extLst>
          </p:cNvPr>
          <p:cNvGrpSpPr/>
          <p:nvPr/>
        </p:nvGrpSpPr>
        <p:grpSpPr>
          <a:xfrm>
            <a:off x="8502134" y="2942162"/>
            <a:ext cx="2490787" cy="3293881"/>
            <a:chOff x="8502134" y="2942162"/>
            <a:chExt cx="2490787" cy="3293881"/>
          </a:xfrm>
        </p:grpSpPr>
        <p:pic>
          <p:nvPicPr>
            <p:cNvPr id="8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94373" y="2942162"/>
              <a:ext cx="2198548" cy="1978104"/>
            </a:xfrm>
            <a:prstGeom prst="rect">
              <a:avLst/>
            </a:prstGeom>
          </p:spPr>
        </p:pic>
        <p:sp>
          <p:nvSpPr>
            <p:cNvPr id="14" name="Text 7"/>
            <p:cNvSpPr/>
            <p:nvPr/>
          </p:nvSpPr>
          <p:spPr>
            <a:xfrm>
              <a:off x="8502134" y="5510238"/>
              <a:ext cx="2490787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33F70"/>
                  </a:solidFill>
                  <a:latin typeface="Helvetica" pitchFamily="2" charset="0"/>
                  <a:ea typeface="Open Sans" pitchFamily="34" charset="-122"/>
                  <a:cs typeface="Open Sans" pitchFamily="34" charset="-120"/>
                </a:rPr>
                <a:t>Finance and Information Service</a:t>
              </a:r>
              <a:endParaRPr lang="en-US" sz="1750" dirty="0">
                <a:latin typeface="Helvetica" pitchFamily="2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B9E052C-920C-3451-EE35-C5A09FA646D9}"/>
              </a:ext>
            </a:extLst>
          </p:cNvPr>
          <p:cNvGrpSpPr/>
          <p:nvPr/>
        </p:nvGrpSpPr>
        <p:grpSpPr>
          <a:xfrm>
            <a:off x="11454170" y="2907092"/>
            <a:ext cx="2148007" cy="3328951"/>
            <a:chOff x="11454170" y="2907092"/>
            <a:chExt cx="2148007" cy="3328951"/>
          </a:xfrm>
        </p:grpSpPr>
        <p:pic>
          <p:nvPicPr>
            <p:cNvPr id="9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454170" y="2907092"/>
              <a:ext cx="2148007" cy="1978104"/>
            </a:xfrm>
            <a:prstGeom prst="rect">
              <a:avLst/>
            </a:prstGeom>
          </p:spPr>
        </p:pic>
        <p:sp>
          <p:nvSpPr>
            <p:cNvPr id="15" name="Text 8"/>
            <p:cNvSpPr/>
            <p:nvPr/>
          </p:nvSpPr>
          <p:spPr>
            <a:xfrm>
              <a:off x="11454170" y="5510238"/>
              <a:ext cx="2148007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333F70"/>
                  </a:solidFill>
                  <a:latin typeface="Helvetica" pitchFamily="2" charset="0"/>
                  <a:ea typeface="Open Sans" pitchFamily="34" charset="-122"/>
                  <a:cs typeface="Open Sans" pitchFamily="34" charset="-120"/>
                </a:rPr>
                <a:t>Marketing: 2007-2011</a:t>
              </a:r>
              <a:endParaRPr lang="en-US" sz="1750" dirty="0">
                <a:latin typeface="Helvetica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535" y="283488"/>
            <a:ext cx="4159329" cy="7662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Internal Mobility Is Extremely Limited Across Departments</a:t>
            </a:r>
            <a:endParaRPr lang="en-US" sz="4450" dirty="0">
              <a:latin typeface="Helvetica" pitchFamily="2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Only One Transfer Per Active Department</a:t>
            </a:r>
            <a:endParaRPr lang="en-US" sz="175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5920" y="578048"/>
            <a:ext cx="10930597" cy="59898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6280" y="6542127"/>
            <a:ext cx="1319784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Overall: 71% male / 29% female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16280" y="6941106"/>
            <a:ext cx="1319784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No women in Production Control.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6280" y="7340084"/>
            <a:ext cx="1319784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Most roles skew male.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34915" y="578048"/>
            <a:ext cx="12760569" cy="51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Gender Imbalance</a:t>
            </a:r>
            <a:endParaRPr lang="en-US" sz="32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8167" y="656987"/>
            <a:ext cx="1157406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Tenure Is Stable Overall But Lower In Sales</a:t>
            </a:r>
            <a:endParaRPr lang="en-US" sz="3550" dirty="0">
              <a:latin typeface="Helvetica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023" y="1564124"/>
            <a:ext cx="10450354" cy="49482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7675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Most departments: around 4 years</a:t>
            </a:r>
            <a:endParaRPr lang="en-US" sz="1750" dirty="0">
              <a:latin typeface="Helvetica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72097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Sales tenure = 1.44 years</a:t>
            </a:r>
            <a:endParaRPr lang="en-US" sz="1750" dirty="0">
              <a:latin typeface="Helvetica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D92E49-2066-9DE6-D925-3F9AAF13EBBB}"/>
              </a:ext>
            </a:extLst>
          </p:cNvPr>
          <p:cNvCxnSpPr>
            <a:cxnSpLocks/>
          </p:cNvCxnSpPr>
          <p:nvPr/>
        </p:nvCxnSpPr>
        <p:spPr>
          <a:xfrm flipH="1">
            <a:off x="3066757" y="1941342"/>
            <a:ext cx="140677" cy="2616590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065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Missing Termination And Exit Data Creates Analytical Blind Spots</a:t>
            </a:r>
            <a:endParaRPr lang="en-US" sz="4450" dirty="0">
              <a:latin typeface="Helvetica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4128373"/>
            <a:ext cx="6407944" cy="1730454"/>
          </a:xfrm>
          <a:prstGeom prst="roundRect">
            <a:avLst>
              <a:gd name="adj" fmla="val 55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28224" y="436280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4549854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5270063"/>
            <a:ext cx="53270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Attrition cannot be computed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428548" y="4128373"/>
            <a:ext cx="6408063" cy="1730454"/>
          </a:xfrm>
          <a:prstGeom prst="roundRect">
            <a:avLst>
              <a:gd name="adj" fmla="val 5505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62982" y="436280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4549854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62982" y="5270063"/>
            <a:ext cx="52619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Lifecycle tracking incomplete</a:t>
            </a:r>
            <a:endParaRPr lang="en-US" sz="22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260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A Balanced And Insight-driven Workforce Model</a:t>
            </a:r>
            <a:endParaRPr lang="en-US" sz="4450" dirty="0">
              <a:latin typeface="Helvetica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520321"/>
            <a:ext cx="4196358" cy="2946678"/>
          </a:xfrm>
          <a:prstGeom prst="roundRect">
            <a:avLst>
              <a:gd name="adj" fmla="val 323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28224" y="375475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941802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662011"/>
            <a:ext cx="36957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Rebalance Structure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8224" y="515243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Reduce Production dependency; resource critical functions.</a:t>
            </a:r>
            <a:endParaRPr lang="en-US" sz="1750" dirty="0">
              <a:latin typeface="Helvetica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16962" y="3520321"/>
            <a:ext cx="4196358" cy="2946678"/>
          </a:xfrm>
          <a:prstGeom prst="roundRect">
            <a:avLst>
              <a:gd name="adj" fmla="val 323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51396" y="375475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941802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662011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Demand-Based Hiring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451396" y="550676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Replace reactive cycles with forecasting models.</a:t>
            </a:r>
            <a:endParaRPr lang="en-US" sz="1750" dirty="0">
              <a:latin typeface="Helvetica" pitchFamily="2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640133" y="3520321"/>
            <a:ext cx="4196358" cy="2946678"/>
          </a:xfrm>
          <a:prstGeom prst="roundRect">
            <a:avLst>
              <a:gd name="adj" fmla="val 323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874568" y="375475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6A688"/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94180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662011"/>
            <a:ext cx="35736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Strengthen Mobility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874568" y="515243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Develop cross-functional expertise via rotational programs.</a:t>
            </a:r>
            <a:endParaRPr lang="en-US" sz="175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747" y="629841"/>
            <a:ext cx="13723858" cy="400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Rebalance Headcount To Reduce Production Dependency</a:t>
            </a:r>
            <a:endParaRPr lang="en-US" sz="2500" dirty="0">
              <a:latin typeface="Helvetica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48747" y="1222891"/>
            <a:ext cx="13732907" cy="6376868"/>
          </a:xfrm>
          <a:prstGeom prst="roundRect">
            <a:avLst>
              <a:gd name="adj" fmla="val 84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6367" y="1230511"/>
            <a:ext cx="13716238" cy="374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86264" y="1315045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Department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61598" y="1315045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Current Headcount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33121" y="1315045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Recommended 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6367" y="1604724"/>
            <a:ext cx="13716238" cy="3742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6264" y="1689259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Production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61598" y="1689259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179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33121" y="1689259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Reduce dependency, redistribute to supporting functions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6367" y="1978938"/>
            <a:ext cx="13716238" cy="374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6264" y="2063472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Sales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61598" y="2063472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18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33121" y="2063472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Maintain current level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6367" y="2353151"/>
            <a:ext cx="13716238" cy="3742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6264" y="2437686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Purchasing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61598" y="2437686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733121" y="2437686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Maintain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6367" y="2727365"/>
            <a:ext cx="13716238" cy="374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6264" y="2811899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Engineering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61598" y="2811899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33121" y="2811899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Increase to </a:t>
            </a: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12–15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6367" y="3101578"/>
            <a:ext cx="13716238" cy="3742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6264" y="3186113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Quality Assurance (QA)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61598" y="3186113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33121" y="3186113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Increase to </a:t>
            </a: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10–12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6367" y="3475792"/>
            <a:ext cx="13716238" cy="374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6264" y="3560326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Research &amp; Development (R&amp;D)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61598" y="3560326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33121" y="3560326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Increase to </a:t>
            </a: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8–10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6367" y="3850005"/>
            <a:ext cx="13716238" cy="3742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6264" y="3934539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Human Resources (HR)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161598" y="3934539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733121" y="3934539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Increase to </a:t>
            </a: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8–10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6367" y="4224218"/>
            <a:ext cx="13716238" cy="374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6264" y="4308753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Information Services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161598" y="4308753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733121" y="4308753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Maintain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6367" y="4598432"/>
            <a:ext cx="13716238" cy="3742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86264" y="4682966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Finance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61598" y="4682966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733121" y="4682966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Maintain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6367" y="4972645"/>
            <a:ext cx="13716238" cy="374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86264" y="5057180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Marketing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61598" y="5057180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733121" y="5057180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Maintain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56367" y="5346859"/>
            <a:ext cx="13716238" cy="3742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86264" y="5431393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Facilities &amp; Maintenance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161598" y="5431393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733121" y="5431393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Maintain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56367" y="5721072"/>
            <a:ext cx="13716238" cy="374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86264" y="5805607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Production Control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161598" y="5805607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733121" y="5805607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Evaluate for consolidation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56367" y="6095286"/>
            <a:ext cx="13716238" cy="3742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86264" y="6179820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Shipping &amp; Receiving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161598" y="6179820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733121" y="6179820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Maintain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56367" y="6469499"/>
            <a:ext cx="13716238" cy="374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86264" y="6554033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Document Control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161598" y="6554033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733121" y="6554033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Consolidate with related support functions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56367" y="6843713"/>
            <a:ext cx="13716238" cy="37421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86264" y="6928247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Tool Design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161598" y="6928247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9733121" y="6928247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Consolidate or upskill depending on demand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456367" y="7217926"/>
            <a:ext cx="13716238" cy="3742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86264" y="7302460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Executive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5161598" y="7302460"/>
            <a:ext cx="430744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000" dirty="0">
              <a:latin typeface="Helvetica" pitchFamily="2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733121" y="7302460"/>
            <a:ext cx="4311253" cy="20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Maintain</a:t>
            </a:r>
            <a:endParaRPr lang="en-US" sz="10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9250"/>
            <a:ext cx="126130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Develop Cross-functional Mobility Pathways</a:t>
            </a:r>
            <a:endParaRPr lang="en-US" sz="3550" dirty="0">
              <a:latin typeface="Helvetica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371" y="2526387"/>
            <a:ext cx="9075658" cy="40839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8192" y="2597835"/>
            <a:ext cx="1373729" cy="24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Production</a:t>
            </a:r>
            <a:endParaRPr lang="en-US" sz="1350" dirty="0">
              <a:latin typeface="Helvetica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11020" y="2913077"/>
            <a:ext cx="1588208" cy="58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Overseeing the manufacturing and assembly process.</a:t>
            </a:r>
            <a:endParaRPr lang="en-US" sz="1050" dirty="0">
              <a:latin typeface="Helvetic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18096" y="5660807"/>
            <a:ext cx="1596934" cy="245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QA</a:t>
            </a:r>
            <a:endParaRPr lang="en-US" sz="1350" dirty="0">
              <a:latin typeface="Helvetica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18096" y="5976049"/>
            <a:ext cx="1596934" cy="58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Ensuring product standards and quality control.</a:t>
            </a:r>
            <a:endParaRPr lang="en-US" sz="1050" dirty="0">
              <a:latin typeface="Helvetica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64087" y="2567292"/>
            <a:ext cx="1588207" cy="245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Engineering</a:t>
            </a:r>
            <a:endParaRPr lang="en-US" sz="1350" dirty="0">
              <a:latin typeface="Helvetica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464087" y="2882534"/>
            <a:ext cx="1588207" cy="58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Designing and developing the core product architecture.</a:t>
            </a:r>
            <a:endParaRPr lang="en-US" sz="105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673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760" y="3254097"/>
            <a:ext cx="13136880" cy="860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Launch A Diversity Plan With Measurable Goals</a:t>
            </a:r>
            <a:endParaRPr lang="en-US" sz="4200" dirty="0">
              <a:latin typeface="Helvetica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6760" y="4288894"/>
            <a:ext cx="13136880" cy="2737009"/>
          </a:xfrm>
          <a:prstGeom prst="roundRect">
            <a:avLst>
              <a:gd name="adj" fmla="val 327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54380" y="4296514"/>
            <a:ext cx="13120211" cy="5443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9169" y="4432127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Area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45906" y="4432127"/>
            <a:ext cx="393858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Current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718834" y="4432127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Target (3-Year)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54380" y="4840868"/>
            <a:ext cx="13120211" cy="5443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9169" y="4976480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Overall Female Representation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45906" y="4976480"/>
            <a:ext cx="393858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29%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718834" y="4976480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40%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54380" y="5385222"/>
            <a:ext cx="13120211" cy="5443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69169" y="5520834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Women in Leadership Roles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345906" y="5520834"/>
            <a:ext cx="393858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29%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718834" y="5520834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45%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54380" y="5929576"/>
            <a:ext cx="13120211" cy="5443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69169" y="6065188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Women in Technical Roles (Eng/R&amp;D/QA)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45906" y="6065188"/>
            <a:ext cx="393858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20%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718834" y="6065188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35%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54380" y="6473929"/>
            <a:ext cx="13120211" cy="5443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>
              <a:latin typeface="Helvetica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69169" y="6609542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Women in Production &amp; Control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345906" y="6609542"/>
            <a:ext cx="393858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0%</a:t>
            </a:r>
            <a:endParaRPr lang="en-US" sz="1300" dirty="0">
              <a:latin typeface="Helvetica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718834" y="6609542"/>
            <a:ext cx="3942398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15%</a:t>
            </a:r>
            <a:endParaRPr lang="en-US" sz="13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210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HR Data Completeness For Better Analytics</a:t>
            </a:r>
            <a:endParaRPr lang="en-US" sz="4450" dirty="0">
              <a:latin typeface="Helvetica" pitchFamily="2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242" y="3369826"/>
            <a:ext cx="10373916" cy="3247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44726" y="4651635"/>
            <a:ext cx="1899139" cy="673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 algn="ctr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pc="100" dirty="0">
                <a:solidFill>
                  <a:srgbClr val="FFFFFF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Add TerminationDate + ReasonForExit</a:t>
            </a:r>
            <a:endParaRPr lang="en-US" spc="100" dirty="0">
              <a:latin typeface="Helvetica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99007" y="4763967"/>
            <a:ext cx="1899139" cy="449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 algn="ctr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pc="100" dirty="0">
                <a:solidFill>
                  <a:srgbClr val="FFFFFF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Standardize to YYYY-MM-DD</a:t>
            </a:r>
            <a:endParaRPr lang="en-US" spc="100" dirty="0">
              <a:latin typeface="Helvetic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74345" y="4763967"/>
            <a:ext cx="1899139" cy="449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 algn="ctr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pc="100" dirty="0">
                <a:solidFill>
                  <a:srgbClr val="FFFFFF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Fix CurrentFlag workflow</a:t>
            </a:r>
            <a:endParaRPr lang="en-US" spc="100" dirty="0">
              <a:latin typeface="Helvetica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05252" y="4652103"/>
            <a:ext cx="2109544" cy="673987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1"/>
          <a:lstStyle/>
          <a:p>
            <a:pPr marL="0" indent="0" algn="ctr">
              <a:lnSpc>
                <a:spcPts val="135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pc="100" dirty="0">
                <a:solidFill>
                  <a:srgbClr val="FFFFFF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Capture TransferReason + Start/End Dept</a:t>
            </a:r>
            <a:endParaRPr lang="en-US" spc="1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49448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Helvetica" pitchFamily="2" charset="0"/>
                <a:ea typeface="Unbounded Bold" pitchFamily="34" charset="-122"/>
                <a:cs typeface="Unbounded Bold" pitchFamily="34" charset="-120"/>
              </a:rPr>
              <a:t>Resilient, Diversified, And Future-ready Workforce</a:t>
            </a:r>
            <a:endParaRPr lang="en-US" sz="3550" dirty="0">
              <a:latin typeface="Helvetica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2905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Rebalanced headcount across critical and technical functions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7327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Forecast-led hiring model supports stability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517493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Clear pathways for internal movement and leadership growth</a:t>
            </a:r>
            <a:endParaRPr lang="en-US" sz="2000" dirty="0">
              <a:latin typeface="Helvetica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561713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33F70"/>
                </a:solidFill>
                <a:latin typeface="Helvetica" pitchFamily="2" charset="0"/>
                <a:ea typeface="Open Sans" pitchFamily="34" charset="-122"/>
                <a:cs typeface="Open Sans" pitchFamily="34" charset="-120"/>
              </a:rPr>
              <a:t>Unified HR data foundation supports full lifecycle tracking</a:t>
            </a:r>
            <a:endParaRPr lang="en-US" sz="20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</TotalTime>
  <Words>532</Words>
  <Application>Microsoft Macintosh PowerPoint</Application>
  <PresentationFormat>Custom</PresentationFormat>
  <Paragraphs>152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365 Pro Plus</cp:lastModifiedBy>
  <cp:revision>11</cp:revision>
  <dcterms:created xsi:type="dcterms:W3CDTF">2025-11-26T14:46:21Z</dcterms:created>
  <dcterms:modified xsi:type="dcterms:W3CDTF">2025-11-29T01:52:32Z</dcterms:modified>
</cp:coreProperties>
</file>