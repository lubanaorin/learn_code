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Master" Target="slideMasters/slideMaster1.xml"/>
<Relationship Id="rId12" Type="http://schemas.openxmlformats.org/officeDocument/2006/relationships/theme" Target="theme/theme1.xml"/>
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.xml"/>
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slide" Target="../slides/slide3.xml"/>
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slide" Target="../slides/slide4.xml"/>
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slide" Target="../slides/slide5.xml"/>
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slide" Target="../slides/slide6.xml"/>
<Relationship Id="rId2" Type="http://schemas.openxmlformats.org/officeDocument/2006/relationships/notesMaster" Target="../notesMasters/notesMaster1.xml"/>
</Relationships>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slide" Target="../slides/slide7.xml"/>
<Relationship Id="rId2" Type="http://schemas.openxmlformats.org/officeDocument/2006/relationships/notesMaster" Target="../notesMasters/notesMaster1.xml"/>
</Relationships>
</file>

<file path=ppt/notesSlides/_rels/notesSlide8.xml.rels><?xml version="1.0" encoding="UTF-8" standalone="yes"?>
<Relationships xmlns="http://schemas.openxmlformats.org/package/2006/relationships">
<Relationship Id="rId1" Type="http://schemas.openxmlformats.org/officeDocument/2006/relationships/slide" Target="../slides/slide8.xml"/>
<Relationship Id="rId2" Type="http://schemas.openxmlformats.org/officeDocument/2006/relationships/notesMaster" Target="../notesMasters/notesMaster1.xml"/>
</Relationships>
</file>

<file path=ppt/notesSlides/_rels/notesSlide9.xml.rels><?xml version="1.0" encoding="UTF-8" standalone="yes"?>
<Relationships xmlns="http://schemas.openxmlformats.org/package/2006/relationships">
<Relationship Id="rId1" Type="http://schemas.openxmlformats.org/officeDocument/2006/relationships/slide" Target="../slides/slide9.xml"/>
<Relationship Id="rId2" Type="http://schemas.openxmlformats.org/officeDocument/2006/relationships/notesMaster" Target="../notesMasters/notesMaster1.xml"/>
</Relationships>
</file>

<file path=ppt/notesSlides/_rels/notesSlide10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0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Open with the business message: the goal is to decide which campaign signal is reliable enough for a marketing manager to use.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Explain the decision rule: a marketing analyst should not simply pick the tallest bar. We need enough sessions to trust a trend.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This slide teaches the session modeling logic. It also prepares for questions about how time on site was interpreted.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Lead with the strongest visual evidence: referral is consistently above organic across weekdays.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This slide is the evidence-quality slide. It prevents overclaiming small named campaigns.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Use this slide to answer the likely stakeholder question and explain why high averages from tiny samples are not enough for a budget decision.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Explain that a longer session can mean engagement or friction. This is why the next analysis should connect duration to conversion and revenue.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This slide shows analytical maturity. Name the assumptions and boundaries clearly so the metric is easy to defend.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Turn the analysis into a practical next step. The marketing manager can use this to decide what to ask for next.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Close with a clear decision summary. The project tells the manager what to trust and what to investigate next.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4.xml"/>
<Relationship Id="rId3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/>
          <p:cNvSpPr/>
          <p:nvPr/>
        </p:nvSpPr>
        <p:spPr>
          <a:xfrm>
            <a:off x="0" y="0"/>
            <a:ext cx="13333333" cy="7500000"/>
          </a:xfrm>
          <a:prstGeom prst="roundRect">
            <a:avLst/>
          </a:prstGeom>
          <a:solidFill>
            <a:srgbClr val="1F29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742950" y="666750"/>
            <a:ext cx="619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F57C00"/>
                </a:solidFill>
                <a:latin typeface="Arial"/>
              </a:rPr>
              <a:t>MARKETING ANALYST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2950" y="1381125"/>
            <a:ext cx="8858250" cy="2190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Arial"/>
              </a:rPr>
              <a:t>Referral Engagement Benchmark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42950" y="4095750"/>
            <a:ext cx="790575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400">
                <a:solidFill>
                  <a:srgbClr val="D8DEE6"/>
                </a:solidFill>
                <a:latin typeface="Arial"/>
              </a:rPr>
              <a:t>Marketing Campaign Comparison</a:t>
            </a:r>
          </a:p>
          <a:p>
            <a:pPr algn="l"/>
            <a:r>
              <a:rPr lang="en-US" sz="2400">
                <a:solidFill>
                  <a:srgbClr val="D8DEE6"/>
                </a:solidFill>
                <a:latin typeface="Arial"/>
              </a:rPr>
              <a:t>Modeled session duration by campaign and weekday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42950" y="6096000"/>
            <a:ext cx="71437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400">
                <a:solidFill>
                  <a:srgbClr val="C7CED6"/>
                </a:solidFill>
                <a:latin typeface="Arial"/>
              </a:rPr>
              <a:t>Source: BigQuery raw events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DECISION FRAME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Reliable Engagement Decision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The marketing manager needs weekday campaign trends with enough evidence to support action.</a:t>
            </a:r>
          </a:p>
        </p:txBody>
      </p:sp>
      <p:cxnSp>
        <p:nvCxnSpPr>
          <p:cNvPr id="5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60" name="Rectangle"/>
          <p:cNvSpPr/>
          <p:nvPr/>
        </p:nvSpPr>
        <p:spPr>
          <a:xfrm>
            <a:off x="1047750" y="30289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"/>
          <p:cNvSpPr txBox="1"/>
          <p:nvPr/>
        </p:nvSpPr>
        <p:spPr>
          <a:xfrm>
            <a:off x="1314450" y="2952750"/>
            <a:ext cx="5886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 traffic is consistently longer than organic traffic across the week.</a:t>
            </a:r>
          </a:p>
        </p:txBody>
      </p:sp>
      <p:sp>
        <p:nvSpPr>
          <p:cNvPr id="63" name="Rectangle"/>
          <p:cNvSpPr/>
          <p:nvPr/>
        </p:nvSpPr>
        <p:spPr>
          <a:xfrm>
            <a:off x="1047750" y="3695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ext"/>
          <p:cNvSpPr txBox="1"/>
          <p:nvPr/>
        </p:nvSpPr>
        <p:spPr>
          <a:xfrm>
            <a:off x="1314450" y="3619500"/>
            <a:ext cx="5886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 has the longest reliable weighted average, but a smaller sample.</a:t>
            </a:r>
          </a:p>
        </p:txBody>
      </p:sp>
      <p:sp>
        <p:nvSpPr>
          <p:cNvPr id="66" name="Rectangle"/>
          <p:cNvSpPr/>
          <p:nvPr/>
        </p:nvSpPr>
        <p:spPr>
          <a:xfrm>
            <a:off x="1047750" y="43624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ext"/>
          <p:cNvSpPr txBox="1"/>
          <p:nvPr/>
        </p:nvSpPr>
        <p:spPr>
          <a:xfrm>
            <a:off x="1314450" y="4286250"/>
            <a:ext cx="5886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Black Friday and holiday spikes are interesting, but too small for strong claims.</a:t>
            </a:r>
          </a:p>
        </p:txBody>
      </p:sp>
      <p:sp>
        <p:nvSpPr>
          <p:cNvPr id="90" name="Rectangle"/>
          <p:cNvSpPr/>
          <p:nvPr/>
        </p:nvSpPr>
        <p:spPr>
          <a:xfrm>
            <a:off x="7810500" y="2952750"/>
            <a:ext cx="3048000" cy="2000250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/>
        </p:txBody>
      </p:sp>
      <p:sp>
        <p:nvSpPr>
          <p:cNvPr id="91" name="Text"/>
          <p:cNvSpPr txBox="1"/>
          <p:nvPr/>
        </p:nvSpPr>
        <p:spPr>
          <a:xfrm>
            <a:off x="8096250" y="32194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77B4"/>
                </a:solidFill>
                <a:latin typeface="Arial"/>
              </a:rPr>
              <a:t>Decision rule</a:t>
            </a:r>
          </a:p>
        </p:txBody>
      </p:sp>
      <p:sp>
        <p:nvSpPr>
          <p:cNvPr id="92" name="Text"/>
          <p:cNvSpPr txBox="1"/>
          <p:nvPr/>
        </p:nvSpPr>
        <p:spPr>
          <a:xfrm>
            <a:off x="8096250" y="3733800"/>
            <a:ext cx="24765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>
                <a:solidFill>
                  <a:srgbClr val="1F2933"/>
                </a:solidFill>
                <a:latin typeface="Arial"/>
              </a:rPr>
              <a:t>Trust high-session patterns.</a:t>
            </a:r>
          </a:p>
          <a:p>
            <a:pPr algn="c"/>
            <a:r>
              <a:rPr lang="en-US" sz="2000">
                <a:solidFill>
                  <a:srgbClr val="1F2933"/>
                </a:solidFill>
                <a:latin typeface="Arial"/>
              </a:rPr>
              <a:t>Use tiny samples as follow-up leads.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METRIC DESIGN</a:t>
            </a:r>
          </a:p>
        </p:txBody>
      </p:sp>
      <p:sp>
        <p:nvSpPr>
          <p:cNvPr id="10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Session Modeling Logic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The raw events table does not include a ready-made session ID.</a:t>
            </a:r>
          </a:p>
        </p:txBody>
      </p:sp>
      <p:cxnSp>
        <p:nvCxnSpPr>
          <p:cNvPr id="10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120" name="Rectangle"/>
          <p:cNvSpPr/>
          <p:nvPr/>
        </p:nvSpPr>
        <p:spPr>
          <a:xfrm>
            <a:off x="666750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121" name="Text"/>
          <p:cNvSpPr txBox="1"/>
          <p:nvPr/>
        </p:nvSpPr>
        <p:spPr>
          <a:xfrm>
            <a:off x="819150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Raw events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819150" y="3933825"/>
            <a:ext cx="1981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date, time,</a:t>
            </a:r>
          </a:p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user, campaign</a:t>
            </a:r>
          </a:p>
        </p:txBody>
      </p:sp>
      <p:sp>
        <p:nvSpPr>
          <p:cNvPr id="145" name="Arrow"/>
          <p:cNvSpPr/>
          <p:nvPr/>
        </p:nvSpPr>
        <p:spPr>
          <a:xfrm>
            <a:off x="3067050" y="3619500"/>
            <a:ext cx="523875" cy="32385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angle"/>
          <p:cNvSpPr/>
          <p:nvPr/>
        </p:nvSpPr>
        <p:spPr>
          <a:xfrm>
            <a:off x="3476625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127" name="Text"/>
          <p:cNvSpPr txBox="1"/>
          <p:nvPr/>
        </p:nvSpPr>
        <p:spPr>
          <a:xfrm>
            <a:off x="3629025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Session flag</a:t>
            </a:r>
          </a:p>
        </p:txBody>
      </p:sp>
      <p:sp>
        <p:nvSpPr>
          <p:cNvPr id="128" name="Text"/>
          <p:cNvSpPr txBox="1"/>
          <p:nvPr/>
        </p:nvSpPr>
        <p:spPr>
          <a:xfrm>
            <a:off x="3629025" y="3933825"/>
            <a:ext cx="1981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new day or</a:t>
            </a:r>
          </a:p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30+ min gap</a:t>
            </a:r>
          </a:p>
        </p:txBody>
      </p:sp>
      <p:sp>
        <p:nvSpPr>
          <p:cNvPr id="146" name="Arrow"/>
          <p:cNvSpPr/>
          <p:nvPr/>
        </p:nvSpPr>
        <p:spPr>
          <a:xfrm>
            <a:off x="5876925" y="3619500"/>
            <a:ext cx="523875" cy="32385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angle"/>
          <p:cNvSpPr/>
          <p:nvPr/>
        </p:nvSpPr>
        <p:spPr>
          <a:xfrm>
            <a:off x="6286500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133" name="Text"/>
          <p:cNvSpPr txBox="1"/>
          <p:nvPr/>
        </p:nvSpPr>
        <p:spPr>
          <a:xfrm>
            <a:off x="6438900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Modeled session</a:t>
            </a:r>
          </a:p>
        </p:txBody>
      </p:sp>
      <p:sp>
        <p:nvSpPr>
          <p:cNvPr id="134" name="Text"/>
          <p:cNvSpPr txBox="1"/>
          <p:nvPr/>
        </p:nvSpPr>
        <p:spPr>
          <a:xfrm>
            <a:off x="6438900" y="3933825"/>
            <a:ext cx="1981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first event to</a:t>
            </a:r>
          </a:p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last event</a:t>
            </a:r>
          </a:p>
        </p:txBody>
      </p:sp>
      <p:sp>
        <p:nvSpPr>
          <p:cNvPr id="147" name="Arrow"/>
          <p:cNvSpPr/>
          <p:nvPr/>
        </p:nvSpPr>
        <p:spPr>
          <a:xfrm>
            <a:off x="8686800" y="3619500"/>
            <a:ext cx="523875" cy="32385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angle"/>
          <p:cNvSpPr/>
          <p:nvPr/>
        </p:nvSpPr>
        <p:spPr>
          <a:xfrm>
            <a:off x="9096375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139" name="Text"/>
          <p:cNvSpPr txBox="1"/>
          <p:nvPr/>
        </p:nvSpPr>
        <p:spPr>
          <a:xfrm>
            <a:off x="9248775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Summary</a:t>
            </a:r>
          </a:p>
        </p:txBody>
      </p:sp>
      <p:sp>
        <p:nvSpPr>
          <p:cNvPr id="140" name="Text"/>
          <p:cNvSpPr txBox="1"/>
          <p:nvPr/>
        </p:nvSpPr>
        <p:spPr>
          <a:xfrm>
            <a:off x="9248775" y="3933825"/>
            <a:ext cx="1981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campaign by</a:t>
            </a:r>
          </a:p>
          <a:p>
            <a:pPr algn="c"/>
            <a:r>
              <a:rPr lang="en-US" sz="2000">
                <a:solidFill>
                  <a:srgbClr val="5F6B7A"/>
                </a:solidFill>
                <a:latin typeface="Arial"/>
              </a:rPr>
              <a:t>weekday</a:t>
            </a:r>
          </a:p>
        </p:txBody>
      </p:sp>
      <p:sp>
        <p:nvSpPr>
          <p:cNvPr id="160" name="Rectangle"/>
          <p:cNvSpPr/>
          <p:nvPr/>
        </p:nvSpPr>
        <p:spPr>
          <a:xfrm>
            <a:off x="1190625" y="55530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Text"/>
          <p:cNvSpPr txBox="1"/>
          <p:nvPr/>
        </p:nvSpPr>
        <p:spPr>
          <a:xfrm>
            <a:off x="1457325" y="547687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New session: different day or 30+ minute gap.</a:t>
            </a:r>
          </a:p>
        </p:txBody>
      </p:sp>
      <p:sp>
        <p:nvSpPr>
          <p:cNvPr id="163" name="Rectangle"/>
          <p:cNvSpPr/>
          <p:nvPr/>
        </p:nvSpPr>
        <p:spPr>
          <a:xfrm>
            <a:off x="1190625" y="59626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Text"/>
          <p:cNvSpPr txBox="1"/>
          <p:nvPr/>
        </p:nvSpPr>
        <p:spPr>
          <a:xfrm>
            <a:off x="1457325" y="5886450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Duration: last event minus first event.</a:t>
            </a:r>
          </a:p>
        </p:txBody>
      </p:sp>
      <p:sp>
        <p:nvSpPr>
          <p:cNvPr id="166" name="Rectangle"/>
          <p:cNvSpPr/>
          <p:nvPr/>
        </p:nvSpPr>
        <p:spPr>
          <a:xfrm>
            <a:off x="1190625" y="63722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Text"/>
          <p:cNvSpPr txBox="1"/>
          <p:nvPr/>
        </p:nvSpPr>
        <p:spPr>
          <a:xfrm>
            <a:off x="1457325" y="629602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Modeled metric: explain limitations clearly.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CORE PATTERN</a:t>
            </a:r>
          </a:p>
        </p:txBody>
      </p:sp>
      <p:sp>
        <p:nvSpPr>
          <p:cNvPr id="18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Referral Duration Lead</a:t>
            </a:r>
          </a:p>
        </p:txBody>
      </p:sp>
      <p:sp>
        <p:nvSpPr>
          <p:cNvPr id="18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In the reliable comparison set, referral stays above organic on every weekday.</a:t>
            </a:r>
          </a:p>
        </p:txBody>
      </p:sp>
      <p:cxnSp>
        <p:nvCxnSpPr>
          <p:cNvPr id="18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190" name="Weekday duration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619375"/>
            <a:ext cx="6191250" cy="3524250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200" name="Rectangle"/>
          <p:cNvSpPr/>
          <p:nvPr/>
        </p:nvSpPr>
        <p:spPr>
          <a:xfrm>
            <a:off x="904875" y="30289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Text"/>
          <p:cNvSpPr txBox="1"/>
          <p:nvPr/>
        </p:nvSpPr>
        <p:spPr>
          <a:xfrm>
            <a:off x="1171575" y="29527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 weighted average: 5.54 minutes.</a:t>
            </a:r>
          </a:p>
        </p:txBody>
      </p:sp>
      <p:sp>
        <p:nvSpPr>
          <p:cNvPr id="203" name="Rectangle"/>
          <p:cNvSpPr/>
          <p:nvPr/>
        </p:nvSpPr>
        <p:spPr>
          <a:xfrm>
            <a:off x="904875" y="36576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Text"/>
          <p:cNvSpPr txBox="1"/>
          <p:nvPr/>
        </p:nvSpPr>
        <p:spPr>
          <a:xfrm>
            <a:off x="1171575" y="358140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Organic weighted average: 4.06 minutes.</a:t>
            </a:r>
          </a:p>
        </p:txBody>
      </p:sp>
      <p:sp>
        <p:nvSpPr>
          <p:cNvPr id="206" name="Rectangle"/>
          <p:cNvSpPr/>
          <p:nvPr/>
        </p:nvSpPr>
        <p:spPr>
          <a:xfrm>
            <a:off x="904875" y="42862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Text"/>
          <p:cNvSpPr txBox="1"/>
          <p:nvPr/>
        </p:nvSpPr>
        <p:spPr>
          <a:xfrm>
            <a:off x="1171575" y="42100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 is higher overall, but less stable because the sample is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EVIDENCE WEIGHT</a:t>
            </a:r>
          </a:p>
        </p:txBody>
      </p:sp>
      <p:sp>
        <p:nvSpPr>
          <p:cNvPr id="22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Sample Size Risk</a:t>
            </a:r>
          </a:p>
        </p:txBody>
      </p:sp>
      <p:sp>
        <p:nvSpPr>
          <p:cNvPr id="22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Large session counts make organic and referral patterns much safer to interpret.</a:t>
            </a:r>
          </a:p>
        </p:txBody>
      </p:sp>
      <p:cxnSp>
        <p:nvCxnSpPr>
          <p:cNvPr id="22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230" name="Text"/>
          <p:cNvSpPr txBox="1"/>
          <p:nvPr/>
        </p:nvSpPr>
        <p:spPr>
          <a:xfrm>
            <a:off x="4905375" y="271462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Modeled sessions by campaign</a:t>
            </a:r>
          </a:p>
        </p:txBody>
      </p:sp>
      <p:cxnSp>
        <p:nvCxnSpPr>
          <p:cNvPr id="231" name="Line"/>
          <p:cNvCxnSpPr/>
          <p:nvPr/>
        </p:nvCxnSpPr>
        <p:spPr>
          <a:xfrm>
            <a:off x="4905375" y="3114675"/>
            <a:ext cx="619125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240" name="Text"/>
          <p:cNvSpPr txBox="1"/>
          <p:nvPr/>
        </p:nvSpPr>
        <p:spPr>
          <a:xfrm>
            <a:off x="4905375" y="32670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Organic</a:t>
            </a:r>
          </a:p>
        </p:txBody>
      </p:sp>
      <p:sp>
        <p:nvSpPr>
          <p:cNvPr id="241" name="Rectangle"/>
          <p:cNvSpPr/>
          <p:nvPr/>
        </p:nvSpPr>
        <p:spPr>
          <a:xfrm>
            <a:off x="7077075" y="3324225"/>
            <a:ext cx="2428875" cy="20955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Text"/>
          <p:cNvSpPr txBox="1"/>
          <p:nvPr/>
        </p:nvSpPr>
        <p:spPr>
          <a:xfrm>
            <a:off x="9601200" y="32670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102,309</a:t>
            </a:r>
          </a:p>
        </p:txBody>
      </p:sp>
      <p:sp>
        <p:nvSpPr>
          <p:cNvPr id="245" name="Text"/>
          <p:cNvSpPr txBox="1"/>
          <p:nvPr/>
        </p:nvSpPr>
        <p:spPr>
          <a:xfrm>
            <a:off x="4905375" y="374332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Referral</a:t>
            </a:r>
          </a:p>
        </p:txBody>
      </p:sp>
      <p:sp>
        <p:nvSpPr>
          <p:cNvPr id="246" name="Rectangle"/>
          <p:cNvSpPr/>
          <p:nvPr/>
        </p:nvSpPr>
        <p:spPr>
          <a:xfrm>
            <a:off x="7077075" y="3800475"/>
            <a:ext cx="2383188" cy="20955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Text"/>
          <p:cNvSpPr txBox="1"/>
          <p:nvPr/>
        </p:nvSpPr>
        <p:spPr>
          <a:xfrm>
            <a:off x="9555513" y="374332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82,353</a:t>
            </a:r>
          </a:p>
        </p:txBody>
      </p:sp>
      <p:sp>
        <p:nvSpPr>
          <p:cNvPr id="250" name="Text"/>
          <p:cNvSpPr txBox="1"/>
          <p:nvPr/>
        </p:nvSpPr>
        <p:spPr>
          <a:xfrm>
            <a:off x="4905375" y="42195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51" name="Rectangle"/>
          <p:cNvSpPr/>
          <p:nvPr/>
        </p:nvSpPr>
        <p:spPr>
          <a:xfrm>
            <a:off x="7077075" y="4276725"/>
            <a:ext cx="2190784" cy="20955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"/>
          <p:cNvSpPr txBox="1"/>
          <p:nvPr/>
        </p:nvSpPr>
        <p:spPr>
          <a:xfrm>
            <a:off x="9363109" y="42195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33,023</a:t>
            </a:r>
          </a:p>
        </p:txBody>
      </p:sp>
      <p:sp>
        <p:nvSpPr>
          <p:cNvPr id="255" name="Text"/>
          <p:cNvSpPr txBox="1"/>
          <p:nvPr/>
        </p:nvSpPr>
        <p:spPr>
          <a:xfrm>
            <a:off x="4905375" y="469582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Data Share</a:t>
            </a:r>
          </a:p>
        </p:txBody>
      </p:sp>
      <p:sp>
        <p:nvSpPr>
          <p:cNvPr id="256" name="Rectangle"/>
          <p:cNvSpPr/>
          <p:nvPr/>
        </p:nvSpPr>
        <p:spPr>
          <a:xfrm>
            <a:off x="7077075" y="4752975"/>
            <a:ext cx="1508708" cy="20955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Text"/>
          <p:cNvSpPr txBox="1"/>
          <p:nvPr/>
        </p:nvSpPr>
        <p:spPr>
          <a:xfrm>
            <a:off x="8681033" y="469582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1,294</a:t>
            </a:r>
          </a:p>
        </p:txBody>
      </p:sp>
      <p:sp>
        <p:nvSpPr>
          <p:cNvPr id="260" name="Text"/>
          <p:cNvSpPr txBox="1"/>
          <p:nvPr/>
        </p:nvSpPr>
        <p:spPr>
          <a:xfrm>
            <a:off x="4905375" y="51720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NewYear V1</a:t>
            </a:r>
          </a:p>
        </p:txBody>
      </p:sp>
      <p:sp>
        <p:nvSpPr>
          <p:cNvPr id="261" name="Rectangle"/>
          <p:cNvSpPr/>
          <p:nvPr/>
        </p:nvSpPr>
        <p:spPr>
          <a:xfrm>
            <a:off x="7077075" y="5229225"/>
            <a:ext cx="882139" cy="20955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Text"/>
          <p:cNvSpPr txBox="1"/>
          <p:nvPr/>
        </p:nvSpPr>
        <p:spPr>
          <a:xfrm>
            <a:off x="8054464" y="51720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66</a:t>
            </a:r>
          </a:p>
        </p:txBody>
      </p:sp>
      <p:sp>
        <p:nvSpPr>
          <p:cNvPr id="265" name="Text"/>
          <p:cNvSpPr txBox="1"/>
          <p:nvPr/>
        </p:nvSpPr>
        <p:spPr>
          <a:xfrm>
            <a:off x="4905375" y="564832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NewYear V2</a:t>
            </a:r>
          </a:p>
        </p:txBody>
      </p:sp>
      <p:sp>
        <p:nvSpPr>
          <p:cNvPr id="266" name="Rectangle"/>
          <p:cNvSpPr/>
          <p:nvPr/>
        </p:nvSpPr>
        <p:spPr>
          <a:xfrm>
            <a:off x="7077075" y="5705475"/>
            <a:ext cx="771369" cy="20955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Text"/>
          <p:cNvSpPr txBox="1"/>
          <p:nvPr/>
        </p:nvSpPr>
        <p:spPr>
          <a:xfrm>
            <a:off x="7943694" y="564832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39</a:t>
            </a:r>
          </a:p>
        </p:txBody>
      </p:sp>
      <p:sp>
        <p:nvSpPr>
          <p:cNvPr id="330" name="Rectangle"/>
          <p:cNvSpPr/>
          <p:nvPr/>
        </p:nvSpPr>
        <p:spPr>
          <a:xfrm>
            <a:off x="904875" y="2933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1" name="Text"/>
          <p:cNvSpPr txBox="1"/>
          <p:nvPr/>
        </p:nvSpPr>
        <p:spPr>
          <a:xfrm>
            <a:off x="1171575" y="28575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Organic: 102,309 modeled sessions.</a:t>
            </a:r>
          </a:p>
        </p:txBody>
      </p:sp>
      <p:sp>
        <p:nvSpPr>
          <p:cNvPr id="333" name="Rectangle"/>
          <p:cNvSpPr/>
          <p:nvPr/>
        </p:nvSpPr>
        <p:spPr>
          <a:xfrm>
            <a:off x="904875" y="34671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4" name="Text"/>
          <p:cNvSpPr txBox="1"/>
          <p:nvPr/>
        </p:nvSpPr>
        <p:spPr>
          <a:xfrm>
            <a:off x="1171575" y="33909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Referral: 82,353 modeled sessions.</a:t>
            </a:r>
          </a:p>
        </p:txBody>
      </p:sp>
      <p:sp>
        <p:nvSpPr>
          <p:cNvPr id="336" name="Rectangle"/>
          <p:cNvSpPr/>
          <p:nvPr/>
        </p:nvSpPr>
        <p:spPr>
          <a:xfrm>
            <a:off x="904875" y="40005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Text"/>
          <p:cNvSpPr txBox="1"/>
          <p:nvPr/>
        </p:nvSpPr>
        <p:spPr>
          <a:xfrm>
            <a:off x="1171575" y="39243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Promo: 1,294 modeled sessions.</a:t>
            </a:r>
          </a:p>
        </p:txBody>
      </p:sp>
      <p:sp>
        <p:nvSpPr>
          <p:cNvPr id="339" name="Rectangle"/>
          <p:cNvSpPr/>
          <p:nvPr/>
        </p:nvSpPr>
        <p:spPr>
          <a:xfrm>
            <a:off x="904875" y="45339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" name="Text"/>
          <p:cNvSpPr txBox="1"/>
          <p:nvPr/>
        </p:nvSpPr>
        <p:spPr>
          <a:xfrm>
            <a:off x="1171575" y="44577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Several named campaigns have fewer than 100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EXPLORATORY SIGNAL</a:t>
            </a:r>
          </a:p>
        </p:txBody>
      </p:sp>
      <p:sp>
        <p:nvSpPr>
          <p:cNvPr id="26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Small-Sample Spikes</a:t>
            </a:r>
          </a:p>
        </p:txBody>
      </p:sp>
      <p:sp>
        <p:nvSpPr>
          <p:cNvPr id="26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Most of the highest raw averages are based on 2-9 modeled sessions.</a:t>
            </a:r>
          </a:p>
        </p:txBody>
      </p:sp>
      <p:cxnSp>
        <p:nvCxnSpPr>
          <p:cNvPr id="26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270" name="Text"/>
          <p:cNvSpPr txBox="1"/>
          <p:nvPr/>
        </p:nvSpPr>
        <p:spPr>
          <a:xfrm>
            <a:off x="4905375" y="271462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Highest weekday averages</a:t>
            </a:r>
          </a:p>
        </p:txBody>
      </p:sp>
      <p:cxnSp>
        <p:nvCxnSpPr>
          <p:cNvPr id="271" name="Line"/>
          <p:cNvCxnSpPr/>
          <p:nvPr/>
        </p:nvCxnSpPr>
        <p:spPr>
          <a:xfrm>
            <a:off x="4905375" y="3114675"/>
            <a:ext cx="619125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280" name="Text"/>
          <p:cNvSpPr txBox="1"/>
          <p:nvPr/>
        </p:nvSpPr>
        <p:spPr>
          <a:xfrm>
            <a:off x="4905375" y="32670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BF V2 Sun</a:t>
            </a:r>
          </a:p>
        </p:txBody>
      </p:sp>
      <p:sp>
        <p:nvSpPr>
          <p:cNvPr id="281" name="Rectangle"/>
          <p:cNvSpPr/>
          <p:nvPr/>
        </p:nvSpPr>
        <p:spPr>
          <a:xfrm>
            <a:off x="7077075" y="3324225"/>
            <a:ext cx="2428875" cy="17145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"/>
          <p:cNvSpPr txBox="1"/>
          <p:nvPr/>
        </p:nvSpPr>
        <p:spPr>
          <a:xfrm>
            <a:off x="9601200" y="32670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26.73</a:t>
            </a:r>
          </a:p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n=4</a:t>
            </a:r>
          </a:p>
        </p:txBody>
      </p:sp>
      <p:sp>
        <p:nvSpPr>
          <p:cNvPr id="285" name="Text"/>
          <p:cNvSpPr txBox="1"/>
          <p:nvPr/>
        </p:nvSpPr>
        <p:spPr>
          <a:xfrm>
            <a:off x="4905375" y="388620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BF V2 Fri</a:t>
            </a:r>
          </a:p>
        </p:txBody>
      </p:sp>
      <p:sp>
        <p:nvSpPr>
          <p:cNvPr id="286" name="Rectangle"/>
          <p:cNvSpPr/>
          <p:nvPr/>
        </p:nvSpPr>
        <p:spPr>
          <a:xfrm>
            <a:off x="7077075" y="3943350"/>
            <a:ext cx="1806436" cy="17145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Text"/>
          <p:cNvSpPr txBox="1"/>
          <p:nvPr/>
        </p:nvSpPr>
        <p:spPr>
          <a:xfrm>
            <a:off x="8978761" y="3886200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19.88</a:t>
            </a:r>
          </a:p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n=2</a:t>
            </a:r>
          </a:p>
        </p:txBody>
      </p:sp>
      <p:sp>
        <p:nvSpPr>
          <p:cNvPr id="290" name="Text"/>
          <p:cNvSpPr txBox="1"/>
          <p:nvPr/>
        </p:nvSpPr>
        <p:spPr>
          <a:xfrm>
            <a:off x="4905375" y="450532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BF V2 Mon</a:t>
            </a:r>
          </a:p>
        </p:txBody>
      </p:sp>
      <p:sp>
        <p:nvSpPr>
          <p:cNvPr id="291" name="Rectangle"/>
          <p:cNvSpPr/>
          <p:nvPr/>
        </p:nvSpPr>
        <p:spPr>
          <a:xfrm>
            <a:off x="7077075" y="4562475"/>
            <a:ext cx="1598350" cy="17145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Text"/>
          <p:cNvSpPr txBox="1"/>
          <p:nvPr/>
        </p:nvSpPr>
        <p:spPr>
          <a:xfrm>
            <a:off x="8770675" y="450532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17.59</a:t>
            </a:r>
          </a:p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n=9</a:t>
            </a:r>
          </a:p>
        </p:txBody>
      </p:sp>
      <p:sp>
        <p:nvSpPr>
          <p:cNvPr id="295" name="Text"/>
          <p:cNvSpPr txBox="1"/>
          <p:nvPr/>
        </p:nvSpPr>
        <p:spPr>
          <a:xfrm>
            <a:off x="4905375" y="51244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BF V1 Sat</a:t>
            </a:r>
          </a:p>
        </p:txBody>
      </p:sp>
      <p:sp>
        <p:nvSpPr>
          <p:cNvPr id="296" name="Rectangle"/>
          <p:cNvSpPr/>
          <p:nvPr/>
        </p:nvSpPr>
        <p:spPr>
          <a:xfrm>
            <a:off x="7077075" y="5181600"/>
            <a:ext cx="1595624" cy="17145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Text"/>
          <p:cNvSpPr txBox="1"/>
          <p:nvPr/>
        </p:nvSpPr>
        <p:spPr>
          <a:xfrm>
            <a:off x="8767949" y="5124450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17.56</a:t>
            </a:r>
          </a:p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n=5</a:t>
            </a:r>
          </a:p>
        </p:txBody>
      </p:sp>
      <p:sp>
        <p:nvSpPr>
          <p:cNvPr id="300" name="Text"/>
          <p:cNvSpPr txBox="1"/>
          <p:nvPr/>
        </p:nvSpPr>
        <p:spPr>
          <a:xfrm>
            <a:off x="4905375" y="57435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Holiday V1 Sat</a:t>
            </a:r>
          </a:p>
        </p:txBody>
      </p:sp>
      <p:sp>
        <p:nvSpPr>
          <p:cNvPr id="301" name="Rectangle"/>
          <p:cNvSpPr/>
          <p:nvPr/>
        </p:nvSpPr>
        <p:spPr>
          <a:xfrm>
            <a:off x="7077075" y="5800725"/>
            <a:ext cx="1144015" cy="17145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Text"/>
          <p:cNvSpPr txBox="1"/>
          <p:nvPr/>
        </p:nvSpPr>
        <p:spPr>
          <a:xfrm>
            <a:off x="8316340" y="57435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12.59</a:t>
            </a:r>
          </a:p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n=5</a:t>
            </a:r>
          </a:p>
        </p:txBody>
      </p:sp>
      <p:sp>
        <p:nvSpPr>
          <p:cNvPr id="305" name="Text"/>
          <p:cNvSpPr txBox="1"/>
          <p:nvPr/>
        </p:nvSpPr>
        <p:spPr>
          <a:xfrm>
            <a:off x="4905375" y="636270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2000">
                <a:solidFill>
                  <a:srgbClr val="1F2933"/>
                </a:solidFill>
                <a:latin typeface="Arial"/>
              </a:rPr>
              <a:t>Holiday V1 Wed</a:t>
            </a:r>
          </a:p>
        </p:txBody>
      </p:sp>
      <p:sp>
        <p:nvSpPr>
          <p:cNvPr id="306" name="Rectangle"/>
          <p:cNvSpPr/>
          <p:nvPr/>
        </p:nvSpPr>
        <p:spPr>
          <a:xfrm>
            <a:off x="7077075" y="6419850"/>
            <a:ext cx="1138563" cy="17145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Text"/>
          <p:cNvSpPr txBox="1"/>
          <p:nvPr/>
        </p:nvSpPr>
        <p:spPr>
          <a:xfrm>
            <a:off x="8310888" y="6362700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12.53</a:t>
            </a:r>
          </a:p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n=2</a:t>
            </a:r>
          </a:p>
        </p:txBody>
      </p:sp>
      <p:sp>
        <p:nvSpPr>
          <p:cNvPr id="360" name="Rectangle"/>
          <p:cNvSpPr/>
          <p:nvPr/>
        </p:nvSpPr>
        <p:spPr>
          <a:xfrm>
            <a:off x="904875" y="3000375"/>
            <a:ext cx="3429000" cy="1571625"/>
          </a:xfrm>
          <a:prstGeom prst="roundRect">
            <a:avLst/>
          </a:prstGeom>
          <a:solidFill>
            <a:srgbClr val="FFF5EB"/>
          </a:solidFill>
          <a:ln w="10000">
            <a:solidFill>
              <a:srgbClr val="F57C00"/>
            </a:solidFill>
          </a:ln>
        </p:spPr>
        <p:txBody>
          <a:bodyPr/>
          <a:lstStyle/>
          <a:p/>
        </p:txBody>
      </p:sp>
      <p:sp>
        <p:nvSpPr>
          <p:cNvPr id="361" name="Text"/>
          <p:cNvSpPr txBox="1"/>
          <p:nvPr/>
        </p:nvSpPr>
        <p:spPr>
          <a:xfrm>
            <a:off x="1190625" y="3238500"/>
            <a:ext cx="2857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BlackFriday_V1</a:t>
            </a:r>
          </a:p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Friday</a:t>
            </a:r>
          </a:p>
        </p:txBody>
      </p:sp>
      <p:sp>
        <p:nvSpPr>
          <p:cNvPr id="362" name="Text"/>
          <p:cNvSpPr txBox="1"/>
          <p:nvPr/>
        </p:nvSpPr>
        <p:spPr>
          <a:xfrm>
            <a:off x="1190625" y="3857625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F57C00"/>
                </a:solidFill>
                <a:latin typeface="Arial"/>
              </a:rPr>
              <a:t>12.44 min</a:t>
            </a:r>
          </a:p>
          <a:p>
            <a:pPr algn="c"/>
            <a:r>
              <a:rPr lang="en-US" sz="2000" b="1">
                <a:solidFill>
                  <a:srgbClr val="F57C00"/>
                </a:solidFill>
                <a:latin typeface="Arial"/>
              </a:rPr>
              <a:t>n=2</a:t>
            </a:r>
          </a:p>
        </p:txBody>
      </p:sp>
      <p:sp>
        <p:nvSpPr>
          <p:cNvPr id="363" name="Text"/>
          <p:cNvSpPr txBox="1"/>
          <p:nvPr/>
        </p:nvSpPr>
        <p:spPr>
          <a:xfrm>
            <a:off x="904875" y="4857750"/>
            <a:ext cx="3476625" cy="6191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Answer to stakeholder question: it did not take longer than 1 hour.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INTERPRETATION</a:t>
            </a:r>
          </a:p>
        </p:txBody>
      </p:sp>
      <p:sp>
        <p:nvSpPr>
          <p:cNvPr id="30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Duration Interpretation</a:t>
            </a:r>
          </a:p>
        </p:txBody>
      </p:sp>
      <p:sp>
        <p:nvSpPr>
          <p:cNvPr id="30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Duration is a useful engagement signal, but it is not automatically a performance win.</a:t>
            </a:r>
          </a:p>
        </p:txBody>
      </p:sp>
      <p:cxnSp>
        <p:nvCxnSpPr>
          <p:cNvPr id="30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310" name="Rectangle"/>
          <p:cNvSpPr/>
          <p:nvPr/>
        </p:nvSpPr>
        <p:spPr>
          <a:xfrm>
            <a:off x="1000125" y="2952750"/>
            <a:ext cx="4476750" cy="2095500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/>
        </p:txBody>
      </p:sp>
      <p:sp>
        <p:nvSpPr>
          <p:cNvPr id="311" name="Text"/>
          <p:cNvSpPr txBox="1"/>
          <p:nvPr/>
        </p:nvSpPr>
        <p:spPr>
          <a:xfrm>
            <a:off x="1285875" y="3219450"/>
            <a:ext cx="3905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Good interpretation</a:t>
            </a:r>
          </a:p>
        </p:txBody>
      </p:sp>
      <p:sp>
        <p:nvSpPr>
          <p:cNvPr id="320" name="Rectangle"/>
          <p:cNvSpPr/>
          <p:nvPr/>
        </p:nvSpPr>
        <p:spPr>
          <a:xfrm>
            <a:off x="1381125" y="38385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Text"/>
          <p:cNvSpPr txBox="1"/>
          <p:nvPr/>
        </p:nvSpPr>
        <p:spPr>
          <a:xfrm>
            <a:off x="1647825" y="37623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Stronger interest</a:t>
            </a:r>
          </a:p>
        </p:txBody>
      </p:sp>
      <p:sp>
        <p:nvSpPr>
          <p:cNvPr id="323" name="Rectangle"/>
          <p:cNvSpPr/>
          <p:nvPr/>
        </p:nvSpPr>
        <p:spPr>
          <a:xfrm>
            <a:off x="1381125" y="42386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Text"/>
          <p:cNvSpPr txBox="1"/>
          <p:nvPr/>
        </p:nvSpPr>
        <p:spPr>
          <a:xfrm>
            <a:off x="1647825" y="416242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More product browsing</a:t>
            </a:r>
          </a:p>
        </p:txBody>
      </p:sp>
      <p:sp>
        <p:nvSpPr>
          <p:cNvPr id="326" name="Rectangle"/>
          <p:cNvSpPr/>
          <p:nvPr/>
        </p:nvSpPr>
        <p:spPr>
          <a:xfrm>
            <a:off x="1381125" y="46386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7" name="Text"/>
          <p:cNvSpPr txBox="1"/>
          <p:nvPr/>
        </p:nvSpPr>
        <p:spPr>
          <a:xfrm>
            <a:off x="1647825" y="45624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Better-fit traffic</a:t>
            </a:r>
          </a:p>
        </p:txBody>
      </p:sp>
      <p:sp>
        <p:nvSpPr>
          <p:cNvPr id="340" name="Rectangle"/>
          <p:cNvSpPr/>
          <p:nvPr/>
        </p:nvSpPr>
        <p:spPr>
          <a:xfrm>
            <a:off x="6667500" y="2952750"/>
            <a:ext cx="4476750" cy="2095500"/>
          </a:xfrm>
          <a:prstGeom prst="roundRect">
            <a:avLst/>
          </a:prstGeom>
          <a:solidFill>
            <a:srgbClr val="FFF1F0"/>
          </a:solidFill>
          <a:ln w="10000">
            <a:solidFill>
              <a:srgbClr val="C25746"/>
            </a:solidFill>
          </a:ln>
        </p:spPr>
        <p:txBody>
          <a:bodyPr/>
          <a:lstStyle/>
          <a:p/>
        </p:txBody>
      </p:sp>
      <p:sp>
        <p:nvSpPr>
          <p:cNvPr id="341" name="Text"/>
          <p:cNvSpPr txBox="1"/>
          <p:nvPr/>
        </p:nvSpPr>
        <p:spPr>
          <a:xfrm>
            <a:off x="6953250" y="3219450"/>
            <a:ext cx="3905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C25746"/>
                </a:solidFill>
                <a:latin typeface="Arial"/>
              </a:rPr>
              <a:t>Risk interpretation</a:t>
            </a:r>
          </a:p>
        </p:txBody>
      </p:sp>
      <p:sp>
        <p:nvSpPr>
          <p:cNvPr id="350" name="Rectangle"/>
          <p:cNvSpPr/>
          <p:nvPr/>
        </p:nvSpPr>
        <p:spPr>
          <a:xfrm>
            <a:off x="7048500" y="38385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" name="Text"/>
          <p:cNvSpPr txBox="1"/>
          <p:nvPr/>
        </p:nvSpPr>
        <p:spPr>
          <a:xfrm>
            <a:off x="7315200" y="37623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Confusion</a:t>
            </a:r>
          </a:p>
        </p:txBody>
      </p:sp>
      <p:sp>
        <p:nvSpPr>
          <p:cNvPr id="353" name="Rectangle"/>
          <p:cNvSpPr/>
          <p:nvPr/>
        </p:nvSpPr>
        <p:spPr>
          <a:xfrm>
            <a:off x="7048500" y="42386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" name="Text"/>
          <p:cNvSpPr txBox="1"/>
          <p:nvPr/>
        </p:nvSpPr>
        <p:spPr>
          <a:xfrm>
            <a:off x="7315200" y="416242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Friction</a:t>
            </a:r>
          </a:p>
        </p:txBody>
      </p:sp>
      <p:sp>
        <p:nvSpPr>
          <p:cNvPr id="356" name="Rectangle"/>
          <p:cNvSpPr/>
          <p:nvPr/>
        </p:nvSpPr>
        <p:spPr>
          <a:xfrm>
            <a:off x="7048500" y="46386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" name="Text"/>
          <p:cNvSpPr txBox="1"/>
          <p:nvPr/>
        </p:nvSpPr>
        <p:spPr>
          <a:xfrm>
            <a:off x="7315200" y="45624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Inactive browser tabs</a:t>
            </a:r>
          </a:p>
        </p:txBody>
      </p:sp>
      <p:sp>
        <p:nvSpPr>
          <p:cNvPr id="370" name="Text"/>
          <p:cNvSpPr txBox="1"/>
          <p:nvPr/>
        </p:nvSpPr>
        <p:spPr>
          <a:xfrm>
            <a:off x="1619250" y="5667375"/>
            <a:ext cx="8763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Next decision should combine duration with purchases, revenue, and conversion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LIMITATIONS</a:t>
            </a:r>
          </a:p>
        </p:txBody>
      </p:sp>
      <p:sp>
        <p:nvSpPr>
          <p:cNvPr id="39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Modeling Limits</a:t>
            </a:r>
          </a:p>
        </p:txBody>
      </p:sp>
      <p:sp>
        <p:nvSpPr>
          <p:cNvPr id="39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The analysis is useful for direction, but not causal proof of campaign quality.</a:t>
            </a:r>
          </a:p>
        </p:txBody>
      </p:sp>
      <p:cxnSp>
        <p:nvCxnSpPr>
          <p:cNvPr id="39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400" name="Rectangle"/>
          <p:cNvSpPr/>
          <p:nvPr/>
        </p:nvSpPr>
        <p:spPr>
          <a:xfrm>
            <a:off x="1047750" y="2933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" name="Text"/>
          <p:cNvSpPr txBox="1"/>
          <p:nvPr/>
        </p:nvSpPr>
        <p:spPr>
          <a:xfrm>
            <a:off x="1314450" y="285750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Session IDs were not available, so sessions were estimated.</a:t>
            </a:r>
          </a:p>
        </p:txBody>
      </p:sp>
      <p:sp>
        <p:nvSpPr>
          <p:cNvPr id="403" name="Rectangle"/>
          <p:cNvSpPr/>
          <p:nvPr/>
        </p:nvSpPr>
        <p:spPr>
          <a:xfrm>
            <a:off x="1047750" y="34861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" name="Text"/>
          <p:cNvSpPr txBox="1"/>
          <p:nvPr/>
        </p:nvSpPr>
        <p:spPr>
          <a:xfrm>
            <a:off x="1314450" y="340995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Single-event sessions have a duration of 0 minutes.</a:t>
            </a:r>
          </a:p>
        </p:txBody>
      </p:sp>
      <p:sp>
        <p:nvSpPr>
          <p:cNvPr id="406" name="Rectangle"/>
          <p:cNvSpPr/>
          <p:nvPr/>
        </p:nvSpPr>
        <p:spPr>
          <a:xfrm>
            <a:off x="1047750" y="40386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" name="Text"/>
          <p:cNvSpPr txBox="1"/>
          <p:nvPr/>
        </p:nvSpPr>
        <p:spPr>
          <a:xfrm>
            <a:off x="1314450" y="396240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Campaign attribution may be incomplete when campaign values are missing.</a:t>
            </a:r>
          </a:p>
        </p:txBody>
      </p:sp>
      <p:sp>
        <p:nvSpPr>
          <p:cNvPr id="409" name="Rectangle"/>
          <p:cNvSpPr/>
          <p:nvPr/>
        </p:nvSpPr>
        <p:spPr>
          <a:xfrm>
            <a:off x="1047750" y="45910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" name="Text"/>
          <p:cNvSpPr txBox="1"/>
          <p:nvPr/>
        </p:nvSpPr>
        <p:spPr>
          <a:xfrm>
            <a:off x="1314450" y="451485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Small campaign samples can move sharply with one unusual visit.</a:t>
            </a:r>
          </a:p>
        </p:txBody>
      </p:sp>
      <p:sp>
        <p:nvSpPr>
          <p:cNvPr id="412" name="Rectangle"/>
          <p:cNvSpPr/>
          <p:nvPr/>
        </p:nvSpPr>
        <p:spPr>
          <a:xfrm>
            <a:off x="1047750" y="51435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" name="Text"/>
          <p:cNvSpPr txBox="1"/>
          <p:nvPr/>
        </p:nvSpPr>
        <p:spPr>
          <a:xfrm>
            <a:off x="1314450" y="506730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The analysis does not prove that longer sessions create more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ACTION PLAN</a:t>
            </a:r>
          </a:p>
        </p:txBody>
      </p:sp>
      <p:sp>
        <p:nvSpPr>
          <p:cNvPr id="44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Outcome Follow-Up</a:t>
            </a:r>
          </a:p>
        </p:txBody>
      </p:sp>
      <p:sp>
        <p:nvSpPr>
          <p:cNvPr id="44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Longer sessions matter most if they also lead to conversion or revenue.</a:t>
            </a:r>
          </a:p>
        </p:txBody>
      </p:sp>
      <p:cxnSp>
        <p:nvCxnSpPr>
          <p:cNvPr id="44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450" name="Rectangle"/>
          <p:cNvSpPr/>
          <p:nvPr/>
        </p:nvSpPr>
        <p:spPr>
          <a:xfrm>
            <a:off x="904875" y="2857500"/>
            <a:ext cx="2857500" cy="161925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451" name="Text"/>
          <p:cNvSpPr txBox="1"/>
          <p:nvPr/>
        </p:nvSpPr>
        <p:spPr>
          <a:xfrm>
            <a:off x="1123950" y="3095625"/>
            <a:ext cx="457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77B4"/>
                </a:solidFill>
                <a:latin typeface="Arial"/>
              </a:rPr>
              <a:t>1</a:t>
            </a:r>
          </a:p>
        </p:txBody>
      </p:sp>
      <p:sp>
        <p:nvSpPr>
          <p:cNvPr id="452" name="Text"/>
          <p:cNvSpPr txBox="1"/>
          <p:nvPr/>
        </p:nvSpPr>
        <p:spPr>
          <a:xfrm>
            <a:off x="1666875" y="3162300"/>
            <a:ext cx="1762125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Link to</a:t>
            </a:r>
          </a:p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revenue</a:t>
            </a:r>
          </a:p>
        </p:txBody>
      </p:sp>
      <p:sp>
        <p:nvSpPr>
          <p:cNvPr id="460" name="Rectangle"/>
          <p:cNvSpPr/>
          <p:nvPr/>
        </p:nvSpPr>
        <p:spPr>
          <a:xfrm>
            <a:off x="4572000" y="2857500"/>
            <a:ext cx="2857500" cy="161925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461" name="Text"/>
          <p:cNvSpPr txBox="1"/>
          <p:nvPr/>
        </p:nvSpPr>
        <p:spPr>
          <a:xfrm>
            <a:off x="4791075" y="3095625"/>
            <a:ext cx="457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88038"/>
                </a:solidFill>
                <a:latin typeface="Arial"/>
              </a:rPr>
              <a:t>2</a:t>
            </a:r>
          </a:p>
        </p:txBody>
      </p:sp>
      <p:sp>
        <p:nvSpPr>
          <p:cNvPr id="462" name="Text"/>
          <p:cNvSpPr txBox="1"/>
          <p:nvPr/>
        </p:nvSpPr>
        <p:spPr>
          <a:xfrm>
            <a:off x="5334000" y="3162300"/>
            <a:ext cx="1762125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Segment</a:t>
            </a:r>
          </a:p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traffic</a:t>
            </a:r>
          </a:p>
        </p:txBody>
      </p:sp>
      <p:sp>
        <p:nvSpPr>
          <p:cNvPr id="470" name="Rectangle"/>
          <p:cNvSpPr/>
          <p:nvPr/>
        </p:nvSpPr>
        <p:spPr>
          <a:xfrm>
            <a:off x="8239125" y="2857500"/>
            <a:ext cx="2857500" cy="161925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/>
        </p:txBody>
      </p:sp>
      <p:sp>
        <p:nvSpPr>
          <p:cNvPr id="471" name="Text"/>
          <p:cNvSpPr txBox="1"/>
          <p:nvPr/>
        </p:nvSpPr>
        <p:spPr>
          <a:xfrm>
            <a:off x="8458200" y="3095625"/>
            <a:ext cx="457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F57C00"/>
                </a:solidFill>
                <a:latin typeface="Arial"/>
              </a:rPr>
              <a:t>3</a:t>
            </a:r>
          </a:p>
        </p:txBody>
      </p:sp>
      <p:sp>
        <p:nvSpPr>
          <p:cNvPr id="472" name="Text"/>
          <p:cNvSpPr txBox="1"/>
          <p:nvPr/>
        </p:nvSpPr>
        <p:spPr>
          <a:xfrm>
            <a:off x="9001125" y="3162300"/>
            <a:ext cx="1762125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Compare</a:t>
            </a:r>
          </a:p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median</a:t>
            </a:r>
          </a:p>
        </p:txBody>
      </p:sp>
      <p:sp>
        <p:nvSpPr>
          <p:cNvPr id="490" name="Rectangle"/>
          <p:cNvSpPr/>
          <p:nvPr/>
        </p:nvSpPr>
        <p:spPr>
          <a:xfrm>
            <a:off x="1619250" y="50768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" name="Text"/>
          <p:cNvSpPr txBox="1"/>
          <p:nvPr/>
        </p:nvSpPr>
        <p:spPr>
          <a:xfrm>
            <a:off x="1885950" y="5000625"/>
            <a:ext cx="8267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Review zero-duration sessions separately.</a:t>
            </a:r>
          </a:p>
        </p:txBody>
      </p:sp>
      <p:sp>
        <p:nvSpPr>
          <p:cNvPr id="493" name="Rectangle"/>
          <p:cNvSpPr/>
          <p:nvPr/>
        </p:nvSpPr>
        <p:spPr>
          <a:xfrm>
            <a:off x="1619250" y="54864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" name="Text"/>
          <p:cNvSpPr txBox="1"/>
          <p:nvPr/>
        </p:nvSpPr>
        <p:spPr>
          <a:xfrm>
            <a:off x="1885950" y="5410200"/>
            <a:ext cx="8267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Use real session IDs when available.</a:t>
            </a:r>
          </a:p>
        </p:txBody>
      </p:sp>
      <p:sp>
        <p:nvSpPr>
          <p:cNvPr id="496" name="Rectangle"/>
          <p:cNvSpPr/>
          <p:nvPr/>
        </p:nvSpPr>
        <p:spPr>
          <a:xfrm>
            <a:off x="1619250" y="58959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" name="Text"/>
          <p:cNvSpPr txBox="1"/>
          <p:nvPr/>
        </p:nvSpPr>
        <p:spPr>
          <a:xfrm>
            <a:off x="1885950" y="5819775"/>
            <a:ext cx="8267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Treat small spikes as investigation leads.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FINAL DECISION</a:t>
            </a:r>
          </a:p>
        </p:txBody>
      </p:sp>
      <p:sp>
        <p:nvSpPr>
          <p:cNvPr id="52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Decision Summary</a:t>
            </a:r>
          </a:p>
        </p:txBody>
      </p:sp>
      <p:sp>
        <p:nvSpPr>
          <p:cNvPr id="52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Use referral as the reliable benchmark and investigate Data Share Promo next.</a:t>
            </a:r>
          </a:p>
        </p:txBody>
      </p:sp>
      <p:cxnSp>
        <p:nvCxnSpPr>
          <p:cNvPr id="52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530" name="Rectangle"/>
          <p:cNvSpPr/>
          <p:nvPr/>
        </p:nvSpPr>
        <p:spPr>
          <a:xfrm>
            <a:off x="1143000" y="2952750"/>
            <a:ext cx="9715500" cy="1000125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/>
        </p:txBody>
      </p:sp>
      <p:sp>
        <p:nvSpPr>
          <p:cNvPr id="531" name="Text"/>
          <p:cNvSpPr txBox="1"/>
          <p:nvPr/>
        </p:nvSpPr>
        <p:spPr>
          <a:xfrm>
            <a:off x="1476375" y="3219450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"/>
            <a:r>
              <a:rPr lang="en-US" sz="2000" b="1">
                <a:solidFill>
                  <a:srgbClr val="1F2933"/>
                </a:solidFill>
                <a:latin typeface="Arial"/>
              </a:rPr>
              <a:t>Decision: compare future campaigns against referral's stable weekday engagement pattern.</a:t>
            </a:r>
          </a:p>
        </p:txBody>
      </p:sp>
      <p:sp>
        <p:nvSpPr>
          <p:cNvPr id="550" name="Rectangle"/>
          <p:cNvSpPr/>
          <p:nvPr/>
        </p:nvSpPr>
        <p:spPr>
          <a:xfrm>
            <a:off x="1428750" y="4838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" name="Text"/>
          <p:cNvSpPr txBox="1"/>
          <p:nvPr/>
        </p:nvSpPr>
        <p:spPr>
          <a:xfrm>
            <a:off x="1695450" y="4762500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 is the most dependable benchmark.</a:t>
            </a:r>
          </a:p>
        </p:txBody>
      </p:sp>
      <p:sp>
        <p:nvSpPr>
          <p:cNvPr id="553" name="Rectangle"/>
          <p:cNvSpPr/>
          <p:nvPr/>
        </p:nvSpPr>
        <p:spPr>
          <a:xfrm>
            <a:off x="1428750" y="53911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" name="Text"/>
          <p:cNvSpPr txBox="1"/>
          <p:nvPr/>
        </p:nvSpPr>
        <p:spPr>
          <a:xfrm>
            <a:off x="1695450" y="5314950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 needs conversion and revenue follow-up.</a:t>
            </a:r>
          </a:p>
        </p:txBody>
      </p:sp>
      <p:sp>
        <p:nvSpPr>
          <p:cNvPr id="556" name="Rectangle"/>
          <p:cNvSpPr/>
          <p:nvPr/>
        </p:nvSpPr>
        <p:spPr>
          <a:xfrm>
            <a:off x="1428750" y="59436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7" name="Text"/>
          <p:cNvSpPr txBox="1"/>
          <p:nvPr/>
        </p:nvSpPr>
        <p:spPr>
          <a:xfrm>
            <a:off x="1695450" y="5867400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Tiny holiday samples are only investigation leads.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ct Analyst Theme">
  <a:themeElements>
    <a:clrScheme name="Product Analyst">
      <a:dk1>
        <a:srgbClr val="1F2933"/>
      </a:dk1>
      <a:lt1>
        <a:srgbClr val="FFFFFF"/>
      </a:lt1>
      <a:dk2>
        <a:srgbClr val="5F6B7A"/>
      </a:dk2>
      <a:lt2>
        <a:srgbClr val="F7F9FC"/>
      </a:lt2>
      <a:accent1>
        <a:srgbClr val="1F77B4"/>
      </a:accent1>
      <a:accent2>
        <a:srgbClr val="188038"/>
      </a:accent2>
      <a:accent3>
        <a:srgbClr val="F57C00"/>
      </a:accent3>
      <a:accent4>
        <a:srgbClr val="7E57C2"/>
      </a:accent4>
      <a:accent5>
        <a:srgbClr val="C25746"/>
      </a:accent5>
      <a:accent6>
        <a:srgbClr val="9CA3AF"/>
      </a:accent6>
      <a:hlink>
        <a:srgbClr val="1F77B4"/>
      </a:hlink>
      <a:folHlink>
        <a:srgbClr val="7E57C2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